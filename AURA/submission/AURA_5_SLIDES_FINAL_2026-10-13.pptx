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Hiện trạng và nguyên tắc thiết kế của AURA; không dùng số liệu hiệu quả chưa đo.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Workflow chi tiết: submission/AURA_WORKFLOW_SPEC.md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 cập nhật 12/10/2026: 161/161 test offline và Release build sạch. Candidate Qwen3.8 Flash qua Alibaba, reasoning none, đạt 15/15 trên post-holdout regression đã khóa: 0 missed, 0 over, 0 system error; 20/20 upstream request HTTP 200. Burst 5 upload đồng thời hoàn tất 5/5, E2E P95 41.079 giây với AI concurrency giữ ở 1. Sau publish, Verify live đạt 5/5 trong 65.004 giây, 0 system/provider error; năm client cùng bấm chỉ tạo 1 HTTP 200 và 4 HTTP 409. Đây là regression hậu chỉnh và fixture tổng hợp, không phải blind holdout hay causal model-only A/B; official holdout vẫn raw 10/15 và adjusted 11/15. Ollama 4B 16K chỉ là fallback local có giám sát vì P95 khoảng 213 giây. Ba user session và rehearsal vẫn là gate trước thi.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Repository và hướng dẫn chạy localhost: https://github.com/BondPhuPhamzZ/AURA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 kỹ thuật trong repo: ReceiptProcessingWorker.cs, ReceiptExtractionContract.cs, PolicyDecisionEngine.cs, VietnamTime.cs, tools/Invoke-ExtendedDatasetEvaluation.ps1, docs/QWEN38_FLASH_BENCHMARK_2026-10-12.md và docs/QWEN38_FLASH_LIVE_VERIFY_2026-10-12.md. Fallback vẫn opt-in và mặc định tắt. Ollama 4B digest ee4b975b58c1, context 16K, output 4K, Think=false đạt 15/15 synthetic decision nhưng P95 khoảng 213 giây; chỉ bật local sau smoke. Qwen3.8 Flash/Alibaba, reasoning none, là primary candidate: 15/15 post-holdout regression, 20/20 upstream HTTP 200, burst upload 5/5 với E2E P95 41.079 giây và Verify live 5/5 trong 65.004 giây. Vẫn chuẩn bị video/evidence dự phòng và không coi phép đo một process là production SLA.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Right Arrow 23"/>
          <p:cNvSpPr>
            <a:spLocks noGrp="1"/>
          </p:cNvSpPr>
          <p:nvPr/>
        </p:nvSpPr>
        <p:spPr>
          <a:xfrm>
            <a:off x="7324725" y="2057400"/>
            <a:ext cx="171450" cy="266700"/>
          </a:xfrm>
          <a:prstGeom prst="rightArrow">
            <a:avLst/>
          </a:prstGeom>
          <a:solidFill>
            <a:srgbClr val="2A4262"/>
          </a:solidFill>
          <a:ln w="0">
            <a:solidFill>
              <a:srgbClr val="2A4262"/>
            </a:solidFill>
          </a:ln>
        </p:spPr>
      </p:sp>
      <p:sp>
        <p:nvSpPr>
          <p:cNvPr id="19" name="Right Arrow 18"/>
          <p:cNvSpPr>
            <a:spLocks noGrp="1"/>
          </p:cNvSpPr>
          <p:nvPr/>
        </p:nvSpPr>
        <p:spPr>
          <a:xfrm>
            <a:off x="5572125" y="2057400"/>
            <a:ext cx="171450" cy="266700"/>
          </a:xfrm>
          <a:prstGeom prst="rightArrow">
            <a:avLst/>
          </a:prstGeom>
          <a:solidFill>
            <a:srgbClr val="2A4262"/>
          </a:solidFill>
          <a:ln w="0">
            <a:solidFill>
              <a:srgbClr val="2A4262"/>
            </a:solidFill>
          </a:ln>
        </p:spPr>
      </p:sp>
      <p:sp>
        <p:nvSpPr>
          <p:cNvPr id="14" name="Right Arrow 13"/>
          <p:cNvSpPr>
            <a:spLocks noGrp="1"/>
          </p:cNvSpPr>
          <p:nvPr/>
        </p:nvSpPr>
        <p:spPr>
          <a:xfrm>
            <a:off x="3819525" y="2057400"/>
            <a:ext cx="171450" cy="266700"/>
          </a:xfrm>
          <a:prstGeom prst="rightArrow">
            <a:avLst/>
          </a:prstGeom>
          <a:solidFill>
            <a:srgbClr val="2A4262"/>
          </a:solidFill>
          <a:ln w="0">
            <a:solidFill>
              <a:srgbClr val="2A4262"/>
            </a:solidFill>
          </a:ln>
        </p:spPr>
      </p:sp>
      <p:sp>
        <p:nvSpPr>
          <p:cNvPr id="9" name="Right Arrow 8"/>
          <p:cNvSpPr>
            <a:spLocks noGrp="1"/>
          </p:cNvSpPr>
          <p:nvPr/>
        </p:nvSpPr>
        <p:spPr>
          <a:xfrm>
            <a:off x="2066925" y="2057400"/>
            <a:ext cx="171450" cy="266700"/>
          </a:xfrm>
          <a:prstGeom prst="rightArrow">
            <a:avLst/>
          </a:prstGeom>
          <a:solidFill>
            <a:srgbClr val="2A4262"/>
          </a:solidFill>
          <a:ln w="0">
            <a:solidFill>
              <a:srgbClr val="2A4262"/>
            </a:solidFill>
          </a:ln>
        </p:spPr>
      </p:sp>
      <p:sp>
        <p:nvSpPr>
          <p:cNvPr id="47" name="Rectangle 46"/>
          <p:cNvSpPr>
            <a:spLocks noGrp="1"/>
          </p:cNvSpPr>
          <p:nvPr/>
        </p:nvSpPr>
        <p:spPr>
          <a:xfrm>
            <a:off x="476250" y="361950"/>
            <a:ext cx="6477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35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35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1350" b="1">
              <a:solidFill>
                <a:srgbClr val="22D3E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066800" y="285750"/>
            <a:ext cx="10572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255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255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55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Hoàn ứng hôm nay: nhiều điểm chờ, ít bằng chứng</a:t>
            </a:r>
            <a:endParaRPr sz="2550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1066800" y="781050"/>
            <a:ext cx="10382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275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275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AURA biến ngoại lệ thành câu hỏi có thể quyết định — không giao quyền duyệt cho AI.</a:t>
            </a:r>
            <a:endParaRPr sz="1275" b="0">
              <a:solidFill>
                <a:srgbClr val="9FB1C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Straight Connector 3"/>
          <p:cNvSpPr>
            <a:spLocks noGrp="1"/>
          </p:cNvSpPr>
          <p:nvPr/>
        </p:nvSpPr>
        <p:spPr>
          <a:xfrm>
            <a:off x="514350" y="1162050"/>
            <a:ext cx="11144250" cy="0"/>
          </a:xfrm>
          <a:prstGeom prst="line">
            <a:avLst/>
          </a:prstGeom>
          <a:noFill/>
          <a:ln w="9525">
            <a:solidFill>
              <a:srgbClr val="2A4262"/>
            </a:solidFill>
            <a:prstDash val="solid"/>
          </a:ln>
        </p:spPr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523875" y="1695450"/>
            <a:ext cx="1504950" cy="1009650"/>
          </a:xfrm>
          <a:prstGeom prst="roundRect">
            <a:avLst>
              <a:gd name="adj" fmla="val 11321"/>
            </a:avLst>
          </a:prstGeom>
          <a:solidFill>
            <a:srgbClr val="10223B"/>
          </a:solidFill>
          <a:ln w="9525">
            <a:solidFill>
              <a:srgbClr val="2A4262"/>
            </a:solidFill>
            <a:prstDash val="solid"/>
          </a:ln>
        </p:spPr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657225" y="1828800"/>
            <a:ext cx="400050" cy="285750"/>
          </a:xfrm>
          <a:prstGeom prst="roundRect">
            <a:avLst>
              <a:gd name="adj" fmla="val 40000"/>
            </a:avLst>
          </a:prstGeom>
          <a:solidFill>
            <a:srgbClr val="4D8DFF"/>
          </a:solidFill>
          <a:ln w="9525">
            <a:solidFill>
              <a:srgbClr val="4D8DFF"/>
            </a:solidFill>
            <a:prstDash val="solid"/>
          </a:ln>
        </p:spPr>
        <p:txBody>
          <a:bodyPr lIns="57150" tIns="9525" rIns="57150" bIns="9525" anchor="ctr">
            <a:normAutofit/>
          </a:bodyPr>
          <a:lstStyle>
            <a:defPPr algn="ctr"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1050" b="1">
              <a:solidFill>
                <a:srgbClr val="08142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666750" y="2190750"/>
            <a:ext cx="12192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Gửi hóa đơn</a:t>
            </a:r>
            <a:endParaRPr sz="1275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66750" y="2447925"/>
            <a:ext cx="12192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9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9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Ảnh + số tiền</a:t>
            </a:r>
            <a:endParaRPr sz="900" b="0">
              <a:solidFill>
                <a:srgbClr val="9FB1C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2276475" y="1695450"/>
            <a:ext cx="1504950" cy="1009650"/>
          </a:xfrm>
          <a:prstGeom prst="roundRect">
            <a:avLst>
              <a:gd name="adj" fmla="val 11321"/>
            </a:avLst>
          </a:prstGeom>
          <a:solidFill>
            <a:srgbClr val="10223B"/>
          </a:solidFill>
          <a:ln w="9525">
            <a:solidFill>
              <a:srgbClr val="2A4262"/>
            </a:solidFill>
            <a:prstDash val="solid"/>
          </a:ln>
        </p:spPr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2409825" y="1828800"/>
            <a:ext cx="400050" cy="285750"/>
          </a:xfrm>
          <a:prstGeom prst="roundRect">
            <a:avLst>
              <a:gd name="adj" fmla="val 40000"/>
            </a:avLst>
          </a:prstGeom>
          <a:solidFill>
            <a:srgbClr val="A78BFA"/>
          </a:solidFill>
          <a:ln w="9525">
            <a:solidFill>
              <a:srgbClr val="A78BFA"/>
            </a:solidFill>
            <a:prstDash val="solid"/>
          </a:ln>
        </p:spPr>
        <p:txBody>
          <a:bodyPr lIns="57150" tIns="9525" rIns="57150" bIns="9525" anchor="ctr">
            <a:normAutofit/>
          </a:bodyPr>
          <a:lstStyle>
            <a:defPPr algn="ctr"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1050" b="1">
              <a:solidFill>
                <a:srgbClr val="08142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2419350" y="2190750"/>
            <a:ext cx="12192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Đọc thủ công</a:t>
            </a:r>
            <a:endParaRPr sz="1275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2419350" y="2447925"/>
            <a:ext cx="12192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9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9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Dễ sai định dạng</a:t>
            </a:r>
            <a:endParaRPr sz="900" b="0">
              <a:solidFill>
                <a:srgbClr val="9FB1C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4029075" y="1695450"/>
            <a:ext cx="1504950" cy="1009650"/>
          </a:xfrm>
          <a:prstGeom prst="roundRect">
            <a:avLst>
              <a:gd name="adj" fmla="val 11321"/>
            </a:avLst>
          </a:prstGeom>
          <a:solidFill>
            <a:srgbClr val="10223B"/>
          </a:solidFill>
          <a:ln w="9525">
            <a:solidFill>
              <a:srgbClr val="2A4262"/>
            </a:solidFill>
            <a:prstDash val="solid"/>
          </a:ln>
        </p:spPr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4162425" y="1828800"/>
            <a:ext cx="400050" cy="285750"/>
          </a:xfrm>
          <a:prstGeom prst="roundRect">
            <a:avLst>
              <a:gd name="adj" fmla="val 40000"/>
            </a:avLst>
          </a:prstGeom>
          <a:solidFill>
            <a:srgbClr val="F8C14C"/>
          </a:solidFill>
          <a:ln w="9525">
            <a:solidFill>
              <a:srgbClr val="F8C14C"/>
            </a:solidFill>
            <a:prstDash val="solid"/>
          </a:ln>
        </p:spPr>
        <p:txBody>
          <a:bodyPr lIns="57150" tIns="9525" rIns="57150" bIns="9525" anchor="ctr">
            <a:normAutofit/>
          </a:bodyPr>
          <a:lstStyle>
            <a:defPPr algn="ctr"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1050" b="1">
              <a:solidFill>
                <a:srgbClr val="08142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4171950" y="2190750"/>
            <a:ext cx="12192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7809"/>
          </a:bodyPr>
          <a:lstStyle>
            <a:defPPr algn="l">
              <a:def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Đối chiếu policy</a:t>
            </a:r>
            <a:endParaRPr sz="1275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4171950" y="2447925"/>
            <a:ext cx="12192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9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9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Phụ thuộc người xử lý</a:t>
            </a:r>
            <a:endParaRPr sz="900" b="0">
              <a:solidFill>
                <a:srgbClr val="9FB1C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5781675" y="1695450"/>
            <a:ext cx="1504950" cy="1009650"/>
          </a:xfrm>
          <a:prstGeom prst="roundRect">
            <a:avLst>
              <a:gd name="adj" fmla="val 11321"/>
            </a:avLst>
          </a:prstGeom>
          <a:solidFill>
            <a:srgbClr val="10223B"/>
          </a:solidFill>
          <a:ln w="9525">
            <a:solidFill>
              <a:srgbClr val="2A4262"/>
            </a:solidFill>
            <a:prstDash val="solid"/>
          </a:ln>
        </p:spPr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5915025" y="1828800"/>
            <a:ext cx="400050" cy="285750"/>
          </a:xfrm>
          <a:prstGeom prst="roundRect">
            <a:avLst>
              <a:gd name="adj" fmla="val 40000"/>
            </a:avLst>
          </a:prstGeom>
          <a:solidFill>
            <a:srgbClr val="FF6B7A"/>
          </a:solidFill>
          <a:ln w="9525">
            <a:solidFill>
              <a:srgbClr val="FF6B7A"/>
            </a:solidFill>
            <a:prstDash val="solid"/>
          </a:ln>
        </p:spPr>
        <p:txBody>
          <a:bodyPr lIns="57150" tIns="9525" rIns="57150" bIns="9525" anchor="ctr">
            <a:normAutofit/>
          </a:bodyPr>
          <a:lstStyle>
            <a:defPPr algn="ctr"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  <a:endParaRPr sz="1050" b="1">
              <a:solidFill>
                <a:srgbClr val="08142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5924550" y="2190750"/>
            <a:ext cx="12192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Hỏi quản lý</a:t>
            </a:r>
            <a:endParaRPr sz="1275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5924550" y="2447925"/>
            <a:ext cx="12192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9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9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Thiếu câu hỏi cụ thể</a:t>
            </a:r>
            <a:endParaRPr sz="900" b="0">
              <a:solidFill>
                <a:srgbClr val="9FB1C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Rounded Rectangle 24"/>
          <p:cNvSpPr>
            <a:spLocks noGrp="1"/>
          </p:cNvSpPr>
          <p:nvPr/>
        </p:nvSpPr>
        <p:spPr>
          <a:xfrm>
            <a:off x="7534275" y="1695450"/>
            <a:ext cx="1504950" cy="1009650"/>
          </a:xfrm>
          <a:prstGeom prst="roundRect">
            <a:avLst>
              <a:gd name="adj" fmla="val 11321"/>
            </a:avLst>
          </a:prstGeom>
          <a:solidFill>
            <a:srgbClr val="10223B"/>
          </a:solidFill>
          <a:ln w="9525">
            <a:solidFill>
              <a:srgbClr val="2A4262"/>
            </a:solidFill>
            <a:prstDash val="solid"/>
          </a:ln>
        </p:spPr>
      </p:sp>
      <p:sp>
        <p:nvSpPr>
          <p:cNvPr id="26" name="Rounded Rectangle 25"/>
          <p:cNvSpPr>
            <a:spLocks noGrp="1"/>
          </p:cNvSpPr>
          <p:nvPr/>
        </p:nvSpPr>
        <p:spPr>
          <a:xfrm>
            <a:off x="7667625" y="1828800"/>
            <a:ext cx="400050" cy="285750"/>
          </a:xfrm>
          <a:prstGeom prst="roundRect">
            <a:avLst>
              <a:gd name="adj" fmla="val 40000"/>
            </a:avLst>
          </a:prstGeom>
          <a:solidFill>
            <a:srgbClr val="9FB1CA"/>
          </a:solidFill>
          <a:ln w="9525">
            <a:solidFill>
              <a:srgbClr val="9FB1CA"/>
            </a:solidFill>
            <a:prstDash val="solid"/>
          </a:ln>
        </p:spPr>
        <p:txBody>
          <a:bodyPr lIns="57150" tIns="9525" rIns="57150" bIns="9525" anchor="ctr">
            <a:normAutofit/>
          </a:bodyPr>
          <a:lstStyle>
            <a:defPPr algn="ctr"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05</a:t>
            </a:r>
            <a:endParaRPr sz="1050" b="1">
              <a:solidFill>
                <a:srgbClr val="08142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7677150" y="2190750"/>
            <a:ext cx="12192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Lưu lịch sử</a:t>
            </a:r>
            <a:endParaRPr sz="1275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7677150" y="2447925"/>
            <a:ext cx="12192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9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9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Khó truy vết</a:t>
            </a:r>
            <a:endParaRPr sz="900" b="0">
              <a:solidFill>
                <a:srgbClr val="9FB1C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" name="Rounded Rectangle 28"/>
          <p:cNvSpPr>
            <a:spLocks noGrp="1"/>
          </p:cNvSpPr>
          <p:nvPr/>
        </p:nvSpPr>
        <p:spPr>
          <a:xfrm>
            <a:off x="9620250" y="1600200"/>
            <a:ext cx="2038350" cy="1200150"/>
          </a:xfrm>
          <a:prstGeom prst="roundRect">
            <a:avLst>
              <a:gd name="adj" fmla="val 9524"/>
            </a:avLst>
          </a:prstGeom>
          <a:solidFill>
            <a:srgbClr val="102A3E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9829800" y="1790700"/>
            <a:ext cx="1619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125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125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Điểm nghẽn</a:t>
            </a:r>
            <a:endParaRPr sz="1125" b="1">
              <a:solidFill>
                <a:srgbClr val="22D3E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" name="Rectangle 30"/>
          <p:cNvSpPr>
            <a:spLocks noGrp="1"/>
          </p:cNvSpPr>
          <p:nvPr/>
        </p:nvSpPr>
        <p:spPr>
          <a:xfrm>
            <a:off x="9840595" y="2019300"/>
            <a:ext cx="172974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186"/>
          </a:bodyPr>
          <a:lstStyle>
            <a:defPPr algn="l">
              <a:defRPr sz="135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35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Không phải OCR — mà là biết khi nào phải dừng và hỏi người.</a:t>
            </a:r>
            <a:endParaRPr sz="1350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" name="Rectangle 31"/>
          <p:cNvSpPr>
            <a:spLocks noGrp="1"/>
          </p:cNvSpPr>
          <p:nvPr/>
        </p:nvSpPr>
        <p:spPr>
          <a:xfrm>
            <a:off x="523875" y="3257550"/>
            <a:ext cx="3810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80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80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Thiết kế lại quy trình</a:t>
            </a:r>
            <a:endParaRPr sz="1800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3" name="Rounded Rectangle 32"/>
          <p:cNvSpPr>
            <a:spLocks noGrp="1"/>
          </p:cNvSpPr>
          <p:nvPr/>
        </p:nvSpPr>
        <p:spPr>
          <a:xfrm>
            <a:off x="523875" y="3762375"/>
            <a:ext cx="3476625" cy="1809750"/>
          </a:xfrm>
          <a:prstGeom prst="roundRect">
            <a:avLst>
              <a:gd name="adj" fmla="val 6316"/>
            </a:avLst>
          </a:prstGeom>
          <a:solidFill>
            <a:srgbClr val="142A47"/>
          </a:solidFill>
          <a:ln w="9525">
            <a:solidFill>
              <a:srgbClr val="2A4262"/>
            </a:solidFill>
            <a:prstDash val="solid"/>
          </a:ln>
        </p:spPr>
      </p:sp>
      <p:sp>
        <p:nvSpPr>
          <p:cNvPr id="34" name="Rounded Rectangle 33"/>
          <p:cNvSpPr>
            <a:spLocks noGrp="1"/>
          </p:cNvSpPr>
          <p:nvPr/>
        </p:nvSpPr>
        <p:spPr>
          <a:xfrm>
            <a:off x="714375" y="3962400"/>
            <a:ext cx="1238250" cy="285750"/>
          </a:xfrm>
          <a:prstGeom prst="roundRect">
            <a:avLst>
              <a:gd name="adj" fmla="val 40000"/>
            </a:avLst>
          </a:prstGeom>
          <a:solidFill>
            <a:srgbClr val="4D8DFF"/>
          </a:solidFill>
          <a:ln w="9525">
            <a:solidFill>
              <a:srgbClr val="4D8DFF"/>
            </a:solidFill>
            <a:prstDash val="solid"/>
          </a:ln>
        </p:spPr>
        <p:txBody>
          <a:bodyPr lIns="57150" tIns="9525" rIns="57150" bIns="9525" anchor="ctr">
            <a:normAutofit/>
          </a:bodyPr>
          <a:lstStyle>
            <a:defPPr algn="ctr"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 đọc</a:t>
            </a:r>
            <a:endParaRPr sz="1050" b="1">
              <a:solidFill>
                <a:srgbClr val="08142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5" name="Rectangle 34"/>
          <p:cNvSpPr>
            <a:spLocks noGrp="1"/>
          </p:cNvSpPr>
          <p:nvPr/>
        </p:nvSpPr>
        <p:spPr>
          <a:xfrm>
            <a:off x="714375" y="4457700"/>
            <a:ext cx="309562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5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5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Qwen trích dữ kiện có cấu trúc</a:t>
            </a:r>
            <a:endParaRPr sz="1575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" name="Rectangle 35"/>
          <p:cNvSpPr>
            <a:spLocks noGrp="1"/>
          </p:cNvSpPr>
          <p:nvPr/>
        </p:nvSpPr>
        <p:spPr>
          <a:xfrm>
            <a:off x="714375" y="5095875"/>
            <a:ext cx="30956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05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05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Không suy đoán field không đọc chắc.</a:t>
            </a:r>
            <a:endParaRPr sz="1050" b="0">
              <a:solidFill>
                <a:srgbClr val="9FB1C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7" name="Rounded Rectangle 36"/>
          <p:cNvSpPr>
            <a:spLocks noGrp="1"/>
          </p:cNvSpPr>
          <p:nvPr/>
        </p:nvSpPr>
        <p:spPr>
          <a:xfrm>
            <a:off x="4238625" y="3762375"/>
            <a:ext cx="3476625" cy="1809750"/>
          </a:xfrm>
          <a:prstGeom prst="roundRect">
            <a:avLst>
              <a:gd name="adj" fmla="val 6316"/>
            </a:avLst>
          </a:prstGeom>
          <a:solidFill>
            <a:srgbClr val="142A47"/>
          </a:solidFill>
          <a:ln w="9525">
            <a:solidFill>
              <a:srgbClr val="2A4262"/>
            </a:solidFill>
            <a:prstDash val="solid"/>
          </a:ln>
        </p:spPr>
      </p:sp>
      <p:sp>
        <p:nvSpPr>
          <p:cNvPr id="38" name="Rounded Rectangle 37"/>
          <p:cNvSpPr>
            <a:spLocks noGrp="1"/>
          </p:cNvSpPr>
          <p:nvPr/>
        </p:nvSpPr>
        <p:spPr>
          <a:xfrm>
            <a:off x="4429125" y="3962400"/>
            <a:ext cx="1238250" cy="285750"/>
          </a:xfrm>
          <a:prstGeom prst="roundRect">
            <a:avLst>
              <a:gd name="adj" fmla="val 40000"/>
            </a:avLst>
          </a:prstGeom>
          <a:solidFill>
            <a:srgbClr val="2DD4A7"/>
          </a:solidFill>
          <a:ln w="9525">
            <a:solidFill>
              <a:srgbClr val="2DD4A7"/>
            </a:solidFill>
            <a:prstDash val="solid"/>
          </a:ln>
        </p:spPr>
        <p:txBody>
          <a:bodyPr lIns="57150" tIns="9525" rIns="57150" bIns="9525" anchor="ctr">
            <a:normAutofit fontScale="96282"/>
          </a:bodyPr>
          <a:lstStyle>
            <a:defPPr algn="ctr"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Policy quyết định</a:t>
            </a:r>
            <a:endParaRPr sz="1050" b="1">
              <a:solidFill>
                <a:srgbClr val="08142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9" name="Rectangle 38"/>
          <p:cNvSpPr>
            <a:spLocks noGrp="1"/>
          </p:cNvSpPr>
          <p:nvPr/>
        </p:nvSpPr>
        <p:spPr>
          <a:xfrm>
            <a:off x="4429125" y="4457700"/>
            <a:ext cx="309562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5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5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C# tất định: FACT → POLICY → AUTHORITY</a:t>
            </a:r>
            <a:endParaRPr sz="1575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0" name="Rectangle 39"/>
          <p:cNvSpPr>
            <a:spLocks noGrp="1"/>
          </p:cNvSpPr>
          <p:nvPr/>
        </p:nvSpPr>
        <p:spPr>
          <a:xfrm>
            <a:off x="4429125" y="5095875"/>
            <a:ext cx="30956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05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05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Đầu vào nghi vấn không bao giờ auto-approve.</a:t>
            </a:r>
            <a:endParaRPr sz="1050" b="0">
              <a:solidFill>
                <a:srgbClr val="9FB1C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1" name="Rounded Rectangle 40"/>
          <p:cNvSpPr>
            <a:spLocks noGrp="1"/>
          </p:cNvSpPr>
          <p:nvPr/>
        </p:nvSpPr>
        <p:spPr>
          <a:xfrm>
            <a:off x="7953375" y="3762375"/>
            <a:ext cx="3476625" cy="1809750"/>
          </a:xfrm>
          <a:prstGeom prst="roundRect">
            <a:avLst>
              <a:gd name="adj" fmla="val 6316"/>
            </a:avLst>
          </a:prstGeom>
          <a:solidFill>
            <a:srgbClr val="142A47"/>
          </a:solidFill>
          <a:ln w="9525">
            <a:solidFill>
              <a:srgbClr val="2A4262"/>
            </a:solidFill>
            <a:prstDash val="solid"/>
          </a:ln>
        </p:spPr>
      </p:sp>
      <p:sp>
        <p:nvSpPr>
          <p:cNvPr id="42" name="Rounded Rectangle 41"/>
          <p:cNvSpPr>
            <a:spLocks noGrp="1"/>
          </p:cNvSpPr>
          <p:nvPr/>
        </p:nvSpPr>
        <p:spPr>
          <a:xfrm>
            <a:off x="8143875" y="3962400"/>
            <a:ext cx="2125980" cy="285750"/>
          </a:xfrm>
          <a:prstGeom prst="roundRect">
            <a:avLst>
              <a:gd name="adj" fmla="val 40000"/>
            </a:avLst>
          </a:prstGeom>
          <a:solidFill>
            <a:srgbClr val="F8C14C"/>
          </a:solidFill>
          <a:ln w="9525">
            <a:solidFill>
              <a:srgbClr val="F8C14C"/>
            </a:solidFill>
            <a:prstDash val="solid"/>
          </a:ln>
        </p:spPr>
        <p:txBody>
          <a:bodyPr lIns="57150" tIns="9525" rIns="57150" bIns="9525" anchor="ctr">
            <a:normAutofit/>
          </a:bodyPr>
          <a:lstStyle>
            <a:defPPr algn="ctr"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 người chịu trách nhiệm</a:t>
            </a:r>
            <a:endParaRPr sz="1050" b="1">
              <a:solidFill>
                <a:srgbClr val="08142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3" name="Rectangle 42"/>
          <p:cNvSpPr>
            <a:spLocks noGrp="1"/>
          </p:cNvSpPr>
          <p:nvPr/>
        </p:nvSpPr>
        <p:spPr>
          <a:xfrm>
            <a:off x="8143875" y="4457700"/>
            <a:ext cx="309562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5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5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Quản lý xử lý ngoại lệ và có thể hoàn tác</a:t>
            </a:r>
            <a:endParaRPr sz="1575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4" name="Rectangle 43"/>
          <p:cNvSpPr>
            <a:spLocks noGrp="1"/>
          </p:cNvSpPr>
          <p:nvPr/>
        </p:nvSpPr>
        <p:spPr>
          <a:xfrm>
            <a:off x="8143875" y="5095875"/>
            <a:ext cx="30956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05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05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Audit giữ đủ timeline, UI chỉ hiện một hồ sơ.</a:t>
            </a:r>
            <a:endParaRPr sz="1050" b="0">
              <a:solidFill>
                <a:srgbClr val="9FB1C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5" name="Rectangle 44"/>
          <p:cNvSpPr>
            <a:spLocks noGrp="1"/>
          </p:cNvSpPr>
          <p:nvPr/>
        </p:nvSpPr>
        <p:spPr>
          <a:xfrm>
            <a:off x="514350" y="6534150"/>
            <a:ext cx="90487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9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9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AURA • Track A • 13/10/2026</a:t>
            </a:r>
            <a:endParaRPr sz="900" b="0">
              <a:solidFill>
                <a:srgbClr val="9FB1C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6" name="Rectangle 45"/>
          <p:cNvSpPr>
            <a:spLocks noGrp="1"/>
          </p:cNvSpPr>
          <p:nvPr/>
        </p:nvSpPr>
        <p:spPr>
          <a:xfrm>
            <a:off x="11144250" y="6515100"/>
            <a:ext cx="5143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r">
              <a:defRPr sz="975" b="1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r">
              <a:buNone/>
              <a:defRPr sz="975" b="1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sz="975" b="1">
              <a:solidFill>
                <a:srgbClr val="9FB1C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6" name="Rectangle 45"/>
          <p:cNvSpPr>
            <a:spLocks noGrp="1"/>
          </p:cNvSpPr>
          <p:nvPr/>
        </p:nvSpPr>
        <p:spPr>
          <a:xfrm>
            <a:off x="476250" y="361950"/>
            <a:ext cx="6477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35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35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1350" b="1">
              <a:solidFill>
                <a:srgbClr val="22D3E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066800" y="285750"/>
            <a:ext cx="10572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255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255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55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Một luồng — hai điểm con người quyết định</a:t>
            </a:r>
            <a:endParaRPr sz="2550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1066800" y="781050"/>
            <a:ext cx="10382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275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275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Input và AI là dữ kiện; quyết định nghiệp vụ nằm ở policy và quản lý.</a:t>
            </a:r>
            <a:endParaRPr sz="1275" b="0">
              <a:solidFill>
                <a:srgbClr val="9FB1C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Straight Connector 3"/>
          <p:cNvSpPr>
            <a:spLocks noGrp="1"/>
          </p:cNvSpPr>
          <p:nvPr/>
        </p:nvSpPr>
        <p:spPr>
          <a:xfrm>
            <a:off x="514350" y="1162050"/>
            <a:ext cx="11144250" cy="0"/>
          </a:xfrm>
          <a:prstGeom prst="line">
            <a:avLst/>
          </a:prstGeom>
          <a:noFill/>
          <a:ln w="9525">
            <a:solidFill>
              <a:srgbClr val="2A4262"/>
            </a:solidFill>
            <a:prstDash val="solid"/>
          </a:ln>
        </p:spPr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514350" y="1600200"/>
            <a:ext cx="1952625" cy="1352550"/>
          </a:xfrm>
          <a:prstGeom prst="roundRect">
            <a:avLst>
              <a:gd name="adj" fmla="val 8451"/>
            </a:avLst>
          </a:prstGeom>
          <a:solidFill>
            <a:srgbClr val="10223B"/>
          </a:solidFill>
          <a:ln w="9525">
            <a:solidFill>
              <a:srgbClr val="4D8DFF"/>
            </a:solidFill>
            <a:prstDash val="solid"/>
          </a:ln>
        </p:spPr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657225" y="1752600"/>
            <a:ext cx="323850" cy="285750"/>
          </a:xfrm>
          <a:prstGeom prst="roundRect">
            <a:avLst>
              <a:gd name="adj" fmla="val 40000"/>
            </a:avLst>
          </a:prstGeom>
          <a:solidFill>
            <a:srgbClr val="4D8DFF"/>
          </a:solidFill>
          <a:ln w="9525">
            <a:solidFill>
              <a:srgbClr val="4D8DFF"/>
            </a:solidFill>
            <a:prstDash val="solid"/>
          </a:ln>
        </p:spPr>
        <p:txBody>
          <a:bodyPr lIns="57150" tIns="9525" rIns="57150" bIns="9525" anchor="ctr">
            <a:normAutofit/>
          </a:bodyPr>
          <a:lstStyle>
            <a:defPPr algn="ctr"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sz="1050" b="1">
              <a:solidFill>
                <a:srgbClr val="08142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066800" y="1752600"/>
            <a:ext cx="12573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Input</a:t>
            </a:r>
            <a:endParaRPr sz="1275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66750" y="2190750"/>
            <a:ext cx="164782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 algn="ctr">
              <a:defRPr sz="12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12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Ảnh + số tiền</a:t>
            </a:r>
            <a:endParaRPr sz="1200" b="0">
              <a:solidFill>
                <a:srgbClr val="9FB1C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buNone/>
              <a:defRPr sz="12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+ người gửi</a:t>
            </a:r>
            <a:endParaRPr sz="1200" b="0">
              <a:solidFill>
                <a:srgbClr val="9FB1C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Right Arrow 8"/>
          <p:cNvSpPr>
            <a:spLocks noGrp="1"/>
          </p:cNvSpPr>
          <p:nvPr/>
        </p:nvSpPr>
        <p:spPr>
          <a:xfrm>
            <a:off x="2514600" y="2095500"/>
            <a:ext cx="209550" cy="304800"/>
          </a:xfrm>
          <a:prstGeom prst="rightArrow">
            <a:avLst/>
          </a:prstGeom>
          <a:solidFill>
            <a:srgbClr val="2A4262"/>
          </a:solidFill>
          <a:ln w="0">
            <a:solidFill>
              <a:srgbClr val="2A4262"/>
            </a:solidFill>
          </a:ln>
        </p:spPr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2771775" y="1600200"/>
            <a:ext cx="1952625" cy="1352550"/>
          </a:xfrm>
          <a:prstGeom prst="roundRect">
            <a:avLst>
              <a:gd name="adj" fmla="val 8451"/>
            </a:avLst>
          </a:prstGeom>
          <a:solidFill>
            <a:srgbClr val="10223B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2914650" y="1752600"/>
            <a:ext cx="323850" cy="285750"/>
          </a:xfrm>
          <a:prstGeom prst="roundRect">
            <a:avLst>
              <a:gd name="adj" fmla="val 40000"/>
            </a:avLst>
          </a:prstGeom>
          <a:solidFill>
            <a:srgbClr val="22D3EE"/>
          </a:solidFill>
          <a:ln w="9525">
            <a:solidFill>
              <a:srgbClr val="22D3EE"/>
            </a:solidFill>
            <a:prstDash val="solid"/>
          </a:ln>
        </p:spPr>
        <p:txBody>
          <a:bodyPr lIns="57150" tIns="9525" rIns="57150" bIns="9525" anchor="ctr">
            <a:normAutofit/>
          </a:bodyPr>
          <a:lstStyle>
            <a:defPPr algn="ctr"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sz="1050" b="1">
              <a:solidFill>
                <a:srgbClr val="08142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3324225" y="1752600"/>
            <a:ext cx="12573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Nhận hồ sơ</a:t>
            </a:r>
            <a:endParaRPr sz="1275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2924175" y="2190750"/>
            <a:ext cx="164782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 algn="ctr">
              <a:defRPr sz="12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12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Lưu PENDING</a:t>
            </a:r>
            <a:endParaRPr sz="1200" b="0">
              <a:solidFill>
                <a:srgbClr val="9FB1C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buNone/>
              <a:defRPr sz="12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trả HTTP 202</a:t>
            </a:r>
            <a:endParaRPr sz="1200" b="0">
              <a:solidFill>
                <a:srgbClr val="9FB1C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Right Arrow 13"/>
          <p:cNvSpPr>
            <a:spLocks noGrp="1"/>
          </p:cNvSpPr>
          <p:nvPr/>
        </p:nvSpPr>
        <p:spPr>
          <a:xfrm>
            <a:off x="4772025" y="2095500"/>
            <a:ext cx="209550" cy="304800"/>
          </a:xfrm>
          <a:prstGeom prst="rightArrow">
            <a:avLst/>
          </a:prstGeom>
          <a:solidFill>
            <a:srgbClr val="2A4262"/>
          </a:solidFill>
          <a:ln w="0">
            <a:solidFill>
              <a:srgbClr val="2A4262"/>
            </a:solidFill>
          </a:ln>
        </p:spPr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5029200" y="1600200"/>
            <a:ext cx="1952625" cy="1352550"/>
          </a:xfrm>
          <a:prstGeom prst="roundRect">
            <a:avLst>
              <a:gd name="adj" fmla="val 8451"/>
            </a:avLst>
          </a:prstGeom>
          <a:solidFill>
            <a:srgbClr val="10223B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5172075" y="1752600"/>
            <a:ext cx="323850" cy="285750"/>
          </a:xfrm>
          <a:prstGeom prst="roundRect">
            <a:avLst>
              <a:gd name="adj" fmla="val 40000"/>
            </a:avLst>
          </a:prstGeom>
          <a:solidFill>
            <a:srgbClr val="A78BFA"/>
          </a:solidFill>
          <a:ln w="9525">
            <a:solidFill>
              <a:srgbClr val="A78BFA"/>
            </a:solidFill>
            <a:prstDash val="solid"/>
          </a:ln>
        </p:spPr>
        <p:txBody>
          <a:bodyPr lIns="57150" tIns="9525" rIns="57150" bIns="9525" anchor="ctr">
            <a:normAutofit/>
          </a:bodyPr>
          <a:lstStyle>
            <a:defPPr algn="ctr"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sz="1050" b="1">
              <a:solidFill>
                <a:srgbClr val="08142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5581650" y="1752600"/>
            <a:ext cx="12573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Worker</a:t>
            </a:r>
            <a:endParaRPr sz="1275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5181600" y="2190750"/>
            <a:ext cx="164782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 algn="ctr">
              <a:defRPr sz="12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12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Claim bằng lease</a:t>
            </a:r>
            <a:endParaRPr sz="1200" b="0">
              <a:solidFill>
                <a:srgbClr val="9FB1C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buNone/>
              <a:defRPr sz="12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khôi phục sau restart</a:t>
            </a:r>
            <a:endParaRPr sz="1200" b="0">
              <a:solidFill>
                <a:srgbClr val="9FB1C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Right Arrow 18"/>
          <p:cNvSpPr>
            <a:spLocks noGrp="1"/>
          </p:cNvSpPr>
          <p:nvPr/>
        </p:nvSpPr>
        <p:spPr>
          <a:xfrm>
            <a:off x="7029450" y="2095500"/>
            <a:ext cx="209550" cy="304800"/>
          </a:xfrm>
          <a:prstGeom prst="rightArrow">
            <a:avLst/>
          </a:prstGeom>
          <a:solidFill>
            <a:srgbClr val="2A4262"/>
          </a:solidFill>
          <a:ln w="0">
            <a:solidFill>
              <a:srgbClr val="2A4262"/>
            </a:solidFill>
          </a:ln>
        </p:spPr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7286625" y="1600200"/>
            <a:ext cx="1952625" cy="1352550"/>
          </a:xfrm>
          <a:prstGeom prst="roundRect">
            <a:avLst>
              <a:gd name="adj" fmla="val 8451"/>
            </a:avLst>
          </a:prstGeom>
          <a:solidFill>
            <a:srgbClr val="10223B"/>
          </a:solidFill>
          <a:ln w="9525">
            <a:solidFill>
              <a:srgbClr val="2DD4A7"/>
            </a:solidFill>
            <a:prstDash val="solid"/>
          </a:ln>
        </p:spPr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7429500" y="1752600"/>
            <a:ext cx="323850" cy="285750"/>
          </a:xfrm>
          <a:prstGeom prst="roundRect">
            <a:avLst>
              <a:gd name="adj" fmla="val 40000"/>
            </a:avLst>
          </a:prstGeom>
          <a:solidFill>
            <a:srgbClr val="2DD4A7"/>
          </a:solidFill>
          <a:ln w="9525">
            <a:solidFill>
              <a:srgbClr val="2DD4A7"/>
            </a:solidFill>
            <a:prstDash val="solid"/>
          </a:ln>
        </p:spPr>
        <p:txBody>
          <a:bodyPr lIns="57150" tIns="9525" rIns="57150" bIns="9525" anchor="ctr">
            <a:normAutofit/>
          </a:bodyPr>
          <a:lstStyle>
            <a:defPPr algn="ctr"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sz="1050" b="1">
              <a:solidFill>
                <a:srgbClr val="08142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7839075" y="1752600"/>
            <a:ext cx="12573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Vision</a:t>
            </a:r>
            <a:endParaRPr sz="1275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7439025" y="2190750"/>
            <a:ext cx="164782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 algn="ctr">
              <a:defRPr sz="12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12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Primary hoặc fallback</a:t>
            </a:r>
            <a:endParaRPr sz="1200" b="0">
              <a:solidFill>
                <a:srgbClr val="9FB1C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buNone/>
              <a:defRPr sz="12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+ semantic repair</a:t>
            </a:r>
            <a:endParaRPr sz="1200" b="0">
              <a:solidFill>
                <a:srgbClr val="9FB1C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" name="Right Arrow 23"/>
          <p:cNvSpPr>
            <a:spLocks noGrp="1"/>
          </p:cNvSpPr>
          <p:nvPr/>
        </p:nvSpPr>
        <p:spPr>
          <a:xfrm>
            <a:off x="9286875" y="2095500"/>
            <a:ext cx="209550" cy="304800"/>
          </a:xfrm>
          <a:prstGeom prst="rightArrow">
            <a:avLst/>
          </a:prstGeom>
          <a:solidFill>
            <a:srgbClr val="2A4262"/>
          </a:solidFill>
          <a:ln w="0">
            <a:solidFill>
              <a:srgbClr val="2A4262"/>
            </a:solidFill>
          </a:ln>
        </p:spPr>
      </p:sp>
      <p:sp>
        <p:nvSpPr>
          <p:cNvPr id="25" name="Rounded Rectangle 24"/>
          <p:cNvSpPr>
            <a:spLocks noGrp="1"/>
          </p:cNvSpPr>
          <p:nvPr/>
        </p:nvSpPr>
        <p:spPr>
          <a:xfrm>
            <a:off x="9544050" y="1600200"/>
            <a:ext cx="1952625" cy="1352550"/>
          </a:xfrm>
          <a:prstGeom prst="roundRect">
            <a:avLst>
              <a:gd name="adj" fmla="val 8451"/>
            </a:avLst>
          </a:prstGeom>
          <a:solidFill>
            <a:srgbClr val="10223B"/>
          </a:solidFill>
          <a:ln w="9525">
            <a:solidFill>
              <a:srgbClr val="F8C14C"/>
            </a:solidFill>
            <a:prstDash val="solid"/>
          </a:ln>
        </p:spPr>
      </p:sp>
      <p:sp>
        <p:nvSpPr>
          <p:cNvPr id="26" name="Rounded Rectangle 25"/>
          <p:cNvSpPr>
            <a:spLocks noGrp="1"/>
          </p:cNvSpPr>
          <p:nvPr/>
        </p:nvSpPr>
        <p:spPr>
          <a:xfrm>
            <a:off x="9686925" y="1752600"/>
            <a:ext cx="323850" cy="285750"/>
          </a:xfrm>
          <a:prstGeom prst="roundRect">
            <a:avLst>
              <a:gd name="adj" fmla="val 40000"/>
            </a:avLst>
          </a:prstGeom>
          <a:solidFill>
            <a:srgbClr val="F8C14C"/>
          </a:solidFill>
          <a:ln w="9525">
            <a:solidFill>
              <a:srgbClr val="F8C14C"/>
            </a:solidFill>
            <a:prstDash val="solid"/>
          </a:ln>
        </p:spPr>
        <p:txBody>
          <a:bodyPr lIns="57150" tIns="9525" rIns="57150" bIns="9525" anchor="ctr">
            <a:normAutofit/>
          </a:bodyPr>
          <a:lstStyle>
            <a:defPPr algn="ctr"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</a:t>
            </a:r>
            <a:endParaRPr sz="1050" b="1">
              <a:solidFill>
                <a:srgbClr val="08142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10096500" y="1752600"/>
            <a:ext cx="12573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Policy</a:t>
            </a:r>
            <a:endParaRPr sz="1275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9696450" y="2190750"/>
            <a:ext cx="164782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 algn="ctr">
              <a:defRPr sz="12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12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AUTO_APPROVE</a:t>
            </a:r>
            <a:endParaRPr sz="1200" b="0">
              <a:solidFill>
                <a:srgbClr val="9FB1C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buNone/>
              <a:defRPr sz="12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hoặc ESCALATE_*</a:t>
            </a:r>
            <a:endParaRPr sz="1200" b="0">
              <a:solidFill>
                <a:srgbClr val="9FB1C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552450" y="3400425"/>
            <a:ext cx="15430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125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125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Điểm người #1</a:t>
            </a:r>
            <a:endParaRPr sz="1125" b="1">
              <a:solidFill>
                <a:srgbClr val="22D3E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" name="Rounded Rectangle 29"/>
          <p:cNvSpPr>
            <a:spLocks noGrp="1"/>
          </p:cNvSpPr>
          <p:nvPr/>
        </p:nvSpPr>
        <p:spPr>
          <a:xfrm>
            <a:off x="514350" y="3714750"/>
            <a:ext cx="5095875" cy="2076450"/>
          </a:xfrm>
          <a:prstGeom prst="roundRect">
            <a:avLst>
              <a:gd name="adj" fmla="val 5505"/>
            </a:avLst>
          </a:prstGeom>
          <a:solidFill>
            <a:srgbClr val="142A47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1" name="Rectangle 30"/>
          <p:cNvSpPr>
            <a:spLocks noGrp="1"/>
          </p:cNvSpPr>
          <p:nvPr/>
        </p:nvSpPr>
        <p:spPr>
          <a:xfrm>
            <a:off x="742950" y="3943350"/>
            <a:ext cx="4476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72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72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Nhân viên xác nhận chuyển tiếp</a:t>
            </a:r>
            <a:endParaRPr sz="1725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" name="Rectangle 31"/>
          <p:cNvSpPr>
            <a:spLocks noGrp="1"/>
          </p:cNvSpPr>
          <p:nvPr/>
        </p:nvSpPr>
        <p:spPr>
          <a:xfrm>
            <a:off x="742950" y="4410075"/>
            <a:ext cx="428625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35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35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chỉ hồ sơ ESCALATE_*</a:t>
            </a:r>
            <a:endParaRPr sz="1350" b="0">
              <a:solidFill>
                <a:srgbClr val="9FB1C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buNone/>
              <a:defRPr sz="135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chuyển từng hồ sơ hoặc tất cả</a:t>
            </a:r>
            <a:endParaRPr sz="1350" b="0">
              <a:solidFill>
                <a:srgbClr val="9FB1C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buNone/>
              <a:defRPr sz="135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tab quản lý cập nhật ngay</a:t>
            </a:r>
            <a:endParaRPr sz="1350" b="0">
              <a:solidFill>
                <a:srgbClr val="9FB1C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3" name="Rounded Rectangle 32"/>
          <p:cNvSpPr>
            <a:spLocks noGrp="1"/>
          </p:cNvSpPr>
          <p:nvPr/>
        </p:nvSpPr>
        <p:spPr>
          <a:xfrm>
            <a:off x="742950" y="5372100"/>
            <a:ext cx="1809750" cy="285750"/>
          </a:xfrm>
          <a:prstGeom prst="roundRect">
            <a:avLst>
              <a:gd name="adj" fmla="val 40000"/>
            </a:avLst>
          </a:prstGeom>
          <a:solidFill>
            <a:srgbClr val="22D3EE"/>
          </a:solidFill>
          <a:ln w="9525">
            <a:solidFill>
              <a:srgbClr val="22D3EE"/>
            </a:solidFill>
            <a:prstDash val="solid"/>
          </a:ln>
        </p:spPr>
        <p:txBody>
          <a:bodyPr lIns="57150" tIns="9525" rIns="57150" bIns="9525" anchor="ctr">
            <a:normAutofit/>
          </a:bodyPr>
          <a:lstStyle>
            <a:defPPr algn="ctr"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Không chuyển âm thầm</a:t>
            </a:r>
            <a:endParaRPr sz="1050" b="1">
              <a:solidFill>
                <a:srgbClr val="08142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4" name="Rectangle 33"/>
          <p:cNvSpPr>
            <a:spLocks noGrp="1"/>
          </p:cNvSpPr>
          <p:nvPr/>
        </p:nvSpPr>
        <p:spPr>
          <a:xfrm>
            <a:off x="6191250" y="3400425"/>
            <a:ext cx="15430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125" b="1">
                <a:solidFill>
                  <a:srgbClr val="F8C14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125" b="1">
                <a:solidFill>
                  <a:srgbClr val="F8C14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F8C14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Điểm người #2</a:t>
            </a:r>
            <a:endParaRPr sz="1125" b="1">
              <a:solidFill>
                <a:srgbClr val="F8C14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5" name="Rounded Rectangle 34"/>
          <p:cNvSpPr>
            <a:spLocks noGrp="1"/>
          </p:cNvSpPr>
          <p:nvPr/>
        </p:nvSpPr>
        <p:spPr>
          <a:xfrm>
            <a:off x="6143625" y="3714750"/>
            <a:ext cx="5514975" cy="2076450"/>
          </a:xfrm>
          <a:prstGeom prst="roundRect">
            <a:avLst>
              <a:gd name="adj" fmla="val 5505"/>
            </a:avLst>
          </a:prstGeom>
          <a:solidFill>
            <a:srgbClr val="142A47"/>
          </a:solidFill>
          <a:ln w="9525">
            <a:solidFill>
              <a:srgbClr val="F8C14C"/>
            </a:solidFill>
            <a:prstDash val="solid"/>
          </a:ln>
        </p:spPr>
      </p:sp>
      <p:sp>
        <p:nvSpPr>
          <p:cNvPr id="36" name="Rectangle 35"/>
          <p:cNvSpPr>
            <a:spLocks noGrp="1"/>
          </p:cNvSpPr>
          <p:nvPr/>
        </p:nvSpPr>
        <p:spPr>
          <a:xfrm>
            <a:off x="6381750" y="3943350"/>
            <a:ext cx="4905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72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72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Quản lý trả lời câu hỏi cụ thể</a:t>
            </a:r>
            <a:endParaRPr sz="1725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7" name="Rounded Rectangle 36"/>
          <p:cNvSpPr>
            <a:spLocks noGrp="1"/>
          </p:cNvSpPr>
          <p:nvPr/>
        </p:nvSpPr>
        <p:spPr>
          <a:xfrm>
            <a:off x="6381750" y="4438650"/>
            <a:ext cx="2238375" cy="638175"/>
          </a:xfrm>
          <a:prstGeom prst="roundRect">
            <a:avLst>
              <a:gd name="adj" fmla="val 17910"/>
            </a:avLst>
          </a:prstGeom>
          <a:solidFill>
            <a:srgbClr val="12352F"/>
          </a:solidFill>
          <a:ln w="9525">
            <a:solidFill>
              <a:srgbClr val="2DD4A7"/>
            </a:solidFill>
            <a:prstDash val="solid"/>
          </a:ln>
        </p:spPr>
      </p:sp>
      <p:sp>
        <p:nvSpPr>
          <p:cNvPr id="38" name="Rectangle 37"/>
          <p:cNvSpPr>
            <a:spLocks noGrp="1"/>
          </p:cNvSpPr>
          <p:nvPr/>
        </p:nvSpPr>
        <p:spPr>
          <a:xfrm>
            <a:off x="6553200" y="4552950"/>
            <a:ext cx="18954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ctr">
              <a:defRPr sz="1200" b="1">
                <a:solidFill>
                  <a:srgbClr val="2DD4A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1200" b="1">
                <a:solidFill>
                  <a:srgbClr val="2DD4A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2DD4A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ĐỒNG Ý</a:t>
            </a:r>
            <a:endParaRPr sz="1200" b="1">
              <a:solidFill>
                <a:srgbClr val="2DD4A7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9" name="Rectangle 38"/>
          <p:cNvSpPr>
            <a:spLocks noGrp="1"/>
          </p:cNvSpPr>
          <p:nvPr/>
        </p:nvSpPr>
        <p:spPr>
          <a:xfrm>
            <a:off x="6553200" y="4810125"/>
            <a:ext cx="1895475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ctr">
              <a:defRPr sz="975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975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duyệt ngoại lệ / tiếp nhận</a:t>
            </a:r>
            <a:endParaRPr sz="975" b="0">
              <a:solidFill>
                <a:srgbClr val="9FB1C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0" name="Rounded Rectangle 39"/>
          <p:cNvSpPr>
            <a:spLocks noGrp="1"/>
          </p:cNvSpPr>
          <p:nvPr/>
        </p:nvSpPr>
        <p:spPr>
          <a:xfrm>
            <a:off x="8848725" y="4438650"/>
            <a:ext cx="2238375" cy="638175"/>
          </a:xfrm>
          <a:prstGeom prst="roundRect">
            <a:avLst>
              <a:gd name="adj" fmla="val 17910"/>
            </a:avLst>
          </a:prstGeom>
          <a:solidFill>
            <a:srgbClr val="3A202C"/>
          </a:solidFill>
          <a:ln w="9525">
            <a:solidFill>
              <a:srgbClr val="FF6B7A"/>
            </a:solidFill>
            <a:prstDash val="solid"/>
          </a:ln>
        </p:spPr>
      </p:sp>
      <p:sp>
        <p:nvSpPr>
          <p:cNvPr id="41" name="Rectangle 40"/>
          <p:cNvSpPr>
            <a:spLocks noGrp="1"/>
          </p:cNvSpPr>
          <p:nvPr/>
        </p:nvSpPr>
        <p:spPr>
          <a:xfrm>
            <a:off x="9020175" y="4552950"/>
            <a:ext cx="18954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ctr">
              <a:defRPr sz="1200" b="1">
                <a:solidFill>
                  <a:srgbClr val="FF6B7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1200" b="1">
                <a:solidFill>
                  <a:srgbClr val="FF6B7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FF6B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TỪ CHỐI</a:t>
            </a:r>
            <a:endParaRPr sz="1200" b="1">
              <a:solidFill>
                <a:srgbClr val="FF6B7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2" name="Rectangle 41"/>
          <p:cNvSpPr>
            <a:spLocks noGrp="1"/>
          </p:cNvSpPr>
          <p:nvPr/>
        </p:nvSpPr>
        <p:spPr>
          <a:xfrm>
            <a:off x="9020175" y="4810125"/>
            <a:ext cx="1895475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ctr">
              <a:defRPr sz="975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975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trả lại / yêu cầu bổ sung</a:t>
            </a:r>
            <a:endParaRPr sz="975" b="0">
              <a:solidFill>
                <a:srgbClr val="9FB1C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3" name="Rectangle 42"/>
          <p:cNvSpPr>
            <a:spLocks noGrp="1"/>
          </p:cNvSpPr>
          <p:nvPr/>
        </p:nvSpPr>
        <p:spPr>
          <a:xfrm>
            <a:off x="6381750" y="5314950"/>
            <a:ext cx="47053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ctr">
              <a:defRPr sz="112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112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Audit append-only • hoàn tác quyết định gần nhất</a:t>
            </a:r>
            <a:endParaRPr sz="1125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4" name="Rectangle 43"/>
          <p:cNvSpPr>
            <a:spLocks noGrp="1"/>
          </p:cNvSpPr>
          <p:nvPr/>
        </p:nvSpPr>
        <p:spPr>
          <a:xfrm>
            <a:off x="514350" y="6534150"/>
            <a:ext cx="90487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9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9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AURA • Track A • 13/10/2026</a:t>
            </a:r>
            <a:endParaRPr sz="900" b="0">
              <a:solidFill>
                <a:srgbClr val="9FB1C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5" name="Rectangle 44"/>
          <p:cNvSpPr>
            <a:spLocks noGrp="1"/>
          </p:cNvSpPr>
          <p:nvPr/>
        </p:nvSpPr>
        <p:spPr>
          <a:xfrm>
            <a:off x="11144250" y="6515100"/>
            <a:ext cx="5143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r">
              <a:defRPr sz="975" b="1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r">
              <a:buNone/>
              <a:defRPr sz="975" b="1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sz="975" b="1">
              <a:solidFill>
                <a:srgbClr val="9FB1C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Rectangle 31"/>
          <p:cNvSpPr>
            <a:spLocks noGrp="1"/>
          </p:cNvSpPr>
          <p:nvPr/>
        </p:nvSpPr>
        <p:spPr>
          <a:xfrm>
            <a:off x="476250" y="361950"/>
            <a:ext cx="6477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35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35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1350" b="1">
              <a:solidFill>
                <a:srgbClr val="22D3E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066800" y="285750"/>
            <a:ext cx="10572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255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255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55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Bằng chứng kỹ thuật và tác động cần đo</a:t>
            </a:r>
            <a:endParaRPr sz="2550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1066800" y="781050"/>
            <a:ext cx="10382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275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275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Verify 5/5 dưới 90 giây; mini-holdout mới đạt 8/10 và không có missed escalation.</a:t>
            </a:r>
            <a:endParaRPr sz="1275" b="0">
              <a:solidFill>
                <a:srgbClr val="9FB1C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Straight Connector 3"/>
          <p:cNvSpPr>
            <a:spLocks noGrp="1"/>
          </p:cNvSpPr>
          <p:nvPr/>
        </p:nvSpPr>
        <p:spPr>
          <a:xfrm>
            <a:off x="514350" y="1162050"/>
            <a:ext cx="11144250" cy="0"/>
          </a:xfrm>
          <a:prstGeom prst="line">
            <a:avLst/>
          </a:prstGeom>
          <a:noFill/>
          <a:ln w="9525">
            <a:solidFill>
              <a:srgbClr val="2A4262"/>
            </a:solidFill>
            <a:prstDash val="solid"/>
          </a:ln>
        </p:spPr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514350" y="1543050"/>
            <a:ext cx="5334000" cy="2209800"/>
          </a:xfrm>
          <a:prstGeom prst="roundRect">
            <a:avLst>
              <a:gd name="adj" fmla="val 5172"/>
            </a:avLst>
          </a:prstGeom>
          <a:solidFill>
            <a:srgbClr val="10223B"/>
          </a:solidFill>
          <a:ln w="9525">
            <a:solidFill>
              <a:srgbClr val="FF6B7A"/>
            </a:solidFill>
            <a:prstDash val="solid"/>
          </a:ln>
        </p:spPr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723900" y="1733550"/>
            <a:ext cx="819150" cy="285750"/>
          </a:xfrm>
          <a:prstGeom prst="roundRect">
            <a:avLst>
              <a:gd name="adj" fmla="val 40000"/>
            </a:avLst>
          </a:prstGeom>
          <a:solidFill>
            <a:srgbClr val="FF6B7A"/>
          </a:solidFill>
          <a:ln w="9525">
            <a:solidFill>
              <a:srgbClr val="FF6B7A"/>
            </a:solidFill>
            <a:prstDash val="solid"/>
          </a:ln>
        </p:spPr>
        <p:txBody>
          <a:bodyPr lIns="57150" tIns="9525" rIns="57150" bIns="9525" anchor="ctr">
            <a:normAutofit/>
          </a:bodyPr>
          <a:lstStyle>
            <a:defPPr algn="ctr"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TRƯỚC</a:t>
            </a:r>
            <a:endParaRPr sz="1050" b="1">
              <a:solidFill>
                <a:srgbClr val="08142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733425" y="2200275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80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80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Đọc và phân loại thủ công</a:t>
            </a:r>
            <a:endParaRPr sz="1800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733425" y="2647950"/>
            <a:ext cx="4810125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35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35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nhiều lần chạm trên hồ sơ routine</a:t>
            </a:r>
            <a:endParaRPr sz="1350" b="0">
              <a:solidFill>
                <a:srgbClr val="9FB1C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buNone/>
              <a:defRPr sz="135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câu hỏi escalation không nhất quán</a:t>
            </a:r>
            <a:endParaRPr sz="1350" b="0">
              <a:solidFill>
                <a:srgbClr val="9FB1C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buNone/>
              <a:defRPr sz="135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lịch sử rời rạc, khó giải thích</a:t>
            </a:r>
            <a:endParaRPr sz="1350" b="0">
              <a:solidFill>
                <a:srgbClr val="9FB1C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6343650" y="1543050"/>
            <a:ext cx="5314950" cy="2209800"/>
          </a:xfrm>
          <a:prstGeom prst="roundRect">
            <a:avLst>
              <a:gd name="adj" fmla="val 5172"/>
            </a:avLst>
          </a:prstGeom>
          <a:solidFill>
            <a:srgbClr val="10223B"/>
          </a:solidFill>
          <a:ln w="9525">
            <a:solidFill>
              <a:srgbClr val="2DD4A7"/>
            </a:solidFill>
            <a:prstDash val="solid"/>
          </a:ln>
        </p:spPr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6572250" y="1733550"/>
            <a:ext cx="1381125" cy="285750"/>
          </a:xfrm>
          <a:prstGeom prst="roundRect">
            <a:avLst>
              <a:gd name="adj" fmla="val 40000"/>
            </a:avLst>
          </a:prstGeom>
          <a:solidFill>
            <a:srgbClr val="2DD4A7"/>
          </a:solidFill>
          <a:ln w="9525">
            <a:solidFill>
              <a:srgbClr val="2DD4A7"/>
            </a:solidFill>
            <a:prstDash val="solid"/>
          </a:ln>
        </p:spPr>
        <p:txBody>
          <a:bodyPr lIns="57150" tIns="9525" rIns="57150" bIns="9525" anchor="ctr">
            <a:normAutofit/>
          </a:bodyPr>
          <a:lstStyle>
            <a:defPPr algn="ctr"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SAU — MỤC TIÊU</a:t>
            </a:r>
            <a:endParaRPr sz="1050" b="1">
              <a:solidFill>
                <a:srgbClr val="08142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6572250" y="2200275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80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80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Tự xử lý ca rõ ràng</a:t>
            </a:r>
            <a:endParaRPr sz="1800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6572250" y="2647950"/>
            <a:ext cx="47625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35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35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con người chỉ nhận ngoại lệ</a:t>
            </a:r>
            <a:endParaRPr sz="1350" b="0">
              <a:solidFill>
                <a:srgbClr val="9FB1C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buNone/>
              <a:defRPr sz="135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câu hỏi có dữ kiện và lựa chọn</a:t>
            </a:r>
            <a:endParaRPr sz="1350" b="0">
              <a:solidFill>
                <a:srgbClr val="9FB1C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buNone/>
              <a:defRPr sz="135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một hồ sơ, một timeline truy vết</a:t>
            </a:r>
            <a:endParaRPr sz="1350" b="0">
              <a:solidFill>
                <a:srgbClr val="9FB1C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514350" y="407670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50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50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Bằng chứng đã có</a:t>
            </a:r>
            <a:endParaRPr sz="1500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514350" y="4505325"/>
            <a:ext cx="1562100" cy="1133475"/>
          </a:xfrm>
          <a:prstGeom prst="roundRect">
            <a:avLst>
              <a:gd name="adj" fmla="val 10084"/>
            </a:avLst>
          </a:prstGeom>
          <a:solidFill>
            <a:srgbClr val="142A47"/>
          </a:solidFill>
          <a:ln w="9525">
            <a:solidFill>
              <a:srgbClr val="4D8DFF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628650" y="4676775"/>
            <a:ext cx="1333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ctr">
              <a:defRPr sz="2325" b="1">
                <a:solidFill>
                  <a:srgbClr val="4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2325" b="1">
                <a:solidFill>
                  <a:srgbClr val="4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325" b="1">
                <a:solidFill>
                  <a:srgbClr val="4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163/163</a:t>
            </a:r>
            <a:endParaRPr sz="2325" b="1">
              <a:solidFill>
                <a:srgbClr val="4D8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628650" y="5172075"/>
            <a:ext cx="1333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ctr">
              <a:defRPr sz="1050" b="1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1050" b="1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test offline</a:t>
            </a:r>
            <a:endParaRPr sz="1050" b="1">
              <a:solidFill>
                <a:srgbClr val="9FB1C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Rounded Rectangle 16"/>
          <p:cNvSpPr>
            <a:spLocks noGrp="1"/>
          </p:cNvSpPr>
          <p:nvPr/>
        </p:nvSpPr>
        <p:spPr>
          <a:xfrm>
            <a:off x="2276475" y="4505325"/>
            <a:ext cx="1562100" cy="1133475"/>
          </a:xfrm>
          <a:prstGeom prst="roundRect">
            <a:avLst>
              <a:gd name="adj" fmla="val 10084"/>
            </a:avLst>
          </a:prstGeom>
          <a:solidFill>
            <a:srgbClr val="142A47"/>
          </a:solidFill>
          <a:ln w="9525">
            <a:solidFill>
              <a:srgbClr val="2DD4A7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2390775" y="4676775"/>
            <a:ext cx="1333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ctr">
              <a:defRPr sz="2325" b="1">
                <a:solidFill>
                  <a:srgbClr val="2DD4A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2325" b="1">
                <a:solidFill>
                  <a:srgbClr val="2DD4A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325" b="1">
                <a:solidFill>
                  <a:srgbClr val="2DD4A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8/10</a:t>
            </a:r>
            <a:endParaRPr sz="2325" b="1">
              <a:solidFill>
                <a:srgbClr val="2DD4A7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2390775" y="5172075"/>
            <a:ext cx="1333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ctr">
              <a:defRPr sz="1050" b="1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1050" b="1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mini-holdout mới</a:t>
            </a:r>
            <a:endParaRPr sz="1050" b="1">
              <a:solidFill>
                <a:srgbClr val="9FB1C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4038600" y="4505325"/>
            <a:ext cx="1562100" cy="1133475"/>
          </a:xfrm>
          <a:prstGeom prst="roundRect">
            <a:avLst>
              <a:gd name="adj" fmla="val 10084"/>
            </a:avLst>
          </a:prstGeom>
          <a:solidFill>
            <a:srgbClr val="142A47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4152900" y="4676775"/>
            <a:ext cx="1333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ctr">
              <a:defRPr sz="2325" b="1">
                <a:solidFill>
                  <a:srgbClr val="A78BF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2325" b="1">
                <a:solidFill>
                  <a:srgbClr val="A78BF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325" b="1">
                <a:solidFill>
                  <a:srgbClr val="A78BF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5/5</a:t>
            </a:r>
            <a:endParaRPr sz="2325" b="1">
              <a:solidFill>
                <a:srgbClr val="A78BF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4152900" y="5172075"/>
            <a:ext cx="1333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ctr">
              <a:defRPr sz="1050" b="1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1050" b="1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Verify live 65s</a:t>
            </a:r>
            <a:endParaRPr sz="1050" b="1">
              <a:solidFill>
                <a:srgbClr val="9FB1C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Rounded Rectangle 22"/>
          <p:cNvSpPr>
            <a:spLocks noGrp="1"/>
          </p:cNvSpPr>
          <p:nvPr/>
        </p:nvSpPr>
        <p:spPr>
          <a:xfrm>
            <a:off x="6048375" y="4076700"/>
            <a:ext cx="5610225" cy="1562100"/>
          </a:xfrm>
          <a:prstGeom prst="roundRect">
            <a:avLst>
              <a:gd name="adj" fmla="val 7317"/>
            </a:avLst>
          </a:prstGeom>
          <a:solidFill>
            <a:srgbClr val="142A47"/>
          </a:solidFill>
          <a:ln w="9525">
            <a:solidFill>
              <a:srgbClr val="2A4262"/>
            </a:solidFill>
            <a:prstDash val="solid"/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6286500" y="4276725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50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50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Đo trong pilot</a:t>
            </a:r>
            <a:endParaRPr sz="1500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Rounded Rectangle 24"/>
          <p:cNvSpPr>
            <a:spLocks noGrp="1"/>
          </p:cNvSpPr>
          <p:nvPr/>
        </p:nvSpPr>
        <p:spPr>
          <a:xfrm>
            <a:off x="6286500" y="4686300"/>
            <a:ext cx="2247900" cy="285750"/>
          </a:xfrm>
          <a:prstGeom prst="roundRect">
            <a:avLst>
              <a:gd name="adj" fmla="val 40000"/>
            </a:avLst>
          </a:prstGeom>
          <a:solidFill>
            <a:srgbClr val="4D8DFF"/>
          </a:solidFill>
          <a:ln w="9525">
            <a:solidFill>
              <a:srgbClr val="4D8DFF"/>
            </a:solidFill>
            <a:prstDash val="solid"/>
          </a:ln>
        </p:spPr>
        <p:txBody>
          <a:bodyPr lIns="57150" tIns="9525" rIns="57150" bIns="9525" anchor="ctr">
            <a:normAutofit/>
          </a:bodyPr>
          <a:lstStyle>
            <a:defPPr algn="ctr"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Touchless rate</a:t>
            </a:r>
            <a:endParaRPr sz="1050" b="1">
              <a:solidFill>
                <a:srgbClr val="08142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Rounded Rectangle 25"/>
          <p:cNvSpPr>
            <a:spLocks noGrp="1"/>
          </p:cNvSpPr>
          <p:nvPr/>
        </p:nvSpPr>
        <p:spPr>
          <a:xfrm>
            <a:off x="8858250" y="4686300"/>
            <a:ext cx="2247900" cy="285750"/>
          </a:xfrm>
          <a:prstGeom prst="roundRect">
            <a:avLst>
              <a:gd name="adj" fmla="val 40000"/>
            </a:avLst>
          </a:prstGeom>
          <a:solidFill>
            <a:srgbClr val="4D8DFF"/>
          </a:solidFill>
          <a:ln w="9525">
            <a:solidFill>
              <a:srgbClr val="4D8DFF"/>
            </a:solidFill>
            <a:prstDash val="solid"/>
          </a:ln>
        </p:spPr>
        <p:txBody>
          <a:bodyPr lIns="57150" tIns="9525" rIns="57150" bIns="9525" anchor="ctr">
            <a:normAutofit/>
          </a:bodyPr>
          <a:lstStyle>
            <a:defPPr algn="ctr"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Review time</a:t>
            </a:r>
            <a:endParaRPr sz="1050" b="1">
              <a:solidFill>
                <a:srgbClr val="08142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Rounded Rectangle 26"/>
          <p:cNvSpPr>
            <a:spLocks noGrp="1"/>
          </p:cNvSpPr>
          <p:nvPr/>
        </p:nvSpPr>
        <p:spPr>
          <a:xfrm>
            <a:off x="6286500" y="5095875"/>
            <a:ext cx="2247900" cy="285750"/>
          </a:xfrm>
          <a:prstGeom prst="roundRect">
            <a:avLst>
              <a:gd name="adj" fmla="val 40000"/>
            </a:avLst>
          </a:prstGeom>
          <a:solidFill>
            <a:srgbClr val="F8C14C"/>
          </a:solidFill>
          <a:ln w="9525">
            <a:solidFill>
              <a:srgbClr val="F8C14C"/>
            </a:solidFill>
            <a:prstDash val="solid"/>
          </a:ln>
        </p:spPr>
        <p:txBody>
          <a:bodyPr lIns="57150" tIns="9525" rIns="57150" bIns="9525" anchor="ctr">
            <a:normAutofit/>
          </a:bodyPr>
          <a:lstStyle>
            <a:defPPr algn="ctr"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Over-escalation</a:t>
            </a:r>
            <a:endParaRPr sz="1050" b="1">
              <a:solidFill>
                <a:srgbClr val="08142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" name="Rounded Rectangle 27"/>
          <p:cNvSpPr>
            <a:spLocks noGrp="1"/>
          </p:cNvSpPr>
          <p:nvPr/>
        </p:nvSpPr>
        <p:spPr>
          <a:xfrm>
            <a:off x="8858250" y="5095875"/>
            <a:ext cx="2247900" cy="285750"/>
          </a:xfrm>
          <a:prstGeom prst="roundRect">
            <a:avLst>
              <a:gd name="adj" fmla="val 40000"/>
            </a:avLst>
          </a:prstGeom>
          <a:solidFill>
            <a:srgbClr val="F8C14C"/>
          </a:solidFill>
          <a:ln w="9525">
            <a:solidFill>
              <a:srgbClr val="F8C14C"/>
            </a:solidFill>
            <a:prstDash val="solid"/>
          </a:ln>
        </p:spPr>
        <p:txBody>
          <a:bodyPr lIns="57150" tIns="9525" rIns="57150" bIns="9525" anchor="ctr">
            <a:normAutofit/>
          </a:bodyPr>
          <a:lstStyle>
            <a:defPPr algn="ctr"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Missed escalation</a:t>
            </a:r>
            <a:endParaRPr sz="1050" b="1">
              <a:solidFill>
                <a:srgbClr val="08142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6048375" y="5810250"/>
            <a:ext cx="56102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ctr">
              <a:defRPr sz="1125" b="1">
                <a:solidFill>
                  <a:srgbClr val="F8C14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1125" b="1">
                <a:solidFill>
                  <a:srgbClr val="F8C14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F8C14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Lượt lặp 11/12 chỉ đo stability; touchless rate và review time chờ pilot.</a:t>
            </a:r>
            <a:endParaRPr sz="1125" b="1">
              <a:solidFill>
                <a:srgbClr val="F8C14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" name="Rectangle 29"/>
          <p:cNvSpPr>
            <a:spLocks noGrp="1"/>
          </p:cNvSpPr>
          <p:nvPr/>
        </p:nvSpPr>
        <p:spPr>
          <a:xfrm>
            <a:off x="514350" y="6534150"/>
            <a:ext cx="90487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9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9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AURA • Track A • 13/10/2026</a:t>
            </a:r>
            <a:endParaRPr sz="900" b="0">
              <a:solidFill>
                <a:srgbClr val="9FB1C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" name="Rectangle 30"/>
          <p:cNvSpPr>
            <a:spLocks noGrp="1"/>
          </p:cNvSpPr>
          <p:nvPr/>
        </p:nvSpPr>
        <p:spPr>
          <a:xfrm>
            <a:off x="11144250" y="6515100"/>
            <a:ext cx="5143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r">
              <a:defRPr sz="975" b="1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r">
              <a:buNone/>
              <a:defRPr sz="975" b="1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sz="975" b="1">
              <a:solidFill>
                <a:srgbClr val="9FB1C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Rectangle 31"/>
          <p:cNvSpPr>
            <a:spLocks noGrp="1"/>
          </p:cNvSpPr>
          <p:nvPr/>
        </p:nvSpPr>
        <p:spPr>
          <a:xfrm>
            <a:off x="476250" y="361950"/>
            <a:ext cx="6477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35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35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  <a:endParaRPr sz="1350" b="1">
              <a:solidFill>
                <a:srgbClr val="22D3E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066800" y="285750"/>
            <a:ext cx="10572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255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255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55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Kiến trúc: model thay được, policy đứng yên</a:t>
            </a:r>
            <a:endParaRPr sz="2550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1066800" y="781050"/>
            <a:ext cx="10382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275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275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Vertical slice chạy thật trên ASP.NET Core; Test Kit chỉ là dữ liệu mô phỏng.</a:t>
            </a:r>
            <a:endParaRPr sz="1275" b="0">
              <a:solidFill>
                <a:srgbClr val="9FB1C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Straight Connector 3"/>
          <p:cNvSpPr>
            <a:spLocks noGrp="1"/>
          </p:cNvSpPr>
          <p:nvPr/>
        </p:nvSpPr>
        <p:spPr>
          <a:xfrm>
            <a:off x="514350" y="1162050"/>
            <a:ext cx="11144250" cy="0"/>
          </a:xfrm>
          <a:prstGeom prst="line">
            <a:avLst/>
          </a:prstGeom>
          <a:noFill/>
          <a:ln w="9525">
            <a:solidFill>
              <a:srgbClr val="2A4262"/>
            </a:solidFill>
            <a:prstDash val="solid"/>
          </a:ln>
        </p:spPr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514350" y="1543050"/>
            <a:ext cx="7239000" cy="628650"/>
          </a:xfrm>
          <a:prstGeom prst="roundRect">
            <a:avLst>
              <a:gd name="adj" fmla="val 18182"/>
            </a:avLst>
          </a:prstGeom>
          <a:solidFill>
            <a:srgbClr val="10223B"/>
          </a:solidFill>
          <a:ln w="9525">
            <a:solidFill>
              <a:srgbClr val="4D8DFF"/>
            </a:solidFill>
            <a:prstDash val="solid"/>
          </a:ln>
        </p:spPr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666750" y="1714500"/>
            <a:ext cx="1257300" cy="285750"/>
          </a:xfrm>
          <a:prstGeom prst="roundRect">
            <a:avLst>
              <a:gd name="adj" fmla="val 40000"/>
            </a:avLst>
          </a:prstGeom>
          <a:solidFill>
            <a:srgbClr val="4D8DFF"/>
          </a:solidFill>
          <a:ln w="9525">
            <a:solidFill>
              <a:srgbClr val="4D8DFF"/>
            </a:solidFill>
            <a:prstDash val="solid"/>
          </a:ln>
        </p:spPr>
        <p:txBody>
          <a:bodyPr lIns="57150" tIns="9525" rIns="57150" bIns="9525" anchor="ctr">
            <a:normAutofit/>
          </a:bodyPr>
          <a:lstStyle>
            <a:defPPr algn="ctr"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GIAO DIỆN</a:t>
            </a:r>
            <a:endParaRPr sz="1050" b="1">
              <a:solidFill>
                <a:srgbClr val="08142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2114550" y="1733550"/>
            <a:ext cx="5429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Razor MVC • fetch HTTP 202 • status polling sau upload</a:t>
            </a:r>
            <a:endParaRPr sz="1275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Straight Connector 7"/>
          <p:cNvSpPr>
            <a:spLocks noGrp="1"/>
          </p:cNvSpPr>
          <p:nvPr/>
        </p:nvSpPr>
        <p:spPr>
          <a:xfrm>
            <a:off x="4133850" y="2171700"/>
            <a:ext cx="0" cy="190500"/>
          </a:xfrm>
          <a:prstGeom prst="line">
            <a:avLst/>
          </a:prstGeom>
          <a:noFill/>
          <a:ln w="19050">
            <a:solidFill>
              <a:srgbClr val="2A4262"/>
            </a:solidFill>
            <a:prstDash val="solid"/>
          </a:ln>
        </p:spPr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514350" y="2362200"/>
            <a:ext cx="7239000" cy="628650"/>
          </a:xfrm>
          <a:prstGeom prst="roundRect">
            <a:avLst>
              <a:gd name="adj" fmla="val 18182"/>
            </a:avLst>
          </a:prstGeom>
          <a:solidFill>
            <a:srgbClr val="10223B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666750" y="2533650"/>
            <a:ext cx="1257300" cy="285750"/>
          </a:xfrm>
          <a:prstGeom prst="roundRect">
            <a:avLst>
              <a:gd name="adj" fmla="val 40000"/>
            </a:avLst>
          </a:prstGeom>
          <a:solidFill>
            <a:srgbClr val="22D3EE"/>
          </a:solidFill>
          <a:ln w="9525">
            <a:solidFill>
              <a:srgbClr val="22D3EE"/>
            </a:solidFill>
            <a:prstDash val="solid"/>
          </a:ln>
        </p:spPr>
        <p:txBody>
          <a:bodyPr lIns="57150" tIns="9525" rIns="57150" bIns="9525" anchor="ctr">
            <a:normAutofit/>
          </a:bodyPr>
          <a:lstStyle>
            <a:defPPr algn="ctr"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ỨNG DỤNG</a:t>
            </a:r>
            <a:endParaRPr sz="1050" b="1">
              <a:solidFill>
                <a:srgbClr val="08142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2114550" y="2552700"/>
            <a:ext cx="5429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DB-backed worker • lease • circuit breaker</a:t>
            </a:r>
            <a:endParaRPr sz="1275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Straight Connector 11"/>
          <p:cNvSpPr>
            <a:spLocks noGrp="1"/>
          </p:cNvSpPr>
          <p:nvPr/>
        </p:nvSpPr>
        <p:spPr>
          <a:xfrm>
            <a:off x="4133850" y="2990850"/>
            <a:ext cx="0" cy="190500"/>
          </a:xfrm>
          <a:prstGeom prst="line">
            <a:avLst/>
          </a:prstGeom>
          <a:noFill/>
          <a:ln w="19050">
            <a:solidFill>
              <a:srgbClr val="2A4262"/>
            </a:solidFill>
            <a:prstDash val="solid"/>
          </a:ln>
        </p:spPr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514350" y="3181350"/>
            <a:ext cx="7239000" cy="628650"/>
          </a:xfrm>
          <a:prstGeom prst="roundRect">
            <a:avLst>
              <a:gd name="adj" fmla="val 18182"/>
            </a:avLst>
          </a:prstGeom>
          <a:solidFill>
            <a:srgbClr val="10223B"/>
          </a:solidFill>
          <a:ln w="9525">
            <a:solidFill>
              <a:srgbClr val="2DD4A7"/>
            </a:solidFill>
            <a:prstDash val="solid"/>
          </a:ln>
        </p:spPr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666750" y="3352800"/>
            <a:ext cx="1257300" cy="285750"/>
          </a:xfrm>
          <a:prstGeom prst="roundRect">
            <a:avLst>
              <a:gd name="adj" fmla="val 40000"/>
            </a:avLst>
          </a:prstGeom>
          <a:solidFill>
            <a:srgbClr val="2DD4A7"/>
          </a:solidFill>
          <a:ln w="9525">
            <a:solidFill>
              <a:srgbClr val="2DD4A7"/>
            </a:solidFill>
            <a:prstDash val="solid"/>
          </a:ln>
        </p:spPr>
        <p:txBody>
          <a:bodyPr lIns="57150" tIns="9525" rIns="57150" bIns="9525" anchor="ctr">
            <a:normAutofit/>
          </a:bodyPr>
          <a:lstStyle>
            <a:defPPr algn="ctr"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QUYẾT ĐỊNH</a:t>
            </a:r>
            <a:endParaRPr sz="1050" b="1">
              <a:solidFill>
                <a:srgbClr val="08142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2114550" y="3371850"/>
            <a:ext cx="5429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Schema + identifier validation → Policy C# → human review</a:t>
            </a:r>
            <a:endParaRPr sz="1275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Straight Connector 15"/>
          <p:cNvSpPr>
            <a:spLocks noGrp="1"/>
          </p:cNvSpPr>
          <p:nvPr/>
        </p:nvSpPr>
        <p:spPr>
          <a:xfrm>
            <a:off x="4133850" y="3810000"/>
            <a:ext cx="0" cy="190500"/>
          </a:xfrm>
          <a:prstGeom prst="line">
            <a:avLst/>
          </a:prstGeom>
          <a:noFill/>
          <a:ln w="19050">
            <a:solidFill>
              <a:srgbClr val="2A4262"/>
            </a:solidFill>
            <a:prstDash val="solid"/>
          </a:ln>
        </p:spPr>
      </p:sp>
      <p:sp>
        <p:nvSpPr>
          <p:cNvPr id="17" name="Rounded Rectangle 16"/>
          <p:cNvSpPr>
            <a:spLocks noGrp="1"/>
          </p:cNvSpPr>
          <p:nvPr/>
        </p:nvSpPr>
        <p:spPr>
          <a:xfrm>
            <a:off x="514350" y="4000500"/>
            <a:ext cx="7239000" cy="628650"/>
          </a:xfrm>
          <a:prstGeom prst="roundRect">
            <a:avLst>
              <a:gd name="adj" fmla="val 18182"/>
            </a:avLst>
          </a:prstGeom>
          <a:solidFill>
            <a:srgbClr val="10223B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666750" y="4171950"/>
            <a:ext cx="1257300" cy="285750"/>
          </a:xfrm>
          <a:prstGeom prst="roundRect">
            <a:avLst>
              <a:gd name="adj" fmla="val 40000"/>
            </a:avLst>
          </a:prstGeom>
          <a:solidFill>
            <a:srgbClr val="A78BFA"/>
          </a:solidFill>
          <a:ln w="9525">
            <a:solidFill>
              <a:srgbClr val="A78BFA"/>
            </a:solidFill>
            <a:prstDash val="solid"/>
          </a:ln>
        </p:spPr>
        <p:txBody>
          <a:bodyPr lIns="57150" tIns="9525" rIns="57150" bIns="9525" anchor="ctr">
            <a:normAutofit/>
          </a:bodyPr>
          <a:lstStyle>
            <a:defPPr algn="ctr"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DỮ LIỆU</a:t>
            </a:r>
            <a:endParaRPr sz="1050" b="1">
              <a:solidFill>
                <a:srgbClr val="08142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2114550" y="4191000"/>
            <a:ext cx="5429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EF Core • SQL Server • private receipt storage • AuditLogs</a:t>
            </a:r>
            <a:endParaRPr sz="1275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514350" y="5095875"/>
            <a:ext cx="7239000" cy="952500"/>
          </a:xfrm>
          <a:prstGeom prst="roundRect">
            <a:avLst>
              <a:gd name="adj" fmla="val 12000"/>
            </a:avLst>
          </a:prstGeom>
          <a:solidFill>
            <a:srgbClr val="0E2A3D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714375" y="5276850"/>
            <a:ext cx="1952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125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125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VISION PROVIDER</a:t>
            </a:r>
            <a:endParaRPr sz="1125" b="1">
              <a:solidFill>
                <a:srgbClr val="22D3E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714375" y="5562600"/>
            <a:ext cx="6572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35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35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Alibaba primary • Ollama fallback opt-in • model không quyết định</a:t>
            </a:r>
            <a:endParaRPr sz="1350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Rounded Rectangle 22"/>
          <p:cNvSpPr>
            <a:spLocks noGrp="1"/>
          </p:cNvSpPr>
          <p:nvPr/>
        </p:nvSpPr>
        <p:spPr>
          <a:xfrm>
            <a:off x="8153400" y="1543050"/>
            <a:ext cx="3505200" cy="2000250"/>
          </a:xfrm>
          <a:prstGeom prst="roundRect">
            <a:avLst>
              <a:gd name="adj" fmla="val 5714"/>
            </a:avLst>
          </a:prstGeom>
          <a:solidFill>
            <a:srgbClr val="142A47"/>
          </a:solidFill>
          <a:ln w="9525">
            <a:solidFill>
              <a:srgbClr val="2DD4A7"/>
            </a:solidFill>
            <a:prstDash val="solid"/>
          </a:ln>
        </p:spPr>
      </p:sp>
      <p:sp>
        <p:nvSpPr>
          <p:cNvPr id="24" name="Rounded Rectangle 23"/>
          <p:cNvSpPr>
            <a:spLocks noGrp="1"/>
          </p:cNvSpPr>
          <p:nvPr/>
        </p:nvSpPr>
        <p:spPr>
          <a:xfrm>
            <a:off x="8382000" y="1752600"/>
            <a:ext cx="1123950" cy="285750"/>
          </a:xfrm>
          <a:prstGeom prst="roundRect">
            <a:avLst>
              <a:gd name="adj" fmla="val 40000"/>
            </a:avLst>
          </a:prstGeom>
          <a:solidFill>
            <a:srgbClr val="2DD4A7"/>
          </a:solidFill>
          <a:ln w="9525">
            <a:solidFill>
              <a:srgbClr val="2DD4A7"/>
            </a:solidFill>
            <a:prstDash val="solid"/>
          </a:ln>
        </p:spPr>
        <p:txBody>
          <a:bodyPr lIns="57150" tIns="9525" rIns="57150" bIns="9525" anchor="ctr">
            <a:normAutofit/>
          </a:bodyPr>
          <a:lstStyle>
            <a:defPPr algn="ctr"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CHẠY THẬT</a:t>
            </a:r>
            <a:endParaRPr sz="1050" b="1">
              <a:solidFill>
                <a:srgbClr val="08142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8382000" y="2238375"/>
            <a:ext cx="2905125" cy="1123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50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50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Upload + validation</a:t>
            </a:r>
            <a:endParaRPr sz="1500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buNone/>
              <a:defRPr sz="150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Vision provider</a:t>
            </a:r>
            <a:endParaRPr sz="1500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buNone/>
              <a:defRPr sz="150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Policy C#</a:t>
            </a:r>
            <a:endParaRPr sz="1500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buNone/>
              <a:defRPr sz="150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SQL + Audit + Undo</a:t>
            </a:r>
            <a:endParaRPr sz="1500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Rounded Rectangle 25"/>
          <p:cNvSpPr>
            <a:spLocks noGrp="1"/>
          </p:cNvSpPr>
          <p:nvPr/>
        </p:nvSpPr>
        <p:spPr>
          <a:xfrm>
            <a:off x="8153400" y="3781425"/>
            <a:ext cx="3505200" cy="2266950"/>
          </a:xfrm>
          <a:prstGeom prst="roundRect">
            <a:avLst>
              <a:gd name="adj" fmla="val 5042"/>
            </a:avLst>
          </a:prstGeom>
          <a:solidFill>
            <a:srgbClr val="142A47"/>
          </a:solidFill>
          <a:ln w="9525">
            <a:solidFill>
              <a:srgbClr val="F8C14C"/>
            </a:solidFill>
            <a:prstDash val="solid"/>
          </a:ln>
        </p:spPr>
      </p:sp>
      <p:sp>
        <p:nvSpPr>
          <p:cNvPr id="27" name="Rounded Rectangle 26"/>
          <p:cNvSpPr>
            <a:spLocks noGrp="1"/>
          </p:cNvSpPr>
          <p:nvPr/>
        </p:nvSpPr>
        <p:spPr>
          <a:xfrm>
            <a:off x="8382000" y="3990975"/>
            <a:ext cx="1123950" cy="285750"/>
          </a:xfrm>
          <a:prstGeom prst="roundRect">
            <a:avLst>
              <a:gd name="adj" fmla="val 40000"/>
            </a:avLst>
          </a:prstGeom>
          <a:solidFill>
            <a:srgbClr val="F8C14C"/>
          </a:solidFill>
          <a:ln w="9525">
            <a:solidFill>
              <a:srgbClr val="F8C14C"/>
            </a:solidFill>
            <a:prstDash val="solid"/>
          </a:ln>
        </p:spPr>
        <p:txBody>
          <a:bodyPr lIns="57150" tIns="9525" rIns="57150" bIns="9525" anchor="ctr">
            <a:normAutofit/>
          </a:bodyPr>
          <a:lstStyle>
            <a:defPPr algn="ctr"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MÔ PHỎNG</a:t>
            </a:r>
            <a:endParaRPr sz="1050" b="1">
              <a:solidFill>
                <a:srgbClr val="08142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8382000" y="4476750"/>
            <a:ext cx="2905125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50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50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30 ảnh tổng hợp</a:t>
            </a:r>
            <a:endParaRPr sz="1500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buNone/>
              <a:defRPr sz="150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 ca Verify trên UI</a:t>
            </a:r>
            <a:endParaRPr sz="1500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buNone/>
              <a:defRPr sz="150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15/30 ca qua runner</a:t>
            </a:r>
            <a:endParaRPr sz="1500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8382000" y="5467350"/>
            <a:ext cx="290512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05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05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Không có tax/e-invoice lookup</a:t>
            </a:r>
            <a:endParaRPr sz="1050" b="0">
              <a:solidFill>
                <a:srgbClr val="9FB1C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buNone/>
              <a:defRPr sz="105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Không có user role thật</a:t>
            </a:r>
            <a:endParaRPr sz="1050" b="0">
              <a:solidFill>
                <a:srgbClr val="9FB1C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" name="Rectangle 29"/>
          <p:cNvSpPr>
            <a:spLocks noGrp="1"/>
          </p:cNvSpPr>
          <p:nvPr/>
        </p:nvSpPr>
        <p:spPr>
          <a:xfrm>
            <a:off x="514350" y="6534150"/>
            <a:ext cx="90487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9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9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AURA • Track A • 13/10/2026</a:t>
            </a:r>
            <a:endParaRPr sz="900" b="0">
              <a:solidFill>
                <a:srgbClr val="9FB1C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" name="Rectangle 30"/>
          <p:cNvSpPr>
            <a:spLocks noGrp="1"/>
          </p:cNvSpPr>
          <p:nvPr/>
        </p:nvSpPr>
        <p:spPr>
          <a:xfrm>
            <a:off x="11144250" y="6515100"/>
            <a:ext cx="5143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r">
              <a:defRPr sz="975" b="1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r">
              <a:buNone/>
              <a:defRPr sz="975" b="1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sz="975" b="1">
              <a:solidFill>
                <a:srgbClr val="9FB1C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" name="Rectangle 35"/>
          <p:cNvSpPr>
            <a:spLocks noGrp="1"/>
          </p:cNvSpPr>
          <p:nvPr/>
        </p:nvSpPr>
        <p:spPr>
          <a:xfrm>
            <a:off x="476250" y="361950"/>
            <a:ext cx="6477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35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35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05</a:t>
            </a:r>
            <a:endParaRPr sz="1350" b="1">
              <a:solidFill>
                <a:srgbClr val="22D3E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066800" y="285750"/>
            <a:ext cx="10572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255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255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55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Giới hạn hiện tại và cách fail-safe</a:t>
            </a:r>
            <a:endParaRPr sz="2550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1066800" y="781050"/>
            <a:ext cx="10382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275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275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Fallback có allowlist và circuit breaker; lỗi dữ liệu không được che bằng đổi model.</a:t>
            </a:r>
            <a:endParaRPr sz="1275" b="0">
              <a:solidFill>
                <a:srgbClr val="9FB1C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Straight Connector 3"/>
          <p:cNvSpPr>
            <a:spLocks noGrp="1"/>
          </p:cNvSpPr>
          <p:nvPr/>
        </p:nvSpPr>
        <p:spPr>
          <a:xfrm>
            <a:off x="514350" y="1162050"/>
            <a:ext cx="11144250" cy="0"/>
          </a:xfrm>
          <a:prstGeom prst="line">
            <a:avLst/>
          </a:prstGeom>
          <a:noFill/>
          <a:ln w="9525">
            <a:solidFill>
              <a:srgbClr val="2A4262"/>
            </a:solidFill>
            <a:prstDash val="solid"/>
          </a:ln>
        </p:spPr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514350" y="1495425"/>
            <a:ext cx="7105650" cy="628650"/>
          </a:xfrm>
          <a:prstGeom prst="roundRect">
            <a:avLst>
              <a:gd name="adj" fmla="val 18182"/>
            </a:avLst>
          </a:prstGeom>
          <a:solidFill>
            <a:srgbClr val="10223B"/>
          </a:solidFill>
          <a:ln w="9525">
            <a:solidFill>
              <a:srgbClr val="2A4262"/>
            </a:solidFill>
            <a:prstDash val="solid"/>
          </a:ln>
        </p:spPr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685800" y="1666875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FF6B7A"/>
          </a:solidFill>
          <a:ln w="9525">
            <a:solidFill>
              <a:srgbClr val="FF6B7A"/>
            </a:solidFill>
            <a:prstDash val="solid"/>
          </a:ln>
        </p:spPr>
        <p:txBody>
          <a:bodyPr lIns="57150" tIns="9525" rIns="57150" bIns="9525" anchor="ctr">
            <a:normAutofit/>
          </a:bodyPr>
          <a:lstStyle>
            <a:defPPr algn="ctr"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429 / timeout</a:t>
            </a:r>
            <a:endParaRPr sz="1050" b="1">
              <a:solidFill>
                <a:srgbClr val="08142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2628900" y="167640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Fallback 1 lần nếu bật • audit provider</a:t>
            </a:r>
            <a:endParaRPr sz="1275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514350" y="2295525"/>
            <a:ext cx="7105650" cy="628650"/>
          </a:xfrm>
          <a:prstGeom prst="roundRect">
            <a:avLst>
              <a:gd name="adj" fmla="val 18182"/>
            </a:avLst>
          </a:prstGeom>
          <a:solidFill>
            <a:srgbClr val="10223B"/>
          </a:solidFill>
          <a:ln w="9525">
            <a:solidFill>
              <a:srgbClr val="2A4262"/>
            </a:solidFill>
            <a:prstDash val="solid"/>
          </a:ln>
        </p:spPr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685800" y="2466975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F8C14C"/>
          </a:solidFill>
          <a:ln w="9525">
            <a:solidFill>
              <a:srgbClr val="F8C14C"/>
            </a:solidFill>
            <a:prstDash val="solid"/>
          </a:ln>
        </p:spPr>
        <p:txBody>
          <a:bodyPr lIns="57150" tIns="9525" rIns="57150" bIns="9525" anchor="ctr">
            <a:normAutofit/>
          </a:bodyPr>
          <a:lstStyle>
            <a:defPPr algn="ctr"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Provider lỗi liên tiếp</a:t>
            </a:r>
            <a:endParaRPr sz="1050" b="1">
              <a:solidFill>
                <a:srgbClr val="08142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2628900" y="247650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Circuit mở • cooldown • primary probe</a:t>
            </a:r>
            <a:endParaRPr sz="1275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514350" y="3095625"/>
            <a:ext cx="7105650" cy="628650"/>
          </a:xfrm>
          <a:prstGeom prst="roundRect">
            <a:avLst>
              <a:gd name="adj" fmla="val 18182"/>
            </a:avLst>
          </a:prstGeom>
          <a:solidFill>
            <a:srgbClr val="10223B"/>
          </a:solidFill>
          <a:ln w="9525">
            <a:solidFill>
              <a:srgbClr val="2A4262"/>
            </a:solidFill>
            <a:prstDash val="solid"/>
          </a:ln>
        </p:spPr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685800" y="3267075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A78BFA"/>
          </a:solidFill>
          <a:ln w="9525">
            <a:solidFill>
              <a:srgbClr val="A78BFA"/>
            </a:solidFill>
            <a:prstDash val="solid"/>
          </a:ln>
        </p:spPr>
        <p:txBody>
          <a:bodyPr lIns="57150" tIns="9525" rIns="57150" bIns="9525" anchor="ctr">
            <a:normAutofit/>
          </a:bodyPr>
          <a:lstStyle>
            <a:defPPr algn="ctr"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JSON / semantic sai</a:t>
            </a:r>
            <a:endParaRPr sz="1050" b="1">
              <a:solidFill>
                <a:srgbClr val="08142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2628900" y="327660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Repair đúng 1 lần • rồi FACT fail-safe</a:t>
            </a:r>
            <a:endParaRPr sz="1275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514350" y="3895725"/>
            <a:ext cx="7105650" cy="628650"/>
          </a:xfrm>
          <a:prstGeom prst="roundRect">
            <a:avLst>
              <a:gd name="adj" fmla="val 18182"/>
            </a:avLst>
          </a:prstGeom>
          <a:solidFill>
            <a:srgbClr val="10223B"/>
          </a:solidFill>
          <a:ln w="9525">
            <a:solidFill>
              <a:srgbClr val="2A4262"/>
            </a:solidFill>
            <a:prstDash val="solid"/>
          </a:ln>
        </p:spPr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685800" y="4067175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22D3EE"/>
          </a:solidFill>
          <a:ln w="9525">
            <a:solidFill>
              <a:srgbClr val="22D3EE"/>
            </a:solidFill>
            <a:prstDash val="solid"/>
          </a:ln>
        </p:spPr>
        <p:txBody>
          <a:bodyPr lIns="57150" tIns="9525" rIns="57150" bIns="9525" anchor="ctr">
            <a:normAutofit/>
          </a:bodyPr>
          <a:lstStyle>
            <a:defPPr algn="ctr"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App restart</a:t>
            </a:r>
            <a:endParaRPr sz="1050" b="1">
              <a:solidFill>
                <a:srgbClr val="08142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2628900" y="407670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DB job + lease • worker reclaim</a:t>
            </a:r>
            <a:endParaRPr sz="1275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Rounded Rectangle 16"/>
          <p:cNvSpPr>
            <a:spLocks noGrp="1"/>
          </p:cNvSpPr>
          <p:nvPr/>
        </p:nvSpPr>
        <p:spPr>
          <a:xfrm>
            <a:off x="514350" y="4695825"/>
            <a:ext cx="7105650" cy="628650"/>
          </a:xfrm>
          <a:prstGeom prst="roundRect">
            <a:avLst>
              <a:gd name="adj" fmla="val 18182"/>
            </a:avLst>
          </a:prstGeom>
          <a:solidFill>
            <a:srgbClr val="10223B"/>
          </a:solidFill>
          <a:ln w="9525">
            <a:solidFill>
              <a:srgbClr val="2A4262"/>
            </a:solidFill>
            <a:prstDash val="solid"/>
          </a:ln>
        </p:spPr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685800" y="4867275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4D8DFF"/>
          </a:solidFill>
          <a:ln w="9525">
            <a:solidFill>
              <a:srgbClr val="4D8DFF"/>
            </a:solidFill>
            <a:prstDash val="solid"/>
          </a:ln>
        </p:spPr>
        <p:txBody>
          <a:bodyPr lIns="57150" tIns="9525" rIns="57150" bIns="9525" anchor="ctr">
            <a:normAutofit/>
          </a:bodyPr>
          <a:lstStyle>
            <a:defPPr algn="ctr"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Ảnh mơ hồ / giả</a:t>
            </a:r>
            <a:endParaRPr sz="1050" b="1">
              <a:solidFill>
                <a:srgbClr val="08142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2628900" y="487680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FACT ưu tiên • không auto-approve</a:t>
            </a:r>
            <a:endParaRPr sz="1275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8020050" y="1495425"/>
            <a:ext cx="3638550" cy="2305050"/>
          </a:xfrm>
          <a:prstGeom prst="roundRect">
            <a:avLst>
              <a:gd name="adj" fmla="val 4959"/>
            </a:avLst>
          </a:prstGeom>
          <a:solidFill>
            <a:srgbClr val="142A47"/>
          </a:solidFill>
          <a:ln w="9525">
            <a:solidFill>
              <a:srgbClr val="2DD4A7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8277225" y="1714500"/>
            <a:ext cx="31051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125" b="1">
                <a:solidFill>
                  <a:srgbClr val="2DD4A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125" b="1">
                <a:solidFill>
                  <a:srgbClr val="2DD4A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2DD4A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ĐÃ BÀN GIAO</a:t>
            </a:r>
            <a:endParaRPr sz="1125" b="1">
              <a:solidFill>
                <a:srgbClr val="2DD4A7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Rounded Rectangle 21"/>
          <p:cNvSpPr>
            <a:spLocks noGrp="1"/>
          </p:cNvSpPr>
          <p:nvPr/>
        </p:nvSpPr>
        <p:spPr>
          <a:xfrm>
            <a:off x="8277225" y="2143125"/>
            <a:ext cx="285750" cy="285750"/>
          </a:xfrm>
          <a:prstGeom prst="roundRect">
            <a:avLst>
              <a:gd name="adj" fmla="val 40000"/>
            </a:avLst>
          </a:prstGeom>
          <a:solidFill>
            <a:srgbClr val="2DD4A7"/>
          </a:solidFill>
          <a:ln w="9525">
            <a:solidFill>
              <a:srgbClr val="2DD4A7"/>
            </a:solidFill>
            <a:prstDash val="solid"/>
          </a:ln>
        </p:spPr>
        <p:txBody>
          <a:bodyPr lIns="57150" tIns="9525" rIns="57150" bIns="9525" anchor="ctr">
            <a:normAutofit/>
          </a:bodyPr>
          <a:lstStyle>
            <a:defPPr algn="ctr"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sz="1050" b="1">
              <a:solidFill>
                <a:srgbClr val="08142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8705850" y="217170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20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20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DB-backed upload queue</a:t>
            </a:r>
            <a:endParaRPr sz="1200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" name="Rounded Rectangle 23"/>
          <p:cNvSpPr>
            <a:spLocks noGrp="1"/>
          </p:cNvSpPr>
          <p:nvPr/>
        </p:nvSpPr>
        <p:spPr>
          <a:xfrm>
            <a:off x="8277225" y="2524125"/>
            <a:ext cx="285750" cy="285750"/>
          </a:xfrm>
          <a:prstGeom prst="roundRect">
            <a:avLst>
              <a:gd name="adj" fmla="val 40000"/>
            </a:avLst>
          </a:prstGeom>
          <a:solidFill>
            <a:srgbClr val="2DD4A7"/>
          </a:solidFill>
          <a:ln w="9525">
            <a:solidFill>
              <a:srgbClr val="2DD4A7"/>
            </a:solidFill>
            <a:prstDash val="solid"/>
          </a:ln>
        </p:spPr>
        <p:txBody>
          <a:bodyPr lIns="57150" tIns="9525" rIns="57150" bIns="9525" anchor="ctr">
            <a:normAutofit/>
          </a:bodyPr>
          <a:lstStyle>
            <a:defPPr algn="ctr"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sz="1050" b="1">
              <a:solidFill>
                <a:srgbClr val="08142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8705850" y="255270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20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20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163 test, build sạch</a:t>
            </a:r>
            <a:endParaRPr sz="1200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Rounded Rectangle 25"/>
          <p:cNvSpPr>
            <a:spLocks noGrp="1"/>
          </p:cNvSpPr>
          <p:nvPr/>
        </p:nvSpPr>
        <p:spPr>
          <a:xfrm>
            <a:off x="8277225" y="2905125"/>
            <a:ext cx="285750" cy="285750"/>
          </a:xfrm>
          <a:prstGeom prst="roundRect">
            <a:avLst>
              <a:gd name="adj" fmla="val 40000"/>
            </a:avLst>
          </a:prstGeom>
          <a:solidFill>
            <a:srgbClr val="2DD4A7"/>
          </a:solidFill>
          <a:ln w="9525">
            <a:solidFill>
              <a:srgbClr val="2DD4A7"/>
            </a:solidFill>
            <a:prstDash val="solid"/>
          </a:ln>
        </p:spPr>
        <p:txBody>
          <a:bodyPr lIns="57150" tIns="9525" rIns="57150" bIns="9525" anchor="ctr">
            <a:normAutofit/>
          </a:bodyPr>
          <a:lstStyle>
            <a:defPPr algn="ctr"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sz="1050" b="1">
              <a:solidFill>
                <a:srgbClr val="08142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8705850" y="293370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20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20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8/10 prospective, Verify 5/5 &lt;90s</a:t>
            </a:r>
            <a:endParaRPr sz="1200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" name="Rounded Rectangle 27"/>
          <p:cNvSpPr>
            <a:spLocks noGrp="1"/>
          </p:cNvSpPr>
          <p:nvPr/>
        </p:nvSpPr>
        <p:spPr>
          <a:xfrm>
            <a:off x="8277225" y="3286125"/>
            <a:ext cx="285750" cy="285750"/>
          </a:xfrm>
          <a:prstGeom prst="roundRect">
            <a:avLst>
              <a:gd name="adj" fmla="val 40000"/>
            </a:avLst>
          </a:prstGeom>
          <a:solidFill>
            <a:srgbClr val="2DD4A7"/>
          </a:solidFill>
          <a:ln w="9525">
            <a:solidFill>
              <a:srgbClr val="2DD4A7"/>
            </a:solidFill>
            <a:prstDash val="solid"/>
          </a:ln>
        </p:spPr>
        <p:txBody>
          <a:bodyPr lIns="57150" tIns="9525" rIns="57150" bIns="9525" anchor="ctr">
            <a:normAutofit/>
          </a:bodyPr>
          <a:lstStyle>
            <a:defPPr algn="ctr"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08142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sz="1050" b="1">
              <a:solidFill>
                <a:srgbClr val="08142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8705850" y="331470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4953"/>
          </a:bodyPr>
          <a:lstStyle>
            <a:defPPr algn="l">
              <a:defRPr sz="120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20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Concurrency 5/5 • mobile 4G/5G pass</a:t>
            </a:r>
            <a:endParaRPr sz="1200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" name="Rounded Rectangle 29"/>
          <p:cNvSpPr>
            <a:spLocks noGrp="1"/>
          </p:cNvSpPr>
          <p:nvPr/>
        </p:nvSpPr>
        <p:spPr>
          <a:xfrm>
            <a:off x="8020050" y="4038600"/>
            <a:ext cx="3638550" cy="1457325"/>
          </a:xfrm>
          <a:prstGeom prst="roundRect">
            <a:avLst>
              <a:gd name="adj" fmla="val 7843"/>
            </a:avLst>
          </a:prstGeom>
          <a:solidFill>
            <a:srgbClr val="342334"/>
          </a:solidFill>
          <a:ln w="9525">
            <a:solidFill>
              <a:srgbClr val="FF6B7A"/>
            </a:solidFill>
            <a:prstDash val="solid"/>
          </a:ln>
        </p:spPr>
      </p:sp>
      <p:sp>
        <p:nvSpPr>
          <p:cNvPr id="31" name="Rectangle 30"/>
          <p:cNvSpPr>
            <a:spLocks noGrp="1"/>
          </p:cNvSpPr>
          <p:nvPr/>
        </p:nvSpPr>
        <p:spPr>
          <a:xfrm>
            <a:off x="8277225" y="4257675"/>
            <a:ext cx="31051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125" b="1">
                <a:solidFill>
                  <a:srgbClr val="FF6B7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125" b="1">
                <a:solidFill>
                  <a:srgbClr val="FF6B7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FF6B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CHƯA CÓ TRONG BASELINE</a:t>
            </a:r>
            <a:endParaRPr sz="1125" b="1">
              <a:solidFill>
                <a:srgbClr val="FF6B7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" name="Rectangle 31"/>
          <p:cNvSpPr>
            <a:spLocks noGrp="1"/>
          </p:cNvSpPr>
          <p:nvPr/>
        </p:nvSpPr>
        <p:spPr>
          <a:xfrm>
            <a:off x="8277225" y="4638675"/>
            <a:ext cx="310515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20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120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 người dùng thực tế • rehearsal</a:t>
            </a:r>
            <a:endParaRPr sz="1200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buNone/>
              <a:defRPr sz="120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PDF/nhiều trang</a:t>
            </a:r>
            <a:endParaRPr sz="1200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buNone/>
              <a:defRPr sz="120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F5F8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authentication • object storage</a:t>
            </a:r>
            <a:endParaRPr sz="1200" b="1">
              <a:solidFill>
                <a:srgbClr val="F5F8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3" name="Rectangle 32"/>
          <p:cNvSpPr>
            <a:spLocks noGrp="1"/>
          </p:cNvSpPr>
          <p:nvPr/>
        </p:nvSpPr>
        <p:spPr>
          <a:xfrm>
            <a:off x="8020050" y="5724525"/>
            <a:ext cx="36385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ctr">
              <a:defRPr sz="1050" b="1">
                <a:solidFill>
                  <a:srgbClr val="F8C14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buNone/>
              <a:defRPr sz="1050" b="1">
                <a:solidFill>
                  <a:srgbClr val="F8C14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F8C14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Verify vẫn đúng 5 ca BTC; runner mở rộng không làm rối dashboard.</a:t>
            </a:r>
            <a:endParaRPr sz="1050" b="1">
              <a:solidFill>
                <a:srgbClr val="F8C14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4" name="Rectangle 33"/>
          <p:cNvSpPr>
            <a:spLocks noGrp="1"/>
          </p:cNvSpPr>
          <p:nvPr/>
        </p:nvSpPr>
        <p:spPr>
          <a:xfrm>
            <a:off x="514350" y="6534150"/>
            <a:ext cx="90487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9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l">
              <a:buNone/>
              <a:defRPr sz="9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AURA • Giới hạn hiện tại, không phải lời hứa marketing</a:t>
            </a:r>
            <a:endParaRPr sz="900" b="0">
              <a:solidFill>
                <a:srgbClr val="9FB1C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5" name="Rectangle 34"/>
          <p:cNvSpPr>
            <a:spLocks noGrp="1"/>
          </p:cNvSpPr>
          <p:nvPr/>
        </p:nvSpPr>
        <p:spPr>
          <a:xfrm>
            <a:off x="11144250" y="6515100"/>
            <a:ext cx="5143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r">
              <a:defRPr sz="975" b="1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r">
              <a:buNone/>
              <a:defRPr sz="975" b="1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9FB1C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</a:t>
            </a:r>
            <a:endParaRPr sz="975" b="1">
              <a:solidFill>
                <a:srgbClr val="9FB1C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3322</Words>
  <Application>WPS Presentation</Application>
  <PresentationFormat>Converted Presentation</PresentationFormat>
  <Paragraphs>287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SimSun</vt:lpstr>
      <vt:lpstr>Wingdings</vt:lpstr>
      <vt:lpstr>Arial</vt:lpstr>
      <vt:lpstr>Microsoft YaHei</vt:lpstr>
      <vt:lpstr>Arial Unicode MS</vt:lpstr>
      <vt:lpstr>Aptos</vt:lpstr>
      <vt:lpstr>Segoe UI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Bond Pham</cp:lastModifiedBy>
  <cp:revision>1</cp:revision>
  <dcterms:created xsi:type="dcterms:W3CDTF">2026-10-13T09:38:08Z</dcterms:created>
  <dcterms:modified xsi:type="dcterms:W3CDTF">2026-10-13T09:38:08Z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1033-12.1.0.24752</vt:lpwstr>
  </property>
  <property fmtid="{D5CDD505-2E9C-101B-9397-08002B2CF9AE}" pid="3" name="ICV">
    <vt:lpwstr>93A7671438E24888AFF4A682BC5A2F9A_12</vt:lpwstr>
  </property>
</Properties>
</file>
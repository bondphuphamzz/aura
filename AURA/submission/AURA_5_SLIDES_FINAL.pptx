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efaf9a733c34855" /><Relationship Type="http://schemas.openxmlformats.org/officeDocument/2006/relationships/extended-properties" Target="/docProps/app.xml" Id="Ra18e02c8db86490f" /><Relationship Type="http://schemas.openxmlformats.org/officeDocument/2006/relationships/officeDocument" Target="/ppt/presentation.xml" Id="Rd6dbe8b5f4904ed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5b21ab52c034e2b"/>
  </p:sldMasterIdLst>
  <p:notesMasterIdLst>
    <p:notesMasterId xmlns:r="http://schemas.openxmlformats.org/officeDocument/2006/relationships" r:id="R52e557d5e8e34519"/>
  </p:notesMasterIdLst>
  <p:sldIdLst>
    <p:sldId xmlns:r="http://schemas.openxmlformats.org/officeDocument/2006/relationships" id="256" r:id="R982289d66a34478f"/>
    <p:sldId xmlns:r="http://schemas.openxmlformats.org/officeDocument/2006/relationships" id="257" r:id="R71b7fffb8e2d4fff"/>
    <p:sldId xmlns:r="http://schemas.openxmlformats.org/officeDocument/2006/relationships" id="258" r:id="R15efff5924864a06"/>
    <p:sldId xmlns:r="http://schemas.openxmlformats.org/officeDocument/2006/relationships" id="259" r:id="Re10006c2a8da493e"/>
    <p:sldId xmlns:r="http://schemas.openxmlformats.org/officeDocument/2006/relationships" id="260" r:id="R02b41d5d9aa8442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710cb82a020465c" /><Relationship Type="http://schemas.openxmlformats.org/officeDocument/2006/relationships/slideMaster" Target="/ppt/slideMasters/slideMaster1.xml" Id="Rd5b21ab52c034e2b" /><Relationship Type="http://schemas.openxmlformats.org/officeDocument/2006/relationships/notesMaster" Target="/ppt/notesMasters/notesMaster1.xml" Id="R52e557d5e8e34519" /><Relationship Type="http://schemas.openxmlformats.org/officeDocument/2006/relationships/presProps" Target="/ppt/presProps.xml" Id="R0912e639921e4aa1" /><Relationship Type="http://schemas.openxmlformats.org/officeDocument/2006/relationships/tableStyles" Target="/ppt/tableStyles.xml" Id="R90dbfa7dcc1f4063" /><Relationship Type="http://schemas.openxmlformats.org/officeDocument/2006/relationships/slide" Target="/ppt/slides/slide1.xml" Id="R982289d66a34478f" /><Relationship Type="http://schemas.openxmlformats.org/officeDocument/2006/relationships/slide" Target="/ppt/slides/slide2.xml" Id="R71b7fffb8e2d4fff" /><Relationship Type="http://schemas.openxmlformats.org/officeDocument/2006/relationships/slide" Target="/ppt/slides/slide3.xml" Id="R15efff5924864a06" /><Relationship Type="http://schemas.openxmlformats.org/officeDocument/2006/relationships/slide" Target="/ppt/slides/slide4.xml" Id="Re10006c2a8da493e" /><Relationship Type="http://schemas.openxmlformats.org/officeDocument/2006/relationships/slide" Target="/ppt/slides/slide5.xml" Id="R02b41d5d9aa8442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99322b448e649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AURA restrained navy">
      <a:dk1>
        <a:srgbClr val="091522"/>
      </a:dk1>
      <a:lt1>
        <a:srgbClr val="F4F7FB"/>
      </a:lt1>
      <a:dk2>
        <a:srgbClr val="162A42"/>
      </a:dk2>
      <a:lt2>
        <a:srgbClr val="A6B3C4"/>
      </a:lt2>
      <a:accent1>
        <a:srgbClr val="5F8FD8"/>
      </a:accent1>
      <a:accent2>
        <a:srgbClr val="45A9BE"/>
      </a:accent2>
      <a:accent3>
        <a:srgbClr val="C59A4A"/>
      </a:accent3>
      <a:accent4>
        <a:srgbClr val="4FAF91"/>
      </a:accent4>
      <a:accent5>
        <a:srgbClr val="162A42"/>
      </a:accent5>
      <a:accent6>
        <a:srgbClr val="31445C"/>
      </a:accent6>
      <a:hlink>
        <a:srgbClr val="5F8FD8"/>
      </a:hlink>
      <a:folHlink>
        <a:srgbClr val="45A9BE"/>
      </a:folHlink>
    </a:clrScheme>
    <a:fontScheme name="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AURA restrained nav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82f9c20616e48bc" /><Relationship Type="http://schemas.openxmlformats.org/officeDocument/2006/relationships/notesMaster" Target="/ppt/notesMasters/notesMaster1.xml" Id="R38068829b55145c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1126f6db29d44d2" /><Relationship Type="http://schemas.openxmlformats.org/officeDocument/2006/relationships/notesMaster" Target="/ppt/notesMasters/notesMaster1.xml" Id="R1e16e051719e43c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75c0723aace4441" /><Relationship Type="http://schemas.openxmlformats.org/officeDocument/2006/relationships/notesMaster" Target="/ppt/notesMasters/notesMaster1.xml" Id="R1f936fdb54b441c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4c2a72395b844d0" /><Relationship Type="http://schemas.openxmlformats.org/officeDocument/2006/relationships/notesMaster" Target="/ppt/notesMasters/notesMaster1.xml" Id="R8eedd603e8d6469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c1e1fcd3dd841ef" /><Relationship Type="http://schemas.openxmlformats.org/officeDocument/2006/relationships/notesMaster" Target="/ppt/notesMasters/notesMaster1.xml" Id="R7b6a2c2442a4413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MỞ: Hoàn ứng không chỉ là bài toán đọc chữ; điểm đau thật nằm ở chỗ ngoại lệ chờ người xử lý và thiếu bằng chứng truy vết.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AURA nhận ảnh hóa đơn và claimed amount, nhưng không giao quyền duyệt cho model. AI chỉ trích facts; PolicyDecisionEngine C# route; nhân viên và quản lý chịu trách nhiệm ở nhánh ngoại lệ.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Thông điệp cần giữ: không phải OCR — mà là biết khi nào phải dừng và hỏi người.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Nguồn: submission/AURA_PROPOSAL_VI.md; submission/BUSINESS_RULES.md; submission/AURA_WORKFLOW_SPEC.md.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CHUYỂN: Tiếp theo là cách chín gate biến nguyên tắc này thành pipeline chạy thật.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MỞ: Pipeline này ưu tiên phản hồi nhanh cho người dùng nhưng giữ xử lý AI ở nền và ghi trạng thái vào SQL.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Gate 1–3 kiểm extension, MIME, magic bytes, giới hạn 5 MB; lưu private, tính SHA-256, ghi PENDING và AI_QUEUED. Gate 4 trả HTTP 202 + statusUrl để UI poll. Gate 5 worker claim bằng lease 600 giây và có thể reclaim sau restart.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Gate 6–7 dùng VisionInvocationCoordinator để lấy một AI permit; OpenRouter gọi qwen/qwen3.8-flash qua route Alibaba với reasoning none. Adapter parse JSON Schema thành ReceiptExtractionDto; semantic validator kiểm mâu thuẫn; repair tối đa một lần.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Gate 8 là PolicyDecisionEngine C#. Gate 9 chỉ xuất hiện ở ESCALATE_*: nhân viên chuyển tiếp rồi quản lý YES/NO. AUTO_APPROVE và ESCALATE đều về audit timeline; Undo tạo event mới.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Nguồn: submission/AURA_WORKFLOW_SPEC.md; docs/RUNBOOK.md; ReceiptProcessingWorker.cs; ReceiptProcessingQueue.cs; VisionInvocationCoordinator.cs.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CHUYỂN: Pipeline có vẻ hợp lý, nhưng slide tiếp theo chỉ giữ lại những gì đã đo được và tách phần còn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MỞ: Tôi tách rõ ba mốc đã đo và một phần chưa đo để tránh biến fixture thành câu chuyện ROI.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Đã đo: 163/163 test offline, Release build sạch. Prospective mini-holdout 10 hóa đơn mới đạt 8/10 quyết định đúng, 0 missed escalation, 2 over-escalation fail-safe; mẫu nhỏ, không phải production accuracy. Verify live đạt 5/5 trong 65.004 giây.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Công thức phương pháp nằm ở ghi chú, không phải một điểm số: U_AURA = &lt;ΔT, ΔH, E_missed, E_over, A_trace&gt;. ΔT là thời gian route; ΔH là số lần chạm; E_missed/E_over là hai loại lỗi quyết định; A_trace là mức đủ dấu vết.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Regression 12 ảnh byte gốc đạt 10/12 và lượt tuần tự 11/12 chỉ là stability evidence trên dữ liệu đã biết, không phải holdout mới và không dùng làm headline accuracy.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ΔT và ΔH vẫn PENDING, chờ paired feedback từ 3 người dùng dự kiến 16/10. Không suy ROI trước dữ liệu.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Nguồn: docs/EVALUATION_EVIDENCE.md; docs/CURRENT_PROJECT_STATUS.md; docs/MEASUREMENT_PLAN.md.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CHUYỂN: Để hiểu vì sao model có thể thay mà policy không đổi, ta nhìn kiến trúc theo bốn lớp.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MỞ: Kiến trúc tách extraction khỏi decision để đổi model không tự thay đổi business policy.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Lớp giao diện dùng Razor MVC, HTTP 202 và polling. Queue/Worker lưu job trong SQL, dùng lease 600 giây, retry và circuit state. AI Adapter gọi OpenRouter → qwen/qwen3.8-flash/Alibaba; contract parse JSON Schema thành ReceiptExtractionDto, semantic validate và repair tối đa một lần. PolicyDecisionEngine C# route; EF Core/SQL Server/private storage lưu hồ sơ và event Undo.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Baseline live: fallback Ollama mặc định tắt. Model có thể thay và làm facts thay đổi, nhưng không tự đổi policy vì mọi provider phải qua cùng contract, semantic gate và PolicyDecisionEngine.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Phần mô phỏng/test được tách rõ: 30 ảnh tổng hợp, 5 fixture Verify trên UI, runner ngoài dashboard. Đây không phải receipt thật, user evidence hay SLA.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Repository và localhost runbook: https://github.com/BondPhuPhamzZ/AURA ; docs/RUNBOOK.md ; docs/JUDGE_LOCAL_SETUP.md.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CHUYỂN: Cuối cùng, tôi trình bày các failure mode hiện tại và cách baseline dừng an toàn.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MỞ: Baseline hiện tại không che giấu failure mode; mỗi lỗi phải dừng an toàn và để lại bằng chứng.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JSON hoặc semantic invalid được repair đúng một lần, sau đó FACT fail-safe. 429/timeout chỉ dùng fallback khi cấu hình bật và luôn audit provider. App restart không mất row SQL; worker mới reclaim khi lease hết hạn.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Burst 5 upload khác nhau hoàn tất 5/5, E2E P95 93.684 giây. Đây là queue integrity trên một process, không phải production SLA. Limiter, cooldown, circuit state và Verify lock hiện vẫn theo process; multi-instance cần distributed coordination.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Ảnh mơ hồ/giả ưu tiên ESCALATE_FACT, không auto-approve. Evidence overlay mới là prototype cô lập, chưa nằm trong production pipeline.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Sau feedback 3 người dùng: chọn đúng một thay đổi có traceability, rồi chạy lại Release build, 163 test và Verify. Không tune bằng holdout.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Nguồn: docs/CURRENT_PROJECT_STATUS.md; docs/EVALUATION_EVIDENCE.md; docs/RUNBOOK.md; submission/AURA_WORKFLOW_SPEC.md.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CHUYỂN/KẾT: AURA không hứa thay người duyệt; AURA làm ngoại lệ rõ hơn, dừng đúng lúc và để lại audit trail cho quyết định có trách nhiệm.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6a3c69ab61457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05309d151b4c6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9d000ec2ab41c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17d11e16cc427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2f6d3b87f94bf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cb068c05464fa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430574e3674df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3751da1b8a45c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bc69a3514d423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51bcab76874a5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9e4fc368574d4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85B2DFF-1D69-41C2-B5C8-2BA8E54DD7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307F98C-3414-46A5-B76D-6E43F4149A4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865032A-8082-4E36-9F52-C6B5593C53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F15EDDC-E238-44C5-BAEF-CF85A5359D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0EA27C6-77B7-457A-9C0F-36568151C1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3F4391F-1C88-46A4-A513-1281D986FA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F98F817-02D0-4285-B745-99FE5FD965D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CE80B10-D60A-4C3C-9A16-1DC66761DBE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F4037E4-8DEC-4030-B85D-215B9D11C6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E8E3453-9B78-4A5C-A9E8-E4A4FC51B3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7.xml><?xml version="1.0" encoding="utf-8"?>
<p:sldLayout xmlns:p="http://schemas.openxmlformats.org/presentationml/2006/main">
  <p:cSld name="AURA_CONTENT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Layout_Divider">
            <a:extLst xmlns:a="http://schemas.openxmlformats.org/drawingml/2006/main">
              <a:ext uri="{FF2B5EF4-FFF2-40B4-BE49-F238E27FC236}">
                <a16:creationId xmlns:a16="http://schemas.microsoft.com/office/drawing/2014/main" id="{C52D6B60-F0B0-440D-A42B-004B6F98F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049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1445C"/>
            </a:solidFill>
            <a:prstDash val="solid"/>
          </a:ln>
        </p:spPr>
      </p:sp>
      <p:sp>
        <p:nvSpPr>
          <p:cNvPr id="2" name="Layout_Footer">
            <a:extLst xmlns:a="http://schemas.openxmlformats.org/drawingml/2006/main">
              <a:ext uri="{FF2B5EF4-FFF2-40B4-BE49-F238E27FC236}">
                <a16:creationId xmlns:a16="http://schemas.microsoft.com/office/drawing/2014/main" id="{C7598977-9630-4E6B-AEFE-7E0A9201D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5143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750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750" b="0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AURA • Track VNG • 15/10/2026</a:t>
            </a:r>
          </a:p>
        </p:txBody>
      </p:sp>
      <p:sp>
        <p:nvSpPr>
          <p:cNvPr id="3" name="Layout_PageNumber">
            <a:extLst xmlns:a="http://schemas.openxmlformats.org/drawingml/2006/main">
              <a:ext uri="{FF2B5EF4-FFF2-40B4-BE49-F238E27FC236}">
                <a16:creationId xmlns:a16="http://schemas.microsoft.com/office/drawing/2014/main" id="{22570EF3-8282-44BE-82A1-CC06B411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750" b="1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defRPr sz="750" b="1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750" b="1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>
  <p:cSld name="AURA_CONTENT_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Layout_Divider">
            <a:extLst xmlns:a="http://schemas.openxmlformats.org/drawingml/2006/main">
              <a:ext uri="{FF2B5EF4-FFF2-40B4-BE49-F238E27FC236}">
                <a16:creationId xmlns:a16="http://schemas.microsoft.com/office/drawing/2014/main" id="{E7E8C7FA-0A03-419D-9FDF-619DB6C5A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049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1445C"/>
            </a:solidFill>
            <a:prstDash val="solid"/>
          </a:ln>
        </p:spPr>
      </p:sp>
      <p:sp>
        <p:nvSpPr>
          <p:cNvPr id="2" name="Layout_Footer">
            <a:extLst xmlns:a="http://schemas.openxmlformats.org/drawingml/2006/main">
              <a:ext uri="{FF2B5EF4-FFF2-40B4-BE49-F238E27FC236}">
                <a16:creationId xmlns:a16="http://schemas.microsoft.com/office/drawing/2014/main" id="{AD8DF932-8F8C-4D65-8BC3-1675AD44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5143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750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750" b="0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AURA • Track VNG • 15/10/2026</a:t>
            </a:r>
          </a:p>
        </p:txBody>
      </p:sp>
      <p:sp>
        <p:nvSpPr>
          <p:cNvPr id="3" name="Layout_PageNumber">
            <a:extLst xmlns:a="http://schemas.openxmlformats.org/drawingml/2006/main">
              <a:ext uri="{FF2B5EF4-FFF2-40B4-BE49-F238E27FC236}">
                <a16:creationId xmlns:a16="http://schemas.microsoft.com/office/drawing/2014/main" id="{C595A727-1467-4BAE-9B9D-81D8A6BA7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750" b="1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defRPr sz="750" b="1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750" b="1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</p:spTree>
  </p:cSld>
</p:sldLayout>
</file>

<file path=ppt/slideLayouts/slideLayout9.xml><?xml version="1.0" encoding="utf-8"?>
<p:sldLayout xmlns:p="http://schemas.openxmlformats.org/presentationml/2006/main">
  <p:cSld name="AURA_CONTENT_3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Layout_Divider">
            <a:extLst xmlns:a="http://schemas.openxmlformats.org/drawingml/2006/main">
              <a:ext uri="{FF2B5EF4-FFF2-40B4-BE49-F238E27FC236}">
                <a16:creationId xmlns:a16="http://schemas.microsoft.com/office/drawing/2014/main" id="{3CEF655E-D66E-496E-B7E4-D3047A4F5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049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1445C"/>
            </a:solidFill>
            <a:prstDash val="solid"/>
          </a:ln>
        </p:spPr>
      </p:sp>
      <p:sp>
        <p:nvSpPr>
          <p:cNvPr id="2" name="Layout_Footer">
            <a:extLst xmlns:a="http://schemas.openxmlformats.org/drawingml/2006/main">
              <a:ext uri="{FF2B5EF4-FFF2-40B4-BE49-F238E27FC236}">
                <a16:creationId xmlns:a16="http://schemas.microsoft.com/office/drawing/2014/main" id="{03BCD8C0-7EE7-44C8-8375-FE41DF335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5143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750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750" b="0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AURA • Track VNG • 15/10/2026</a:t>
            </a:r>
          </a:p>
        </p:txBody>
      </p:sp>
      <p:sp>
        <p:nvSpPr>
          <p:cNvPr id="3" name="Layout_PageNumber">
            <a:extLst xmlns:a="http://schemas.openxmlformats.org/drawingml/2006/main">
              <a:ext uri="{FF2B5EF4-FFF2-40B4-BE49-F238E27FC236}">
                <a16:creationId xmlns:a16="http://schemas.microsoft.com/office/drawing/2014/main" id="{27F583F7-6950-4E38-9289-879877A07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750" b="1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defRPr sz="750" b="1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750" b="1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>
  <p:cSld name="AURA_CONTENT_4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Layout_Divider">
            <a:extLst xmlns:a="http://schemas.openxmlformats.org/drawingml/2006/main">
              <a:ext uri="{FF2B5EF4-FFF2-40B4-BE49-F238E27FC236}">
                <a16:creationId xmlns:a16="http://schemas.microsoft.com/office/drawing/2014/main" id="{271C07BC-BFB4-4DD8-8B44-7D0C300F8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049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1445C"/>
            </a:solidFill>
            <a:prstDash val="solid"/>
          </a:ln>
        </p:spPr>
      </p:sp>
      <p:sp>
        <p:nvSpPr>
          <p:cNvPr id="2" name="Layout_Footer">
            <a:extLst xmlns:a="http://schemas.openxmlformats.org/drawingml/2006/main">
              <a:ext uri="{FF2B5EF4-FFF2-40B4-BE49-F238E27FC236}">
                <a16:creationId xmlns:a16="http://schemas.microsoft.com/office/drawing/2014/main" id="{2958CD59-3265-4F39-A7C6-5989402D3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5143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750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750" b="0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AURA • Track VNG • 15/10/2026</a:t>
            </a:r>
          </a:p>
        </p:txBody>
      </p:sp>
      <p:sp>
        <p:nvSpPr>
          <p:cNvPr id="3" name="Layout_PageNumber">
            <a:extLst xmlns:a="http://schemas.openxmlformats.org/drawingml/2006/main">
              <a:ext uri="{FF2B5EF4-FFF2-40B4-BE49-F238E27FC236}">
                <a16:creationId xmlns:a16="http://schemas.microsoft.com/office/drawing/2014/main" id="{FAC6ECB0-55A6-4434-8166-A55BABA05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750" b="1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defRPr sz="750" b="1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750" b="1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</p:spTree>
  </p:cSld>
</p:sldLayout>
</file>

<file path=ppt/slideLayouts/slideLayout11.xml><?xml version="1.0" encoding="utf-8"?>
<p:sldLayout xmlns:p="http://schemas.openxmlformats.org/presentationml/2006/main">
  <p:cSld name="AURA_CONTENT_5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Layout_Divider">
            <a:extLst xmlns:a="http://schemas.openxmlformats.org/drawingml/2006/main">
              <a:ext uri="{FF2B5EF4-FFF2-40B4-BE49-F238E27FC236}">
                <a16:creationId xmlns:a16="http://schemas.microsoft.com/office/drawing/2014/main" id="{F5D1B439-421C-41F2-A33C-62D23337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049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1445C"/>
            </a:solidFill>
            <a:prstDash val="solid"/>
          </a:ln>
        </p:spPr>
      </p:sp>
      <p:sp>
        <p:nvSpPr>
          <p:cNvPr id="2" name="Layout_Footer">
            <a:extLst xmlns:a="http://schemas.openxmlformats.org/drawingml/2006/main">
              <a:ext uri="{FF2B5EF4-FFF2-40B4-BE49-F238E27FC236}">
                <a16:creationId xmlns:a16="http://schemas.microsoft.com/office/drawing/2014/main" id="{33685EAD-C7A6-4819-A4CA-25DE4BF13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5143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750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750" b="0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AURA • Track VNG • 15/10/2026</a:t>
            </a:r>
          </a:p>
        </p:txBody>
      </p:sp>
      <p:sp>
        <p:nvSpPr>
          <p:cNvPr id="3" name="Layout_LimitFooter">
            <a:extLst xmlns:a="http://schemas.openxmlformats.org/drawingml/2006/main">
              <a:ext uri="{FF2B5EF4-FFF2-40B4-BE49-F238E27FC236}">
                <a16:creationId xmlns:a16="http://schemas.microsoft.com/office/drawing/2014/main" id="{D85C1486-61D2-402A-BCD7-2C69ED8A0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6534150"/>
            <a:ext cx="6096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750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750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750" b="0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Giới hạn hiện tại, không phải lời hứa marketing</a:t>
            </a:r>
          </a:p>
        </p:txBody>
      </p:sp>
      <p:sp>
        <p:nvSpPr>
          <p:cNvPr id="4" name="Layout_PageNumber">
            <a:extLst xmlns:a="http://schemas.openxmlformats.org/drawingml/2006/main">
              <a:ext uri="{FF2B5EF4-FFF2-40B4-BE49-F238E27FC236}">
                <a16:creationId xmlns:a16="http://schemas.microsoft.com/office/drawing/2014/main" id="{82E58206-2FAE-48AB-9A5C-3948AB05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750" b="1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defRPr sz="750" b="1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750" b="1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3c27cc35c874488" /><Relationship Type="http://schemas.openxmlformats.org/officeDocument/2006/relationships/slideLayout" Target="/ppt/slideLayouts/slideLayout1.xml" Id="R4a6fcddf6cfd4fc7" /><Relationship Type="http://schemas.openxmlformats.org/officeDocument/2006/relationships/slideLayout" Target="/ppt/slideLayouts/slideLayout2.xml" Id="Ra0afc1a22aa04e18" /><Relationship Type="http://schemas.openxmlformats.org/officeDocument/2006/relationships/slideLayout" Target="/ppt/slideLayouts/slideLayout3.xml" Id="R5033facbf652467a" /><Relationship Type="http://schemas.openxmlformats.org/officeDocument/2006/relationships/slideLayout" Target="/ppt/slideLayouts/slideLayout4.xml" Id="R485dd90326184564" /><Relationship Type="http://schemas.openxmlformats.org/officeDocument/2006/relationships/slideLayout" Target="/ppt/slideLayouts/slideLayout5.xml" Id="Rfd6b8fad2fbc4f3f" /><Relationship Type="http://schemas.openxmlformats.org/officeDocument/2006/relationships/slideLayout" Target="/ppt/slideLayouts/slideLayout6.xml" Id="Rbf015419a0a24137" /><Relationship Type="http://schemas.openxmlformats.org/officeDocument/2006/relationships/slideLayout" Target="/ppt/slideLayouts/slideLayout7.xml" Id="R1ec9657baf1f4c01" /><Relationship Type="http://schemas.openxmlformats.org/officeDocument/2006/relationships/slideLayout" Target="/ppt/slideLayouts/slideLayout8.xml" Id="R93664220f2e642f0" /><Relationship Type="http://schemas.openxmlformats.org/officeDocument/2006/relationships/slideLayout" Target="/ppt/slideLayouts/slideLayout9.xml" Id="R72aba925597942d0" /><Relationship Type="http://schemas.openxmlformats.org/officeDocument/2006/relationships/slideLayout" Target="/ppt/slideLayouts/slideLayout10.xml" Id="Rf536527408b3418a" /><Relationship Type="http://schemas.openxmlformats.org/officeDocument/2006/relationships/slideLayout" Target="/ppt/slideLayouts/slideLayout11.xml" Id="Rcaa41df7cb1746b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a6fcddf6cfd4fc7"/>
    <p:sldLayoutId xmlns:r="http://schemas.openxmlformats.org/officeDocument/2006/relationships" id="2147483650" r:id="Ra0afc1a22aa04e18"/>
    <p:sldLayoutId xmlns:r="http://schemas.openxmlformats.org/officeDocument/2006/relationships" id="2147483651" r:id="R5033facbf652467a"/>
    <p:sldLayoutId xmlns:r="http://schemas.openxmlformats.org/officeDocument/2006/relationships" id="2147483652" r:id="R485dd90326184564"/>
    <p:sldLayoutId xmlns:r="http://schemas.openxmlformats.org/officeDocument/2006/relationships" id="2147483653" r:id="Rfd6b8fad2fbc4f3f"/>
    <p:sldLayoutId xmlns:r="http://schemas.openxmlformats.org/officeDocument/2006/relationships" id="2147483654" r:id="Rbf015419a0a24137"/>
    <p:sldLayoutId xmlns:r="http://schemas.openxmlformats.org/officeDocument/2006/relationships" id="2147483655" r:id="R1ec9657baf1f4c01"/>
    <p:sldLayoutId xmlns:r="http://schemas.openxmlformats.org/officeDocument/2006/relationships" id="2147483656" r:id="R93664220f2e642f0"/>
    <p:sldLayoutId xmlns:r="http://schemas.openxmlformats.org/officeDocument/2006/relationships" id="2147483657" r:id="R72aba925597942d0"/>
    <p:sldLayoutId xmlns:r="http://schemas.openxmlformats.org/officeDocument/2006/relationships" id="2147483658" r:id="Rf536527408b3418a"/>
    <p:sldLayoutId xmlns:r="http://schemas.openxmlformats.org/officeDocument/2006/relationships" id="2147483659" r:id="Rcaa41df7cb1746b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AURA restrained navy">
      <a:dk1>
        <a:srgbClr val="091522"/>
      </a:dk1>
      <a:lt1>
        <a:srgbClr val="F4F7FB"/>
      </a:lt1>
      <a:dk2>
        <a:srgbClr val="162A42"/>
      </a:dk2>
      <a:lt2>
        <a:srgbClr val="A6B3C4"/>
      </a:lt2>
      <a:accent1>
        <a:srgbClr val="5F8FD8"/>
      </a:accent1>
      <a:accent2>
        <a:srgbClr val="45A9BE"/>
      </a:accent2>
      <a:accent3>
        <a:srgbClr val="C59A4A"/>
      </a:accent3>
      <a:accent4>
        <a:srgbClr val="4FAF91"/>
      </a:accent4>
      <a:accent5>
        <a:srgbClr val="162A42"/>
      </a:accent5>
      <a:accent6>
        <a:srgbClr val="31445C"/>
      </a:accent6>
      <a:hlink>
        <a:srgbClr val="5F8FD8"/>
      </a:hlink>
      <a:folHlink>
        <a:srgbClr val="45A9BE"/>
      </a:folHlink>
    </a:clrScheme>
    <a:fontScheme name="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AURA restrained nav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f5b9467699c42b9" /><Relationship Type="http://schemas.openxmlformats.org/officeDocument/2006/relationships/notesSlide" Target="/ppt/notesSlides/notesSlide1.xml" Id="R2aa83c65a2ba4d9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f87aae417eea4b8f" /><Relationship Type="http://schemas.openxmlformats.org/officeDocument/2006/relationships/notesSlide" Target="/ppt/notesSlides/notesSlide2.xml" Id="Rc98d9dbadd5d46c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b098b56470824aad" /><Relationship Type="http://schemas.openxmlformats.org/officeDocument/2006/relationships/notesSlide" Target="/ppt/notesSlides/notesSlide3.xml" Id="R0a3586274fcf4bd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0.xml" Id="R583b7d635825440c" /><Relationship Type="http://schemas.openxmlformats.org/officeDocument/2006/relationships/notesSlide" Target="/ppt/notesSlides/notesSlide4.xml" Id="Rc271e546d89f4b4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0496dfdc86c94d92" /><Relationship Type="http://schemas.openxmlformats.org/officeDocument/2006/relationships/notesSlide" Target="/ppt/notesSlides/notesSlide5.xml" Id="R46e0955410eb483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15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Slide_Title">
            <a:extLst xmlns:a="http://schemas.openxmlformats.org/drawingml/2006/main">
              <a:ext uri="{FF2B5EF4-FFF2-40B4-BE49-F238E27FC236}">
                <a16:creationId xmlns:a16="http://schemas.microsoft.com/office/drawing/2014/main" id="{B9F483B8-B265-4400-AA47-BF0F1E868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87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Hoàn ứng hôm nay: nhiều điểm chờ, ít bằng chứng</a:t>
            </a:r>
          </a:p>
        </p:txBody>
      </p:sp>
      <p:sp>
        <p:nvSpPr>
          <p:cNvPr id="2" name="Slide_Subtitle">
            <a:extLst xmlns:a="http://schemas.openxmlformats.org/drawingml/2006/main">
              <a:ext uri="{FF2B5EF4-FFF2-40B4-BE49-F238E27FC236}">
                <a16:creationId xmlns:a16="http://schemas.microsoft.com/office/drawing/2014/main" id="{17601B64-ECA2-4F14-844F-CE7A2E58A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AURA biến ngoại lệ thành câu hỏi có thể quyết định — không giao quyền duyệt cho AI.</a:t>
            </a:r>
          </a:p>
        </p:txBody>
      </p:sp>
      <p:sp>
        <p:nvSpPr>
          <p:cNvPr id="3" name="S1_Flow_1">
            <a:extLst xmlns:a="http://schemas.openxmlformats.org/drawingml/2006/main">
              <a:ext uri="{FF2B5EF4-FFF2-40B4-BE49-F238E27FC236}">
                <a16:creationId xmlns:a16="http://schemas.microsoft.com/office/drawing/2014/main" id="{63FE4F4A-2FBE-4864-A6BF-389232FC9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20574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112338"/>
          </a:solidFill>
          <a:ln xmlns:a="http://schemas.openxmlformats.org/drawingml/2006/main" w="9525">
            <a:solidFill>
              <a:srgbClr val="31445C"/>
            </a:solidFill>
            <a:prstDash val="solid"/>
          </a:ln>
        </p:spPr>
      </p:sp>
      <p:sp>
        <p:nvSpPr>
          <p:cNvPr id="4" name="S1_FlowIcon_1">
            <a:extLst xmlns:a="http://schemas.openxmlformats.org/drawingml/2006/main">
              <a:ext uri="{FF2B5EF4-FFF2-40B4-BE49-F238E27FC236}">
                <a16:creationId xmlns:a16="http://schemas.microsoft.com/office/drawing/2014/main" id="{16EF1F2C-6932-4EA8-B4E8-272222E7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323850" cy="323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45A9BE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45A9BE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45A9B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45A9BE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5" name="S1_FlowLabel_1">
            <a:extLst xmlns:a="http://schemas.openxmlformats.org/drawingml/2006/main">
              <a:ext uri="{FF2B5EF4-FFF2-40B4-BE49-F238E27FC236}">
                <a16:creationId xmlns:a16="http://schemas.microsoft.com/office/drawing/2014/main" id="{5F09A46A-75C9-4525-BC8A-8FB1CDC2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240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Gửi hóa đơn</a:t>
            </a:r>
          </a:p>
        </p:txBody>
      </p:sp>
      <p:sp>
        <p:nvSpPr>
          <p:cNvPr id="6" name="S1_FlowPain_1">
            <a:extLst xmlns:a="http://schemas.openxmlformats.org/drawingml/2006/main">
              <a:ext uri="{FF2B5EF4-FFF2-40B4-BE49-F238E27FC236}">
                <a16:creationId xmlns:a16="http://schemas.microsoft.com/office/drawing/2014/main" id="{A112014E-3867-44C7-9542-D23F80450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790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Ảnh + số tiền</a:t>
            </a:r>
          </a:p>
        </p:txBody>
      </p:sp>
      <p:sp>
        <p:nvSpPr>
          <p:cNvPr id="7" name="S1_Arrow_1">
            <a:extLst xmlns:a="http://schemas.openxmlformats.org/drawingml/2006/main">
              <a:ext uri="{FF2B5EF4-FFF2-40B4-BE49-F238E27FC236}">
                <a16:creationId xmlns:a16="http://schemas.microsoft.com/office/drawing/2014/main" id="{BA66AD44-F3F4-4BB2-9A0B-0435CEA6B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19275"/>
            <a:ext cx="1524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445C"/>
          </a:solidFill>
          <a:ln xmlns:a="http://schemas.openxmlformats.org/drawingml/2006/main" w="0">
            <a:solidFill>
              <a:srgbClr val="31445C"/>
            </a:solidFill>
          </a:ln>
        </p:spPr>
      </p:sp>
      <p:sp>
        <p:nvSpPr>
          <p:cNvPr id="8" name="S1_Flow_2">
            <a:extLst xmlns:a="http://schemas.openxmlformats.org/drawingml/2006/main">
              <a:ext uri="{FF2B5EF4-FFF2-40B4-BE49-F238E27FC236}">
                <a16:creationId xmlns:a16="http://schemas.microsoft.com/office/drawing/2014/main" id="{3EADCAFB-EDBA-4107-BF07-2B671F6DB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381125"/>
            <a:ext cx="20574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112338"/>
          </a:solidFill>
          <a:ln xmlns:a="http://schemas.openxmlformats.org/drawingml/2006/main" w="9525">
            <a:solidFill>
              <a:srgbClr val="31445C"/>
            </a:solidFill>
            <a:prstDash val="solid"/>
          </a:ln>
        </p:spPr>
      </p:sp>
      <p:sp>
        <p:nvSpPr>
          <p:cNvPr id="9" name="S1_FlowIcon_2">
            <a:extLst xmlns:a="http://schemas.openxmlformats.org/drawingml/2006/main">
              <a:ext uri="{FF2B5EF4-FFF2-40B4-BE49-F238E27FC236}">
                <a16:creationId xmlns:a16="http://schemas.microsoft.com/office/drawing/2014/main" id="{AD8FA913-425C-4A9B-86B3-0585E7EE5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524000"/>
            <a:ext cx="323850" cy="323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45A9BE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45A9BE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45A9B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45A9BE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0" name="S1_FlowLabel_2">
            <a:extLst xmlns:a="http://schemas.openxmlformats.org/drawingml/2006/main">
              <a:ext uri="{FF2B5EF4-FFF2-40B4-BE49-F238E27FC236}">
                <a16:creationId xmlns:a16="http://schemas.microsoft.com/office/drawing/2014/main" id="{A06228D6-EA75-448A-9291-69AAC3C1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5240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Đọc thủ công</a:t>
            </a:r>
          </a:p>
        </p:txBody>
      </p:sp>
      <p:sp>
        <p:nvSpPr>
          <p:cNvPr id="11" name="S1_FlowPain_2">
            <a:extLst xmlns:a="http://schemas.openxmlformats.org/drawingml/2006/main">
              <a:ext uri="{FF2B5EF4-FFF2-40B4-BE49-F238E27FC236}">
                <a16:creationId xmlns:a16="http://schemas.microsoft.com/office/drawing/2014/main" id="{68AAEC81-4890-4E49-964D-39D09ABB7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000250"/>
            <a:ext cx="1790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Dễ sai định dạng</a:t>
            </a:r>
          </a:p>
        </p:txBody>
      </p:sp>
      <p:sp>
        <p:nvSpPr>
          <p:cNvPr id="12" name="S1_Arrow_2">
            <a:extLst xmlns:a="http://schemas.openxmlformats.org/drawingml/2006/main">
              <a:ext uri="{FF2B5EF4-FFF2-40B4-BE49-F238E27FC236}">
                <a16:creationId xmlns:a16="http://schemas.microsoft.com/office/drawing/2014/main" id="{90ADA138-886F-4616-BE76-615BF02E4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1819275"/>
            <a:ext cx="1524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445C"/>
          </a:solidFill>
          <a:ln xmlns:a="http://schemas.openxmlformats.org/drawingml/2006/main" w="0">
            <a:solidFill>
              <a:srgbClr val="31445C"/>
            </a:solidFill>
          </a:ln>
        </p:spPr>
      </p:sp>
      <p:sp>
        <p:nvSpPr>
          <p:cNvPr id="13" name="S1_Flow_3">
            <a:extLst xmlns:a="http://schemas.openxmlformats.org/drawingml/2006/main">
              <a:ext uri="{FF2B5EF4-FFF2-40B4-BE49-F238E27FC236}">
                <a16:creationId xmlns:a16="http://schemas.microsoft.com/office/drawing/2014/main" id="{B43F4A29-EBB7-469E-B6AB-635718934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381125"/>
            <a:ext cx="20574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112338"/>
          </a:solidFill>
          <a:ln xmlns:a="http://schemas.openxmlformats.org/drawingml/2006/main" w="9525">
            <a:solidFill>
              <a:srgbClr val="31445C"/>
            </a:solidFill>
            <a:prstDash val="solid"/>
          </a:ln>
        </p:spPr>
      </p:sp>
      <p:sp>
        <p:nvSpPr>
          <p:cNvPr id="14" name="S1_FlowIcon_3">
            <a:extLst xmlns:a="http://schemas.openxmlformats.org/drawingml/2006/main">
              <a:ext uri="{FF2B5EF4-FFF2-40B4-BE49-F238E27FC236}">
                <a16:creationId xmlns:a16="http://schemas.microsoft.com/office/drawing/2014/main" id="{E921B718-D701-410F-9E2C-02D7C760D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524000"/>
            <a:ext cx="323850" cy="323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45A9BE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45A9BE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45A9B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45A9BE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5" name="S1_FlowLabel_3">
            <a:extLst xmlns:a="http://schemas.openxmlformats.org/drawingml/2006/main">
              <a:ext uri="{FF2B5EF4-FFF2-40B4-BE49-F238E27FC236}">
                <a16:creationId xmlns:a16="http://schemas.microsoft.com/office/drawing/2014/main" id="{9BCC2754-D62B-4683-B167-F871D0585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5240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Đối chiếu policy</a:t>
            </a:r>
          </a:p>
        </p:txBody>
      </p:sp>
      <p:sp>
        <p:nvSpPr>
          <p:cNvPr id="16" name="S1_FlowPain_3">
            <a:extLst xmlns:a="http://schemas.openxmlformats.org/drawingml/2006/main">
              <a:ext uri="{FF2B5EF4-FFF2-40B4-BE49-F238E27FC236}">
                <a16:creationId xmlns:a16="http://schemas.microsoft.com/office/drawing/2014/main" id="{D28CE1E5-3308-4C49-8FA0-E331EF79E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000250"/>
            <a:ext cx="1790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Phụ thuộc người xử lý</a:t>
            </a:r>
          </a:p>
        </p:txBody>
      </p:sp>
      <p:sp>
        <p:nvSpPr>
          <p:cNvPr id="17" name="S1_Arrow_3">
            <a:extLst xmlns:a="http://schemas.openxmlformats.org/drawingml/2006/main">
              <a:ext uri="{FF2B5EF4-FFF2-40B4-BE49-F238E27FC236}">
                <a16:creationId xmlns:a16="http://schemas.microsoft.com/office/drawing/2014/main" id="{4CD5BFCB-8BE5-46EF-9411-193BF85D1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1819275"/>
            <a:ext cx="1524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445C"/>
          </a:solidFill>
          <a:ln xmlns:a="http://schemas.openxmlformats.org/drawingml/2006/main" w="0">
            <a:solidFill>
              <a:srgbClr val="31445C"/>
            </a:solidFill>
          </a:ln>
        </p:spPr>
      </p:sp>
      <p:sp>
        <p:nvSpPr>
          <p:cNvPr id="18" name="S1_Flow_4">
            <a:extLst xmlns:a="http://schemas.openxmlformats.org/drawingml/2006/main">
              <a:ext uri="{FF2B5EF4-FFF2-40B4-BE49-F238E27FC236}">
                <a16:creationId xmlns:a16="http://schemas.microsoft.com/office/drawing/2014/main" id="{98E9E04D-4FF2-4778-A7D5-8CB0D1F5F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381125"/>
            <a:ext cx="20574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162A42"/>
          </a:solidFill>
          <a:ln xmlns:a="http://schemas.openxmlformats.org/drawingml/2006/main" w="9525">
            <a:solidFill>
              <a:srgbClr val="C59A4A"/>
            </a:solidFill>
            <a:prstDash val="solid"/>
          </a:ln>
        </p:spPr>
      </p:sp>
      <p:sp>
        <p:nvSpPr>
          <p:cNvPr id="19" name="S1_FlowIcon_4">
            <a:extLst xmlns:a="http://schemas.openxmlformats.org/drawingml/2006/main">
              <a:ext uri="{FF2B5EF4-FFF2-40B4-BE49-F238E27FC236}">
                <a16:creationId xmlns:a16="http://schemas.microsoft.com/office/drawing/2014/main" id="{67F6C7CA-AAEB-4290-A038-9DCD4A2D9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524000"/>
            <a:ext cx="323850" cy="323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59A4A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C59A4A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0" name="S1_FlowLabel_4">
            <a:extLst xmlns:a="http://schemas.openxmlformats.org/drawingml/2006/main">
              <a:ext uri="{FF2B5EF4-FFF2-40B4-BE49-F238E27FC236}">
                <a16:creationId xmlns:a16="http://schemas.microsoft.com/office/drawing/2014/main" id="{390C0E9D-3CE9-4893-B66A-C5B026931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5240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Hỏi quản lý</a:t>
            </a:r>
          </a:p>
        </p:txBody>
      </p:sp>
      <p:sp>
        <p:nvSpPr>
          <p:cNvPr id="21" name="S1_FlowPain_4">
            <a:extLst xmlns:a="http://schemas.openxmlformats.org/drawingml/2006/main">
              <a:ext uri="{FF2B5EF4-FFF2-40B4-BE49-F238E27FC236}">
                <a16:creationId xmlns:a16="http://schemas.microsoft.com/office/drawing/2014/main" id="{5FB14F72-45BF-4AE7-B793-C045ECFDB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000250"/>
            <a:ext cx="1790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975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C59A4A"/>
                </a:solidFill>
                <a:latin typeface="Segoe UI"/>
                <a:ea typeface="Segoe UI"/>
                <a:cs typeface="Segoe UI"/>
              </a:rPr>
              <a:t>Thiếu câu hỏi cụ thể</a:t>
            </a:r>
          </a:p>
        </p:txBody>
      </p:sp>
      <p:sp>
        <p:nvSpPr>
          <p:cNvPr id="22" name="S1_Arrow_4">
            <a:extLst xmlns:a="http://schemas.openxmlformats.org/drawingml/2006/main">
              <a:ext uri="{FF2B5EF4-FFF2-40B4-BE49-F238E27FC236}">
                <a16:creationId xmlns:a16="http://schemas.microsoft.com/office/drawing/2014/main" id="{90890274-7A90-4410-9F8E-F82F71D98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1819275"/>
            <a:ext cx="1524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445C"/>
          </a:solidFill>
          <a:ln xmlns:a="http://schemas.openxmlformats.org/drawingml/2006/main" w="0">
            <a:solidFill>
              <a:srgbClr val="31445C"/>
            </a:solidFill>
          </a:ln>
        </p:spPr>
      </p:sp>
      <p:sp>
        <p:nvSpPr>
          <p:cNvPr id="23" name="S1_Flow_5">
            <a:extLst xmlns:a="http://schemas.openxmlformats.org/drawingml/2006/main">
              <a:ext uri="{FF2B5EF4-FFF2-40B4-BE49-F238E27FC236}">
                <a16:creationId xmlns:a16="http://schemas.microsoft.com/office/drawing/2014/main" id="{F9738086-A95E-431F-A6CF-9097F31D5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381125"/>
            <a:ext cx="20574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162A42"/>
          </a:solidFill>
          <a:ln xmlns:a="http://schemas.openxmlformats.org/drawingml/2006/main" w="9525">
            <a:solidFill>
              <a:srgbClr val="C59A4A"/>
            </a:solidFill>
            <a:prstDash val="solid"/>
          </a:ln>
        </p:spPr>
      </p:sp>
      <p:sp>
        <p:nvSpPr>
          <p:cNvPr id="24" name="S1_FlowIcon_5">
            <a:extLst xmlns:a="http://schemas.openxmlformats.org/drawingml/2006/main">
              <a:ext uri="{FF2B5EF4-FFF2-40B4-BE49-F238E27FC236}">
                <a16:creationId xmlns:a16="http://schemas.microsoft.com/office/drawing/2014/main" id="{5CEABE0C-2521-4606-903E-1051F4F7D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524000"/>
            <a:ext cx="323850" cy="323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59A4A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C59A4A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25" name="S1_FlowLabel_5">
            <a:extLst xmlns:a="http://schemas.openxmlformats.org/drawingml/2006/main">
              <a:ext uri="{FF2B5EF4-FFF2-40B4-BE49-F238E27FC236}">
                <a16:creationId xmlns:a16="http://schemas.microsoft.com/office/drawing/2014/main" id="{2B9B7E33-845F-426F-97B8-FC180AE4F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15240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Lưu lịch sử</a:t>
            </a:r>
          </a:p>
        </p:txBody>
      </p:sp>
      <p:sp>
        <p:nvSpPr>
          <p:cNvPr id="26" name="S1_FlowPain_5">
            <a:extLst xmlns:a="http://schemas.openxmlformats.org/drawingml/2006/main">
              <a:ext uri="{FF2B5EF4-FFF2-40B4-BE49-F238E27FC236}">
                <a16:creationId xmlns:a16="http://schemas.microsoft.com/office/drawing/2014/main" id="{39AA7C00-6F51-45C4-8A8D-C4151657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000250"/>
            <a:ext cx="1790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975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C59A4A"/>
                </a:solidFill>
                <a:latin typeface="Segoe UI"/>
                <a:ea typeface="Segoe UI"/>
                <a:cs typeface="Segoe UI"/>
              </a:rPr>
              <a:t>Khó truy vết</a:t>
            </a:r>
          </a:p>
        </p:txBody>
      </p:sp>
      <p:sp>
        <p:nvSpPr>
          <p:cNvPr id="27" name="S1_PillarsLabel">
            <a:extLst xmlns:a="http://schemas.openxmlformats.org/drawingml/2006/main">
              <a:ext uri="{FF2B5EF4-FFF2-40B4-BE49-F238E27FC236}">
                <a16:creationId xmlns:a16="http://schemas.microsoft.com/office/drawing/2014/main" id="{DBDF0F7C-5991-4276-B81F-2989EBCD5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384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975" b="1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BA TRỤ CỘT</a:t>
            </a:r>
          </a:p>
        </p:txBody>
      </p:sp>
      <p:sp>
        <p:nvSpPr>
          <p:cNvPr id="28" name="S1_Pillar_1">
            <a:extLst xmlns:a="http://schemas.openxmlformats.org/drawingml/2006/main">
              <a:ext uri="{FF2B5EF4-FFF2-40B4-BE49-F238E27FC236}">
                <a16:creationId xmlns:a16="http://schemas.microsoft.com/office/drawing/2014/main" id="{8EC00CA8-A498-4BB4-B1BB-E59011943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0"/>
            <a:ext cx="3505200" cy="9906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112338"/>
          </a:solidFill>
          <a:ln xmlns:a="http://schemas.openxmlformats.org/drawingml/2006/main" w="9525">
            <a:solidFill>
              <a:srgbClr val="31445C"/>
            </a:solidFill>
            <a:prstDash val="solid"/>
          </a:ln>
        </p:spPr>
      </p:sp>
      <p:sp>
        <p:nvSpPr>
          <p:cNvPr id="29" name="S1_PillarIcon_1">
            <a:extLst xmlns:a="http://schemas.openxmlformats.org/drawingml/2006/main">
              <a:ext uri="{FF2B5EF4-FFF2-40B4-BE49-F238E27FC236}">
                <a16:creationId xmlns:a16="http://schemas.microsoft.com/office/drawing/2014/main" id="{89F0F4D0-D2FF-46A8-90ED-046426414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323850" cy="323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F8FD8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5F8FD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5F8FD8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5F8FD8"/>
                </a:solidFill>
                <a:latin typeface="Segoe UI"/>
                <a:ea typeface="Segoe UI"/>
                <a:cs typeface="Segoe UI"/>
              </a:rPr>
              <a:t>AI</a:t>
            </a:r>
          </a:p>
        </p:txBody>
      </p:sp>
      <p:sp>
        <p:nvSpPr>
          <p:cNvPr id="30" name="S1_PillarLabel_1">
            <a:extLst xmlns:a="http://schemas.openxmlformats.org/drawingml/2006/main">
              <a:ext uri="{FF2B5EF4-FFF2-40B4-BE49-F238E27FC236}">
                <a16:creationId xmlns:a16="http://schemas.microsoft.com/office/drawing/2014/main" id="{A29F5AB8-96A0-42E6-844C-82C9039C2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86125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AI đọc</a:t>
            </a:r>
          </a:p>
        </p:txBody>
      </p:sp>
      <p:sp>
        <p:nvSpPr>
          <p:cNvPr id="31" name="S1_PillarDetail_1">
            <a:extLst xmlns:a="http://schemas.openxmlformats.org/drawingml/2006/main">
              <a:ext uri="{FF2B5EF4-FFF2-40B4-BE49-F238E27FC236}">
                <a16:creationId xmlns:a16="http://schemas.microsoft.com/office/drawing/2014/main" id="{477F9D67-4B47-44CA-B8F7-237D9CC7F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004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Trích facts có cấu trúc; không suy đoán.</a:t>
            </a:r>
          </a:p>
        </p:txBody>
      </p:sp>
      <p:sp>
        <p:nvSpPr>
          <p:cNvPr id="32" name="S1_Pillar_2">
            <a:extLst xmlns:a="http://schemas.openxmlformats.org/drawingml/2006/main">
              <a:ext uri="{FF2B5EF4-FFF2-40B4-BE49-F238E27FC236}">
                <a16:creationId xmlns:a16="http://schemas.microsoft.com/office/drawing/2014/main" id="{2ED5ED33-2774-4564-9239-9DAFF37DE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143250"/>
            <a:ext cx="3505200" cy="9906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112338"/>
          </a:solidFill>
          <a:ln xmlns:a="http://schemas.openxmlformats.org/drawingml/2006/main" w="9525">
            <a:solidFill>
              <a:srgbClr val="31445C"/>
            </a:solidFill>
            <a:prstDash val="solid"/>
          </a:ln>
        </p:spPr>
      </p:sp>
      <p:sp>
        <p:nvSpPr>
          <p:cNvPr id="33" name="S1_PillarIcon_2">
            <a:extLst xmlns:a="http://schemas.openxmlformats.org/drawingml/2006/main">
              <a:ext uri="{FF2B5EF4-FFF2-40B4-BE49-F238E27FC236}">
                <a16:creationId xmlns:a16="http://schemas.microsoft.com/office/drawing/2014/main" id="{797F712A-1AA0-453B-8A4D-58E509D61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33750"/>
            <a:ext cx="323850" cy="323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59A4A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C59A4A"/>
                </a:solidFill>
                <a:latin typeface="Segoe UI"/>
                <a:ea typeface="Segoe UI"/>
                <a:cs typeface="Segoe UI"/>
              </a:rPr>
              <a:t>C#</a:t>
            </a:r>
          </a:p>
        </p:txBody>
      </p:sp>
      <p:sp>
        <p:nvSpPr>
          <p:cNvPr id="34" name="S1_PillarLabel_2">
            <a:extLst xmlns:a="http://schemas.openxmlformats.org/drawingml/2006/main">
              <a:ext uri="{FF2B5EF4-FFF2-40B4-BE49-F238E27FC236}">
                <a16:creationId xmlns:a16="http://schemas.microsoft.com/office/drawing/2014/main" id="{18CF3323-CFAC-40EB-831E-2C8CA4CFF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286125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Policy quyết định</a:t>
            </a:r>
          </a:p>
        </p:txBody>
      </p:sp>
      <p:sp>
        <p:nvSpPr>
          <p:cNvPr id="35" name="S1_PillarDetail_2">
            <a:extLst xmlns:a="http://schemas.openxmlformats.org/drawingml/2006/main">
              <a:ext uri="{FF2B5EF4-FFF2-40B4-BE49-F238E27FC236}">
                <a16:creationId xmlns:a16="http://schemas.microsoft.com/office/drawing/2014/main" id="{C6B13C60-0F04-4865-ACB5-6C75997D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6004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C# tất định; đầu vào nghi vấn không auto.</a:t>
            </a:r>
          </a:p>
        </p:txBody>
      </p:sp>
      <p:sp>
        <p:nvSpPr>
          <p:cNvPr id="36" name="S1_Pillar_3">
            <a:extLst xmlns:a="http://schemas.openxmlformats.org/drawingml/2006/main">
              <a:ext uri="{FF2B5EF4-FFF2-40B4-BE49-F238E27FC236}">
                <a16:creationId xmlns:a16="http://schemas.microsoft.com/office/drawing/2014/main" id="{0F944BFA-E859-422D-AD39-F280EC316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143250"/>
            <a:ext cx="3505200" cy="9906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112338"/>
          </a:solidFill>
          <a:ln xmlns:a="http://schemas.openxmlformats.org/drawingml/2006/main" w="9525">
            <a:solidFill>
              <a:srgbClr val="31445C"/>
            </a:solidFill>
            <a:prstDash val="solid"/>
          </a:ln>
        </p:spPr>
      </p:sp>
      <p:sp>
        <p:nvSpPr>
          <p:cNvPr id="37" name="S1_PillarIcon_3">
            <a:extLst xmlns:a="http://schemas.openxmlformats.org/drawingml/2006/main">
              <a:ext uri="{FF2B5EF4-FFF2-40B4-BE49-F238E27FC236}">
                <a16:creationId xmlns:a16="http://schemas.microsoft.com/office/drawing/2014/main" id="{6DD070FB-980B-4742-840E-401556201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33750"/>
            <a:ext cx="323850" cy="323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45A9BE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45A9BE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45A9B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45A9BE"/>
                </a:solidFill>
                <a:latin typeface="Segoe UI"/>
                <a:ea typeface="Segoe UI"/>
                <a:cs typeface="Segoe UI"/>
              </a:rPr>
              <a:t>H</a:t>
            </a:r>
          </a:p>
        </p:txBody>
      </p:sp>
      <p:sp>
        <p:nvSpPr>
          <p:cNvPr id="38" name="S1_PillarLabel_3">
            <a:extLst xmlns:a="http://schemas.openxmlformats.org/drawingml/2006/main">
              <a:ext uri="{FF2B5EF4-FFF2-40B4-BE49-F238E27FC236}">
                <a16:creationId xmlns:a16="http://schemas.microsoft.com/office/drawing/2014/main" id="{2D0C2491-CC28-48CD-AE00-FB46BF110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286125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Con người chịu trách nhiệm</a:t>
            </a:r>
          </a:p>
        </p:txBody>
      </p:sp>
      <p:sp>
        <p:nvSpPr>
          <p:cNvPr id="39" name="S1_PillarDetail_3">
            <a:extLst xmlns:a="http://schemas.openxmlformats.org/drawingml/2006/main">
              <a:ext uri="{FF2B5EF4-FFF2-40B4-BE49-F238E27FC236}">
                <a16:creationId xmlns:a16="http://schemas.microsoft.com/office/drawing/2014/main" id="{95F5A2B1-3EAD-4F76-8EB3-2164725D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6004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Xử lý ngoại lệ; có thể hoàn tác.</a:t>
            </a:r>
          </a:p>
        </p:txBody>
      </p:sp>
      <p:sp>
        <p:nvSpPr>
          <p:cNvPr id="40" name="S1_QuotePanel">
            <a:extLst xmlns:a="http://schemas.openxmlformats.org/drawingml/2006/main">
              <a:ext uri="{FF2B5EF4-FFF2-40B4-BE49-F238E27FC236}">
                <a16:creationId xmlns:a16="http://schemas.microsoft.com/office/drawing/2014/main" id="{6E3B7C61-CD36-4979-800E-B33BB4C6B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14850"/>
            <a:ext cx="11087100" cy="1466850"/>
          </a:xfrm>
          <a:prstGeom xmlns:a="http://schemas.openxmlformats.org/drawingml/2006/main" prst="roundRect">
            <a:avLst>
              <a:gd name="adj" fmla="val 3896"/>
            </a:avLst>
          </a:prstGeom>
          <a:solidFill xmlns:a="http://schemas.openxmlformats.org/drawingml/2006/main">
            <a:srgbClr val="162A42"/>
          </a:solidFill>
          <a:ln xmlns:a="http://schemas.openxmlformats.org/drawingml/2006/main" w="9525">
            <a:solidFill>
              <a:srgbClr val="31445C"/>
            </a:solidFill>
            <a:prstDash val="solid"/>
          </a:ln>
        </p:spPr>
      </p:sp>
      <p:sp>
        <p:nvSpPr>
          <p:cNvPr id="41" name="S1_QuoteAccent">
            <a:extLst xmlns:a="http://schemas.openxmlformats.org/drawingml/2006/main">
              <a:ext uri="{FF2B5EF4-FFF2-40B4-BE49-F238E27FC236}">
                <a16:creationId xmlns:a16="http://schemas.microsoft.com/office/drawing/2014/main" id="{E300494D-F09D-4C8E-9D1E-C3F6BF1F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0" cy="895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59A4A"/>
            </a:solidFill>
            <a:prstDash val="solid"/>
          </a:ln>
        </p:spPr>
      </p:sp>
      <p:sp>
        <p:nvSpPr>
          <p:cNvPr id="42" name="S1_Quote">
            <a:extLst xmlns:a="http://schemas.openxmlformats.org/drawingml/2006/main">
              <a:ext uri="{FF2B5EF4-FFF2-40B4-BE49-F238E27FC236}">
                <a16:creationId xmlns:a16="http://schemas.microsoft.com/office/drawing/2014/main" id="{21A28D57-0D95-48C4-95B7-D2FEFEEDB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0"/>
            <a:ext cx="1009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210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“Không phải OCR — mà là biết khi nào phải dừng và hỏi người.”</a:t>
            </a:r>
          </a:p>
        </p:txBody>
      </p:sp>
      <p:sp>
        <p:nvSpPr>
          <p:cNvPr id="43" name="S1_QuoteTag">
            <a:extLst xmlns:a="http://schemas.openxmlformats.org/drawingml/2006/main">
              <a:ext uri="{FF2B5EF4-FFF2-40B4-BE49-F238E27FC236}">
                <a16:creationId xmlns:a16="http://schemas.microsoft.com/office/drawing/2014/main" id="{60074F4F-A440-414D-9605-71EFF60BE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24500"/>
            <a:ext cx="933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AURA = facts có cấu trúc + policy tất định + human accountability</a:t>
            </a:r>
          </a:p>
        </p:txBody>
      </p:sp>
    </p:spTree>
    <p:extLst>
      <p:ext uri="{BB962C8B-B14F-4D97-AF65-F5344CB8AC3E}">
        <p14:creationId xmlns:p14="http://schemas.microsoft.com/office/powerpoint/2010/main" val="12603867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15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Slide_Title">
            <a:extLst xmlns:a="http://schemas.openxmlformats.org/drawingml/2006/main">
              <a:ext uri="{FF2B5EF4-FFF2-40B4-BE49-F238E27FC236}">
                <a16:creationId xmlns:a16="http://schemas.microsoft.com/office/drawing/2014/main" id="{42683194-BB91-4DD1-9A49-ECB22529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87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Pipeline E2E: async trước, AI đọc, policy quyết định</a:t>
            </a:r>
          </a:p>
        </p:txBody>
      </p:sp>
      <p:sp>
        <p:nvSpPr>
          <p:cNvPr id="2" name="Slide_Subtitle">
            <a:extLst xmlns:a="http://schemas.openxmlformats.org/drawingml/2006/main">
              <a:ext uri="{FF2B5EF4-FFF2-40B4-BE49-F238E27FC236}">
                <a16:creationId xmlns:a16="http://schemas.microsoft.com/office/drawing/2014/main" id="{3186514E-C4AD-4637-82C5-1D5892966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Chín gate chạy thật; con người chỉ quyết định ở nhánh ngoại lệ.</a:t>
            </a:r>
          </a:p>
        </p:txBody>
      </p:sp>
      <p:sp>
        <p:nvSpPr>
          <p:cNvPr id="3" name="S2_Phase_A">
            <a:extLst xmlns:a="http://schemas.openxmlformats.org/drawingml/2006/main">
              <a:ext uri="{FF2B5EF4-FFF2-40B4-BE49-F238E27FC236}">
                <a16:creationId xmlns:a16="http://schemas.microsoft.com/office/drawing/2014/main" id="{82585236-67CB-4984-B33C-B40BC6765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2095500" cy="213360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112338"/>
          </a:solidFill>
          <a:ln xmlns:a="http://schemas.openxmlformats.org/drawingml/2006/main" w="9525">
            <a:solidFill>
              <a:srgbClr val="31445C"/>
            </a:solidFill>
            <a:prstDash val="solid"/>
          </a:ln>
        </p:spPr>
      </p:sp>
      <p:sp>
        <p:nvSpPr>
          <p:cNvPr id="4" name="S2_PhaseIcon_A">
            <a:extLst xmlns:a="http://schemas.openxmlformats.org/drawingml/2006/main">
              <a:ext uri="{FF2B5EF4-FFF2-40B4-BE49-F238E27FC236}">
                <a16:creationId xmlns:a16="http://schemas.microsoft.com/office/drawing/2014/main" id="{F0DAF2BF-09C5-407A-BC81-3F3336AE6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323850" cy="323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45A9BE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45A9BE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45A9B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45A9BE"/>
                </a:solidFill>
                <a:latin typeface="Segoe UI"/>
                <a:ea typeface="Segoe UI"/>
                <a:cs typeface="Segoe UI"/>
              </a:rPr>
              <a:t>A</a:t>
            </a:r>
          </a:p>
        </p:txBody>
      </p:sp>
      <p:sp>
        <p:nvSpPr>
          <p:cNvPr id="5" name="S2_PhaseLabel_A">
            <a:extLst xmlns:a="http://schemas.openxmlformats.org/drawingml/2006/main">
              <a:ext uri="{FF2B5EF4-FFF2-40B4-BE49-F238E27FC236}">
                <a16:creationId xmlns:a16="http://schemas.microsoft.com/office/drawing/2014/main" id="{DB2D0593-DCDC-4920-B946-6B47B380F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7640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0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05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NHẬN &amp; XẾP HÀNG</a:t>
            </a:r>
          </a:p>
        </p:txBody>
      </p:sp>
      <p:sp>
        <p:nvSpPr>
          <p:cNvPr id="6" name="S2_Gates_A">
            <a:extLst xmlns:a="http://schemas.openxmlformats.org/drawingml/2006/main">
              <a:ext uri="{FF2B5EF4-FFF2-40B4-BE49-F238E27FC236}">
                <a16:creationId xmlns:a16="http://schemas.microsoft.com/office/drawing/2014/main" id="{8DE6D47D-B183-45EA-A3F3-C7D96FDBC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14550"/>
            <a:ext cx="876300" cy="2667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45A9BE"/>
          </a:solidFill>
          <a:ln xmlns:a="http://schemas.openxmlformats.org/drawingml/2006/main" w="9525">
            <a:solidFill>
              <a:srgbClr val="45A9BE"/>
            </a:solidFill>
            <a:prstDash val="solid"/>
          </a:ln>
        </p:spPr>
        <p:txBody>
          <a:bodyPr xmlns:a="http://schemas.openxmlformats.org/drawingml/2006/main" lIns="47625" tIns="0" rIns="47625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091522"/>
                </a:solidFill>
                <a:latin typeface="Segoe UI"/>
                <a:ea typeface="Segoe UI"/>
                <a:cs typeface="Segoe UI"/>
              </a:rPr>
              <a:t>GATE 1–3</a:t>
            </a:r>
          </a:p>
        </p:txBody>
      </p:sp>
      <p:sp>
        <p:nvSpPr>
          <p:cNvPr id="7" name="S2_PhaseDetail_A">
            <a:extLst xmlns:a="http://schemas.openxmlformats.org/drawingml/2006/main">
              <a:ext uri="{FF2B5EF4-FFF2-40B4-BE49-F238E27FC236}">
                <a16:creationId xmlns:a16="http://schemas.microsoft.com/office/drawing/2014/main" id="{F73760B6-93C2-45DE-82B6-B6DA3A87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71750"/>
            <a:ext cx="1790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12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JPG/PNG ≤ 5 MB</a:t>
            </a:r>
          </a:p>
          <a:p xmlns:a="http://schemas.openxmlformats.org/drawingml/2006/main">
            <a:pPr algn="l">
              <a:defRPr sz="112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MIME/magic • private + SHA</a:t>
            </a:r>
          </a:p>
          <a:p xmlns:a="http://schemas.openxmlformats.org/drawingml/2006/main">
            <a:pPr algn="l">
              <a:defRPr sz="112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SQL PENDING + audit</a:t>
            </a:r>
          </a:p>
        </p:txBody>
      </p:sp>
      <p:sp>
        <p:nvSpPr>
          <p:cNvPr id="8" name="S2_PhaseArrow_1">
            <a:extLst xmlns:a="http://schemas.openxmlformats.org/drawingml/2006/main">
              <a:ext uri="{FF2B5EF4-FFF2-40B4-BE49-F238E27FC236}">
                <a16:creationId xmlns:a16="http://schemas.microsoft.com/office/drawing/2014/main" id="{AEC35F13-E52A-4D6B-AA84-9AD806DB2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2428875"/>
            <a:ext cx="1524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445C"/>
          </a:solidFill>
          <a:ln xmlns:a="http://schemas.openxmlformats.org/drawingml/2006/main" w="0">
            <a:solidFill>
              <a:srgbClr val="31445C"/>
            </a:solidFill>
          </a:ln>
        </p:spPr>
      </p:sp>
      <p:sp>
        <p:nvSpPr>
          <p:cNvPr id="9" name="S2_Phase_B">
            <a:extLst xmlns:a="http://schemas.openxmlformats.org/drawingml/2006/main">
              <a:ext uri="{FF2B5EF4-FFF2-40B4-BE49-F238E27FC236}">
                <a16:creationId xmlns:a16="http://schemas.microsoft.com/office/drawing/2014/main" id="{6C623E7C-1FFB-4B37-BFA7-0B0DC6D8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504950"/>
            <a:ext cx="2095500" cy="213360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112338"/>
          </a:solidFill>
          <a:ln xmlns:a="http://schemas.openxmlformats.org/drawingml/2006/main" w="9525">
            <a:solidFill>
              <a:srgbClr val="31445C"/>
            </a:solidFill>
            <a:prstDash val="solid"/>
          </a:ln>
        </p:spPr>
      </p:sp>
      <p:sp>
        <p:nvSpPr>
          <p:cNvPr id="10" name="S2_PhaseIcon_B">
            <a:extLst xmlns:a="http://schemas.openxmlformats.org/drawingml/2006/main">
              <a:ext uri="{FF2B5EF4-FFF2-40B4-BE49-F238E27FC236}">
                <a16:creationId xmlns:a16="http://schemas.microsoft.com/office/drawing/2014/main" id="{F2407E78-12B7-4E9B-95F4-90963BAC4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676400"/>
            <a:ext cx="323850" cy="323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45A9BE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45A9BE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45A9B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45A9BE"/>
                </a:solidFill>
                <a:latin typeface="Segoe UI"/>
                <a:ea typeface="Segoe UI"/>
                <a:cs typeface="Segoe UI"/>
              </a:rPr>
              <a:t>B</a:t>
            </a:r>
          </a:p>
        </p:txBody>
      </p:sp>
      <p:sp>
        <p:nvSpPr>
          <p:cNvPr id="11" name="S2_PhaseLabel_B">
            <a:extLst xmlns:a="http://schemas.openxmlformats.org/drawingml/2006/main">
              <a:ext uri="{FF2B5EF4-FFF2-40B4-BE49-F238E27FC236}">
                <a16:creationId xmlns:a16="http://schemas.microsoft.com/office/drawing/2014/main" id="{08C1C638-0FF0-418F-9C24-AE119B94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0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05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CHẠY NỀN</a:t>
            </a:r>
          </a:p>
        </p:txBody>
      </p:sp>
      <p:sp>
        <p:nvSpPr>
          <p:cNvPr id="12" name="S2_Gates_B">
            <a:extLst xmlns:a="http://schemas.openxmlformats.org/drawingml/2006/main">
              <a:ext uri="{FF2B5EF4-FFF2-40B4-BE49-F238E27FC236}">
                <a16:creationId xmlns:a16="http://schemas.microsoft.com/office/drawing/2014/main" id="{AA3DCF81-CD4B-4386-B75E-28160265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14550"/>
            <a:ext cx="876300" cy="2667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45A9BE"/>
          </a:solidFill>
          <a:ln xmlns:a="http://schemas.openxmlformats.org/drawingml/2006/main" w="9525">
            <a:solidFill>
              <a:srgbClr val="45A9BE"/>
            </a:solidFill>
            <a:prstDash val="solid"/>
          </a:ln>
        </p:spPr>
        <p:txBody>
          <a:bodyPr xmlns:a="http://schemas.openxmlformats.org/drawingml/2006/main" lIns="47625" tIns="0" rIns="47625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091522"/>
                </a:solidFill>
                <a:latin typeface="Segoe UI"/>
                <a:ea typeface="Segoe UI"/>
                <a:cs typeface="Segoe UI"/>
              </a:rPr>
              <a:t>GATE 4–5</a:t>
            </a:r>
          </a:p>
        </p:txBody>
      </p:sp>
      <p:sp>
        <p:nvSpPr>
          <p:cNvPr id="13" name="S2_PhaseDetail_B">
            <a:extLst xmlns:a="http://schemas.openxmlformats.org/drawingml/2006/main">
              <a:ext uri="{FF2B5EF4-FFF2-40B4-BE49-F238E27FC236}">
                <a16:creationId xmlns:a16="http://schemas.microsoft.com/office/drawing/2014/main" id="{ACBE4665-1166-4FD1-9A03-61C6ACE68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571750"/>
            <a:ext cx="1790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12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HTTP 202 + statusUrl</a:t>
            </a:r>
          </a:p>
          <a:p xmlns:a="http://schemas.openxmlformats.org/drawingml/2006/main">
            <a:pPr algn="l">
              <a:defRPr sz="112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Worker lease 600s</a:t>
            </a:r>
          </a:p>
          <a:p xmlns:a="http://schemas.openxmlformats.org/drawingml/2006/main">
            <a:pPr algn="l">
              <a:defRPr sz="112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Reclaim sau restart</a:t>
            </a:r>
          </a:p>
        </p:txBody>
      </p:sp>
      <p:sp>
        <p:nvSpPr>
          <p:cNvPr id="14" name="S2_PhaseArrow_2">
            <a:extLst xmlns:a="http://schemas.openxmlformats.org/drawingml/2006/main">
              <a:ext uri="{FF2B5EF4-FFF2-40B4-BE49-F238E27FC236}">
                <a16:creationId xmlns:a16="http://schemas.microsoft.com/office/drawing/2014/main" id="{C58FC3BB-CB52-4F3A-B8C7-0FB4DCE79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2428875"/>
            <a:ext cx="1524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445C"/>
          </a:solidFill>
          <a:ln xmlns:a="http://schemas.openxmlformats.org/drawingml/2006/main" w="0">
            <a:solidFill>
              <a:srgbClr val="31445C"/>
            </a:solidFill>
          </a:ln>
        </p:spPr>
      </p:sp>
      <p:sp>
        <p:nvSpPr>
          <p:cNvPr id="15" name="S2_Phase_C">
            <a:extLst xmlns:a="http://schemas.openxmlformats.org/drawingml/2006/main">
              <a:ext uri="{FF2B5EF4-FFF2-40B4-BE49-F238E27FC236}">
                <a16:creationId xmlns:a16="http://schemas.microsoft.com/office/drawing/2014/main" id="{3E2F3AC3-BDF1-4261-8F69-FD6F6DFD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504950"/>
            <a:ext cx="2095500" cy="213360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112338"/>
          </a:solidFill>
          <a:ln xmlns:a="http://schemas.openxmlformats.org/drawingml/2006/main" w="9525">
            <a:solidFill>
              <a:srgbClr val="31445C"/>
            </a:solidFill>
            <a:prstDash val="solid"/>
          </a:ln>
        </p:spPr>
      </p:sp>
      <p:sp>
        <p:nvSpPr>
          <p:cNvPr id="16" name="S2_PhaseIcon_C">
            <a:extLst xmlns:a="http://schemas.openxmlformats.org/drawingml/2006/main">
              <a:ext uri="{FF2B5EF4-FFF2-40B4-BE49-F238E27FC236}">
                <a16:creationId xmlns:a16="http://schemas.microsoft.com/office/drawing/2014/main" id="{FB3AB2BD-E002-4179-9809-04EFEBFEA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676400"/>
            <a:ext cx="323850" cy="323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F8FD8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5F8FD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5F8FD8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5F8FD8"/>
                </a:solidFill>
                <a:latin typeface="Segoe UI"/>
                <a:ea typeface="Segoe UI"/>
                <a:cs typeface="Segoe UI"/>
              </a:rPr>
              <a:t>C</a:t>
            </a:r>
          </a:p>
        </p:txBody>
      </p:sp>
      <p:sp>
        <p:nvSpPr>
          <p:cNvPr id="17" name="S2_PhaseLabel_C">
            <a:extLst xmlns:a="http://schemas.openxmlformats.org/drawingml/2006/main">
              <a:ext uri="{FF2B5EF4-FFF2-40B4-BE49-F238E27FC236}">
                <a16:creationId xmlns:a16="http://schemas.microsoft.com/office/drawing/2014/main" id="{B78CBE0A-47E2-40FE-B687-45BB49C64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67640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0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05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AI ĐỌC</a:t>
            </a:r>
          </a:p>
        </p:txBody>
      </p:sp>
      <p:sp>
        <p:nvSpPr>
          <p:cNvPr id="18" name="S2_Gates_C">
            <a:extLst xmlns:a="http://schemas.openxmlformats.org/drawingml/2006/main">
              <a:ext uri="{FF2B5EF4-FFF2-40B4-BE49-F238E27FC236}">
                <a16:creationId xmlns:a16="http://schemas.microsoft.com/office/drawing/2014/main" id="{D3FB4DCD-C388-47D4-834C-BD4A9E1F2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114550"/>
            <a:ext cx="876300" cy="2667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5F8FD8"/>
          </a:solidFill>
          <a:ln xmlns:a="http://schemas.openxmlformats.org/drawingml/2006/main" w="9525">
            <a:solidFill>
              <a:srgbClr val="5F8FD8"/>
            </a:solidFill>
            <a:prstDash val="solid"/>
          </a:ln>
        </p:spPr>
        <p:txBody>
          <a:bodyPr xmlns:a="http://schemas.openxmlformats.org/drawingml/2006/main" lIns="47625" tIns="0" rIns="47625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091522"/>
                </a:solidFill>
                <a:latin typeface="Segoe UI"/>
                <a:ea typeface="Segoe UI"/>
                <a:cs typeface="Segoe UI"/>
              </a:rPr>
              <a:t>GATE 6–7</a:t>
            </a:r>
          </a:p>
        </p:txBody>
      </p:sp>
      <p:sp>
        <p:nvSpPr>
          <p:cNvPr id="19" name="S2_PhaseDetail_C">
            <a:extLst xmlns:a="http://schemas.openxmlformats.org/drawingml/2006/main">
              <a:ext uri="{FF2B5EF4-FFF2-40B4-BE49-F238E27FC236}">
                <a16:creationId xmlns:a16="http://schemas.microsoft.com/office/drawing/2014/main" id="{7494AFEE-4CF4-44DC-A89B-83D7F573D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571750"/>
            <a:ext cx="1790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12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1 AI call đồng thời</a:t>
            </a:r>
          </a:p>
          <a:p xmlns:a="http://schemas.openxmlformats.org/drawingml/2006/main">
            <a:pPr algn="l">
              <a:defRPr sz="112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Schema → DTO → semantic</a:t>
            </a:r>
          </a:p>
          <a:p xmlns:a="http://schemas.openxmlformats.org/drawingml/2006/main">
            <a:pPr algn="l">
              <a:defRPr sz="112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Repair ≤ 1</a:t>
            </a:r>
          </a:p>
        </p:txBody>
      </p:sp>
      <p:sp>
        <p:nvSpPr>
          <p:cNvPr id="20" name="S2_PhaseArrow_3">
            <a:extLst xmlns:a="http://schemas.openxmlformats.org/drawingml/2006/main">
              <a:ext uri="{FF2B5EF4-FFF2-40B4-BE49-F238E27FC236}">
                <a16:creationId xmlns:a16="http://schemas.microsoft.com/office/drawing/2014/main" id="{9FC4BF87-C346-41F3-92DC-BDDB8090F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428875"/>
            <a:ext cx="1524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445C"/>
          </a:solidFill>
          <a:ln xmlns:a="http://schemas.openxmlformats.org/drawingml/2006/main" w="0">
            <a:solidFill>
              <a:srgbClr val="31445C"/>
            </a:solidFill>
          </a:ln>
        </p:spPr>
      </p:sp>
      <p:sp>
        <p:nvSpPr>
          <p:cNvPr id="21" name="S2_Phase_D">
            <a:extLst xmlns:a="http://schemas.openxmlformats.org/drawingml/2006/main">
              <a:ext uri="{FF2B5EF4-FFF2-40B4-BE49-F238E27FC236}">
                <a16:creationId xmlns:a16="http://schemas.microsoft.com/office/drawing/2014/main" id="{0230052D-D80D-4218-A8E8-45F98D6BD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504950"/>
            <a:ext cx="2095500" cy="213360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112338"/>
          </a:solidFill>
          <a:ln xmlns:a="http://schemas.openxmlformats.org/drawingml/2006/main" w="9525">
            <a:solidFill>
              <a:srgbClr val="31445C"/>
            </a:solidFill>
            <a:prstDash val="solid"/>
          </a:ln>
        </p:spPr>
      </p:sp>
      <p:sp>
        <p:nvSpPr>
          <p:cNvPr id="22" name="S2_PhaseIcon_D">
            <a:extLst xmlns:a="http://schemas.openxmlformats.org/drawingml/2006/main">
              <a:ext uri="{FF2B5EF4-FFF2-40B4-BE49-F238E27FC236}">
                <a16:creationId xmlns:a16="http://schemas.microsoft.com/office/drawing/2014/main" id="{1C705769-6E03-44A9-A35A-10628711C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676400"/>
            <a:ext cx="323850" cy="323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59A4A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C59A4A"/>
                </a:solidFill>
                <a:latin typeface="Segoe UI"/>
                <a:ea typeface="Segoe UI"/>
                <a:cs typeface="Segoe UI"/>
              </a:rPr>
              <a:t>D</a:t>
            </a:r>
          </a:p>
        </p:txBody>
      </p:sp>
      <p:sp>
        <p:nvSpPr>
          <p:cNvPr id="23" name="S2_PhaseLabel_D">
            <a:extLst xmlns:a="http://schemas.openxmlformats.org/drawingml/2006/main">
              <a:ext uri="{FF2B5EF4-FFF2-40B4-BE49-F238E27FC236}">
                <a16:creationId xmlns:a16="http://schemas.microsoft.com/office/drawing/2014/main" id="{82433ED5-B3EA-4C56-BF8C-386A37F01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67640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0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05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POLICY C#</a:t>
            </a:r>
          </a:p>
        </p:txBody>
      </p:sp>
      <p:sp>
        <p:nvSpPr>
          <p:cNvPr id="24" name="S2_Gates_D">
            <a:extLst xmlns:a="http://schemas.openxmlformats.org/drawingml/2006/main">
              <a:ext uri="{FF2B5EF4-FFF2-40B4-BE49-F238E27FC236}">
                <a16:creationId xmlns:a16="http://schemas.microsoft.com/office/drawing/2014/main" id="{13A52237-55C9-4683-BA20-75A3DE392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114550"/>
            <a:ext cx="876300" cy="2667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C59A4A"/>
          </a:solidFill>
          <a:ln xmlns:a="http://schemas.openxmlformats.org/drawingml/2006/main" w="9525">
            <a:solidFill>
              <a:srgbClr val="C59A4A"/>
            </a:solidFill>
            <a:prstDash val="solid"/>
          </a:ln>
        </p:spPr>
        <p:txBody>
          <a:bodyPr xmlns:a="http://schemas.openxmlformats.org/drawingml/2006/main" lIns="47625" tIns="0" rIns="47625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091522"/>
                </a:solidFill>
                <a:latin typeface="Segoe UI"/>
                <a:ea typeface="Segoe UI"/>
                <a:cs typeface="Segoe UI"/>
              </a:rPr>
              <a:t>GATE 8</a:t>
            </a:r>
          </a:p>
        </p:txBody>
      </p:sp>
      <p:sp>
        <p:nvSpPr>
          <p:cNvPr id="25" name="S2_PhaseDetail_D">
            <a:extLst xmlns:a="http://schemas.openxmlformats.org/drawingml/2006/main">
              <a:ext uri="{FF2B5EF4-FFF2-40B4-BE49-F238E27FC236}">
                <a16:creationId xmlns:a16="http://schemas.microsoft.com/office/drawing/2014/main" id="{08DA937D-1BBF-48FC-B5C1-97B4A905A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571750"/>
            <a:ext cx="1790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12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PolicyDecisionEngine</a:t>
            </a:r>
          </a:p>
          <a:p xmlns:a="http://schemas.openxmlformats.org/drawingml/2006/main">
            <a:pPr algn="l">
              <a:defRPr sz="112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route theo rules</a:t>
            </a:r>
          </a:p>
          <a:p xmlns:a="http://schemas.openxmlformats.org/drawingml/2006/main">
            <a:pPr algn="l">
              <a:defRPr sz="112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không dựa confidence</a:t>
            </a:r>
          </a:p>
        </p:txBody>
      </p:sp>
      <p:sp>
        <p:nvSpPr>
          <p:cNvPr id="26" name="S2_PolicyToOutcome">
            <a:extLst xmlns:a="http://schemas.openxmlformats.org/drawingml/2006/main">
              <a:ext uri="{FF2B5EF4-FFF2-40B4-BE49-F238E27FC236}">
                <a16:creationId xmlns:a16="http://schemas.microsoft.com/office/drawing/2014/main" id="{8A42486A-E07F-4447-927C-2F0C78B35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47925"/>
            <a:ext cx="1714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59A4A"/>
          </a:solidFill>
          <a:ln xmlns:a="http://schemas.openxmlformats.org/drawingml/2006/main" w="0">
            <a:solidFill>
              <a:srgbClr val="C59A4A"/>
            </a:solidFill>
          </a:ln>
        </p:spPr>
      </p:sp>
      <p:sp>
        <p:nvSpPr>
          <p:cNvPr id="27" name="S2_Auto">
            <a:extLst xmlns:a="http://schemas.openxmlformats.org/drawingml/2006/main">
              <a:ext uri="{FF2B5EF4-FFF2-40B4-BE49-F238E27FC236}">
                <a16:creationId xmlns:a16="http://schemas.microsoft.com/office/drawing/2014/main" id="{1DE52C50-DB08-4C8A-AE72-294CE5066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04950"/>
            <a:ext cx="201930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62A42"/>
          </a:solidFill>
          <a:ln xmlns:a="http://schemas.openxmlformats.org/drawingml/2006/main" w="9525">
            <a:solidFill>
              <a:srgbClr val="4FAF91"/>
            </a:solidFill>
            <a:prstDash val="solid"/>
          </a:ln>
        </p:spPr>
      </p:sp>
      <p:sp>
        <p:nvSpPr>
          <p:cNvPr id="28" name="S2_AutoPill">
            <a:extLst xmlns:a="http://schemas.openxmlformats.org/drawingml/2006/main">
              <a:ext uri="{FF2B5EF4-FFF2-40B4-BE49-F238E27FC236}">
                <a16:creationId xmlns:a16="http://schemas.microsoft.com/office/drawing/2014/main" id="{C402EE90-CC09-4B52-95CA-547716244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638300"/>
            <a:ext cx="1257300" cy="2667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4FAF91"/>
          </a:solidFill>
          <a:ln xmlns:a="http://schemas.openxmlformats.org/drawingml/2006/main" w="9525">
            <a:solidFill>
              <a:srgbClr val="4FAF91"/>
            </a:solidFill>
            <a:prstDash val="solid"/>
          </a:ln>
        </p:spPr>
        <p:txBody>
          <a:bodyPr xmlns:a="http://schemas.openxmlformats.org/drawingml/2006/main" lIns="47625" tIns="0" rIns="47625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091522"/>
                </a:solidFill>
                <a:latin typeface="Segoe UI"/>
                <a:ea typeface="Segoe UI"/>
                <a:cs typeface="Segoe UI"/>
              </a:rPr>
              <a:t>AUTO_APPROVE</a:t>
            </a:r>
          </a:p>
        </p:txBody>
      </p:sp>
      <p:sp>
        <p:nvSpPr>
          <p:cNvPr id="29" name="S2_AutoText">
            <a:extLst xmlns:a="http://schemas.openxmlformats.org/drawingml/2006/main">
              <a:ext uri="{FF2B5EF4-FFF2-40B4-BE49-F238E27FC236}">
                <a16:creationId xmlns:a16="http://schemas.microsoft.com/office/drawing/2014/main" id="{C2D15C6A-BA06-4009-BA93-329225D3A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00025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05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Ca rõ ràng</a:t>
            </a:r>
          </a:p>
          <a:p xmlns:a="http://schemas.openxmlformats.org/drawingml/2006/main">
            <a:pPr algn="l">
              <a:defRPr sz="10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05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Ghi lịch sử; không chờ quản lý</a:t>
            </a:r>
          </a:p>
        </p:txBody>
      </p:sp>
      <p:sp>
        <p:nvSpPr>
          <p:cNvPr id="30" name="S2_Escalate">
            <a:extLst xmlns:a="http://schemas.openxmlformats.org/drawingml/2006/main">
              <a:ext uri="{FF2B5EF4-FFF2-40B4-BE49-F238E27FC236}">
                <a16:creationId xmlns:a16="http://schemas.microsoft.com/office/drawing/2014/main" id="{C587D5A6-1F5D-4726-8E8D-6B0B4EBB8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647950"/>
            <a:ext cx="2019300" cy="13716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62A42"/>
          </a:solidFill>
          <a:ln xmlns:a="http://schemas.openxmlformats.org/drawingml/2006/main" w="9525">
            <a:solidFill>
              <a:srgbClr val="C59A4A"/>
            </a:solidFill>
            <a:prstDash val="solid"/>
          </a:ln>
        </p:spPr>
      </p:sp>
      <p:sp>
        <p:nvSpPr>
          <p:cNvPr id="31" name="S2_EscalatePill">
            <a:extLst xmlns:a="http://schemas.openxmlformats.org/drawingml/2006/main">
              <a:ext uri="{FF2B5EF4-FFF2-40B4-BE49-F238E27FC236}">
                <a16:creationId xmlns:a16="http://schemas.microsoft.com/office/drawing/2014/main" id="{9B2E06AE-238C-46FD-9808-792782793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781300"/>
            <a:ext cx="1619250" cy="2667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C59A4A"/>
          </a:solidFill>
          <a:ln xmlns:a="http://schemas.openxmlformats.org/drawingml/2006/main" w="9525">
            <a:solidFill>
              <a:srgbClr val="C59A4A"/>
            </a:solidFill>
            <a:prstDash val="solid"/>
          </a:ln>
        </p:spPr>
        <p:txBody>
          <a:bodyPr xmlns:a="http://schemas.openxmlformats.org/drawingml/2006/main" lIns="47625" tIns="0" rIns="47625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091522"/>
                </a:solidFill>
                <a:latin typeface="Segoe UI"/>
                <a:ea typeface="Segoe UI"/>
                <a:cs typeface="Segoe UI"/>
              </a:rPr>
              <a:t>GATE 9 • ESCALATE_*</a:t>
            </a:r>
          </a:p>
        </p:txBody>
      </p:sp>
      <p:sp>
        <p:nvSpPr>
          <p:cNvPr id="32" name="S2_EmployeeIcon_head">
            <a:extLst xmlns:a="http://schemas.openxmlformats.org/drawingml/2006/main">
              <a:ext uri="{FF2B5EF4-FFF2-40B4-BE49-F238E27FC236}">
                <a16:creationId xmlns:a16="http://schemas.microsoft.com/office/drawing/2014/main" id="{B0AF0A3C-3A48-419B-B2CE-9DADBD36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209925"/>
            <a:ext cx="95250" cy="95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59A4A"/>
            </a:solidFill>
            <a:prstDash val="solid"/>
          </a:ln>
        </p:spPr>
      </p:sp>
      <p:sp>
        <p:nvSpPr>
          <p:cNvPr id="33" name="S2_EmployeeIcon_body">
            <a:extLst xmlns:a="http://schemas.openxmlformats.org/drawingml/2006/main">
              <a:ext uri="{FF2B5EF4-FFF2-40B4-BE49-F238E27FC236}">
                <a16:creationId xmlns:a16="http://schemas.microsoft.com/office/drawing/2014/main" id="{ACADDBAB-61F7-45ED-9D2C-01001291A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314700"/>
            <a:ext cx="0" cy="123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59A4A"/>
            </a:solidFill>
            <a:prstDash val="solid"/>
          </a:ln>
        </p:spPr>
      </p:sp>
      <p:sp>
        <p:nvSpPr>
          <p:cNvPr id="34" name="S2_EmployeeIcon_arms">
            <a:extLst xmlns:a="http://schemas.openxmlformats.org/drawingml/2006/main">
              <a:ext uri="{FF2B5EF4-FFF2-40B4-BE49-F238E27FC236}">
                <a16:creationId xmlns:a16="http://schemas.microsoft.com/office/drawing/2014/main" id="{D71C2458-528A-40BC-B495-2DEF2D091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362325"/>
            <a:ext cx="171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59A4A"/>
            </a:solidFill>
            <a:prstDash val="solid"/>
          </a:ln>
        </p:spPr>
      </p:sp>
      <p:sp>
        <p:nvSpPr>
          <p:cNvPr id="35" name="S2_EmployeeIcon_left_leg">
            <a:extLst xmlns:a="http://schemas.openxmlformats.org/drawingml/2006/main">
              <a:ext uri="{FF2B5EF4-FFF2-40B4-BE49-F238E27FC236}">
                <a16:creationId xmlns:a16="http://schemas.microsoft.com/office/drawing/2014/main" id="{DF8525C2-2B33-40A6-B8E5-D4DAF553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438525"/>
            <a:ext cx="66675" cy="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59A4A"/>
            </a:solidFill>
            <a:prstDash val="solid"/>
          </a:ln>
        </p:spPr>
      </p:sp>
      <p:sp>
        <p:nvSpPr>
          <p:cNvPr id="36" name="S2_EmployeeIcon_right_leg">
            <a:extLst xmlns:a="http://schemas.openxmlformats.org/drawingml/2006/main">
              <a:ext uri="{FF2B5EF4-FFF2-40B4-BE49-F238E27FC236}">
                <a16:creationId xmlns:a16="http://schemas.microsoft.com/office/drawing/2014/main" id="{A6645D58-16F6-4A08-888C-51846D558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438525"/>
            <a:ext cx="66675" cy="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59A4A"/>
            </a:solidFill>
            <a:prstDash val="solid"/>
          </a:ln>
        </p:spPr>
      </p:sp>
      <p:sp>
        <p:nvSpPr>
          <p:cNvPr id="37" name="S2_Employee">
            <a:extLst xmlns:a="http://schemas.openxmlformats.org/drawingml/2006/main">
              <a:ext uri="{FF2B5EF4-FFF2-40B4-BE49-F238E27FC236}">
                <a16:creationId xmlns:a16="http://schemas.microsoft.com/office/drawing/2014/main" id="{AAF88D40-B73A-4E63-9D89-87DB2B48A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200400"/>
            <a:ext cx="1381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975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Nhân viên chuyển tiếp</a:t>
            </a:r>
          </a:p>
        </p:txBody>
      </p:sp>
      <p:sp>
        <p:nvSpPr>
          <p:cNvPr id="38" name="S2_ManagerIcon_head">
            <a:extLst xmlns:a="http://schemas.openxmlformats.org/drawingml/2006/main">
              <a:ext uri="{FF2B5EF4-FFF2-40B4-BE49-F238E27FC236}">
                <a16:creationId xmlns:a16="http://schemas.microsoft.com/office/drawing/2014/main" id="{ADBC0FA5-281D-4C13-8D93-C43B3900B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543300"/>
            <a:ext cx="95250" cy="95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59A4A"/>
            </a:solidFill>
            <a:prstDash val="solid"/>
          </a:ln>
        </p:spPr>
      </p:sp>
      <p:sp>
        <p:nvSpPr>
          <p:cNvPr id="39" name="S2_ManagerIcon_body">
            <a:extLst xmlns:a="http://schemas.openxmlformats.org/drawingml/2006/main">
              <a:ext uri="{FF2B5EF4-FFF2-40B4-BE49-F238E27FC236}">
                <a16:creationId xmlns:a16="http://schemas.microsoft.com/office/drawing/2014/main" id="{D8857262-B1B3-447B-B5FE-5454E7551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648075"/>
            <a:ext cx="0" cy="123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59A4A"/>
            </a:solidFill>
            <a:prstDash val="solid"/>
          </a:ln>
        </p:spPr>
      </p:sp>
      <p:sp>
        <p:nvSpPr>
          <p:cNvPr id="40" name="S2_ManagerIcon_arms">
            <a:extLst xmlns:a="http://schemas.openxmlformats.org/drawingml/2006/main">
              <a:ext uri="{FF2B5EF4-FFF2-40B4-BE49-F238E27FC236}">
                <a16:creationId xmlns:a16="http://schemas.microsoft.com/office/drawing/2014/main" id="{E5C3965A-B2EC-40FB-AE96-E773E04DF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695700"/>
            <a:ext cx="171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59A4A"/>
            </a:solidFill>
            <a:prstDash val="solid"/>
          </a:ln>
        </p:spPr>
      </p:sp>
      <p:sp>
        <p:nvSpPr>
          <p:cNvPr id="41" name="S2_ManagerIcon_left_leg">
            <a:extLst xmlns:a="http://schemas.openxmlformats.org/drawingml/2006/main">
              <a:ext uri="{FF2B5EF4-FFF2-40B4-BE49-F238E27FC236}">
                <a16:creationId xmlns:a16="http://schemas.microsoft.com/office/drawing/2014/main" id="{D6F8D7F4-D4EE-4417-917B-5F44232E9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771900"/>
            <a:ext cx="66675" cy="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59A4A"/>
            </a:solidFill>
            <a:prstDash val="solid"/>
          </a:ln>
        </p:spPr>
      </p:sp>
      <p:sp>
        <p:nvSpPr>
          <p:cNvPr id="42" name="S2_ManagerIcon_right_leg">
            <a:extLst xmlns:a="http://schemas.openxmlformats.org/drawingml/2006/main">
              <a:ext uri="{FF2B5EF4-FFF2-40B4-BE49-F238E27FC236}">
                <a16:creationId xmlns:a16="http://schemas.microsoft.com/office/drawing/2014/main" id="{B8ED4B27-6885-43B4-AA0A-D29F52FB2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771900"/>
            <a:ext cx="66675" cy="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59A4A"/>
            </a:solidFill>
            <a:prstDash val="solid"/>
          </a:ln>
        </p:spPr>
      </p:sp>
      <p:sp>
        <p:nvSpPr>
          <p:cNvPr id="43" name="S2_Manager">
            <a:extLst xmlns:a="http://schemas.openxmlformats.org/drawingml/2006/main">
              <a:ext uri="{FF2B5EF4-FFF2-40B4-BE49-F238E27FC236}">
                <a16:creationId xmlns:a16="http://schemas.microsoft.com/office/drawing/2014/main" id="{508B97BB-F080-4639-8298-AB779BD86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533775"/>
            <a:ext cx="1381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975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Quản lý YES / NO</a:t>
            </a:r>
          </a:p>
        </p:txBody>
      </p:sp>
      <p:sp>
        <p:nvSpPr>
          <p:cNvPr id="44" name="S2_AutoDown">
            <a:extLst xmlns:a="http://schemas.openxmlformats.org/drawingml/2006/main">
              <a:ext uri="{FF2B5EF4-FFF2-40B4-BE49-F238E27FC236}">
                <a16:creationId xmlns:a16="http://schemas.microsoft.com/office/drawing/2014/main" id="{AA7DA4D8-7212-4220-A163-979584556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2428875"/>
            <a:ext cx="0" cy="2400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4FAF91"/>
            </a:solidFill>
            <a:prstDash val="solid"/>
          </a:ln>
        </p:spPr>
      </p:sp>
      <p:sp>
        <p:nvSpPr>
          <p:cNvPr id="45" name="S2_EscalateDown">
            <a:extLst xmlns:a="http://schemas.openxmlformats.org/drawingml/2006/main">
              <a:ext uri="{FF2B5EF4-FFF2-40B4-BE49-F238E27FC236}">
                <a16:creationId xmlns:a16="http://schemas.microsoft.com/office/drawing/2014/main" id="{9F71CB02-5560-4814-87D2-C6712BB9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4029075"/>
            <a:ext cx="0" cy="800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59A4A"/>
            </a:solidFill>
            <a:prstDash val="solid"/>
          </a:ln>
        </p:spPr>
      </p:sp>
      <p:sp>
        <p:nvSpPr>
          <p:cNvPr id="46" name="S2_AuditBand">
            <a:extLst xmlns:a="http://schemas.openxmlformats.org/drawingml/2006/main">
              <a:ext uri="{FF2B5EF4-FFF2-40B4-BE49-F238E27FC236}">
                <a16:creationId xmlns:a16="http://schemas.microsoft.com/office/drawing/2014/main" id="{8EDA3793-C03B-438C-82CB-92BDDE30F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762500"/>
            <a:ext cx="428625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162A42"/>
          </a:solidFill>
          <a:ln xmlns:a="http://schemas.openxmlformats.org/drawingml/2006/main" w="9525">
            <a:solidFill>
              <a:srgbClr val="31445C"/>
            </a:solidFill>
            <a:prstDash val="solid"/>
          </a:ln>
        </p:spPr>
      </p:sp>
      <p:sp>
        <p:nvSpPr>
          <p:cNvPr id="47" name="S2_AuditPill">
            <a:extLst xmlns:a="http://schemas.openxmlformats.org/drawingml/2006/main">
              <a:ext uri="{FF2B5EF4-FFF2-40B4-BE49-F238E27FC236}">
                <a16:creationId xmlns:a16="http://schemas.microsoft.com/office/drawing/2014/main" id="{C81E5AE0-1CA5-49CD-8FBF-7A3F3B426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933950"/>
            <a:ext cx="1181100" cy="2667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45A9BE"/>
          </a:solidFill>
          <a:ln xmlns:a="http://schemas.openxmlformats.org/drawingml/2006/main" w="9525">
            <a:solidFill>
              <a:srgbClr val="45A9BE"/>
            </a:solidFill>
            <a:prstDash val="solid"/>
          </a:ln>
        </p:spPr>
        <p:txBody>
          <a:bodyPr xmlns:a="http://schemas.openxmlformats.org/drawingml/2006/main" lIns="47625" tIns="0" rIns="47625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091522"/>
                </a:solidFill>
                <a:latin typeface="Segoe UI"/>
                <a:ea typeface="Segoe UI"/>
                <a:cs typeface="Segoe UI"/>
              </a:rPr>
              <a:t>AUDIT / UNDO</a:t>
            </a:r>
          </a:p>
        </p:txBody>
      </p:sp>
      <p:sp>
        <p:nvSpPr>
          <p:cNvPr id="48" name="S2_AuditText">
            <a:extLst xmlns:a="http://schemas.openxmlformats.org/drawingml/2006/main">
              <a:ext uri="{FF2B5EF4-FFF2-40B4-BE49-F238E27FC236}">
                <a16:creationId xmlns:a16="http://schemas.microsoft.com/office/drawing/2014/main" id="{223F1CDF-C6CC-40A0-9FCF-EDCF5B71B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943475"/>
            <a:ext cx="2438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125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Append-only timeline  •  Undo = event mới</a:t>
            </a:r>
          </a:p>
        </p:txBody>
      </p:sp>
      <p:sp>
        <p:nvSpPr>
          <p:cNvPr id="49" name="S2_AuditWhy">
            <a:extLst xmlns:a="http://schemas.openxmlformats.org/drawingml/2006/main">
              <a:ext uri="{FF2B5EF4-FFF2-40B4-BE49-F238E27FC236}">
                <a16:creationId xmlns:a16="http://schemas.microsoft.com/office/drawing/2014/main" id="{1F796338-2FC8-416B-8337-8B6A18442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353050"/>
            <a:ext cx="3829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Hai nhánh cùng để lại bằng chứng; UI luôn đọc trạng thái từ hồ sơ bền vững.</a:t>
            </a:r>
          </a:p>
        </p:txBody>
      </p:sp>
      <p:sp>
        <p:nvSpPr>
          <p:cNvPr id="50" name="S2_PrincipleBand">
            <a:extLst xmlns:a="http://schemas.openxmlformats.org/drawingml/2006/main">
              <a:ext uri="{FF2B5EF4-FFF2-40B4-BE49-F238E27FC236}">
                <a16:creationId xmlns:a16="http://schemas.microsoft.com/office/drawing/2014/main" id="{4EEB81F4-1EBC-49E5-AF85-C624B897D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57650"/>
            <a:ext cx="6477000" cy="17716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112338"/>
          </a:solidFill>
          <a:ln xmlns:a="http://schemas.openxmlformats.org/drawingml/2006/main" w="9525">
            <a:solidFill>
              <a:srgbClr val="31445C"/>
            </a:solidFill>
            <a:prstDash val="solid"/>
          </a:ln>
        </p:spPr>
      </p:sp>
      <p:sp>
        <p:nvSpPr>
          <p:cNvPr id="51" name="S2_PrincipleKicker">
            <a:extLst xmlns:a="http://schemas.openxmlformats.org/drawingml/2006/main">
              <a:ext uri="{FF2B5EF4-FFF2-40B4-BE49-F238E27FC236}">
                <a16:creationId xmlns:a16="http://schemas.microsoft.com/office/drawing/2014/main" id="{6248B1B2-96A2-451F-88B0-AC26537F8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481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975" b="1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NGUYÊN TẮC</a:t>
            </a:r>
          </a:p>
        </p:txBody>
      </p:sp>
      <p:sp>
        <p:nvSpPr>
          <p:cNvPr id="52" name="S2_Principle">
            <a:extLst xmlns:a="http://schemas.openxmlformats.org/drawingml/2006/main">
              <a:ext uri="{FF2B5EF4-FFF2-40B4-BE49-F238E27FC236}">
                <a16:creationId xmlns:a16="http://schemas.microsoft.com/office/drawing/2014/main" id="{8CC7BD09-8295-43DD-9923-87D6BADAD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81525"/>
            <a:ext cx="590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Request nhận nhanh bằng HTTP 202.</a:t>
            </a:r>
          </a:p>
          <a:p xmlns:a="http://schemas.openxmlformats.org/drawingml/2006/main">
            <a:pPr algn="l">
              <a:defRPr sz="16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Worker xử lý nền.</a:t>
            </a:r>
          </a:p>
          <a:p xmlns:a="http://schemas.openxmlformats.org/drawingml/2006/main">
            <a:pPr algn="l">
              <a:defRPr sz="16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AI trả facts; policy mới trả route.</a:t>
            </a:r>
          </a:p>
        </p:txBody>
      </p:sp>
    </p:spTree>
    <p:extLst>
      <p:ext uri="{BB962C8B-B14F-4D97-AF65-F5344CB8AC3E}">
        <p14:creationId xmlns:p14="http://schemas.microsoft.com/office/powerpoint/2010/main" val="14553694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15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Slide_Title">
            <a:extLst xmlns:a="http://schemas.openxmlformats.org/drawingml/2006/main">
              <a:ext uri="{FF2B5EF4-FFF2-40B4-BE49-F238E27FC236}">
                <a16:creationId xmlns:a16="http://schemas.microsoft.com/office/drawing/2014/main" id="{CE69E4E9-B2C1-4801-89FA-CC792F85F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87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Đã đo được gì — và chưa dám khẳng định gì</a:t>
            </a:r>
          </a:p>
        </p:txBody>
      </p:sp>
      <p:sp>
        <p:nvSpPr>
          <p:cNvPr id="2" name="Slide_Subtitle">
            <a:extLst xmlns:a="http://schemas.openxmlformats.org/drawingml/2006/main">
              <a:ext uri="{FF2B5EF4-FFF2-40B4-BE49-F238E27FC236}">
                <a16:creationId xmlns:a16="http://schemas.microsoft.com/office/drawing/2014/main" id="{B1616425-58FA-4962-813A-EAA857723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Không suy ROI từ fixture; dùng cùng nhiệm vụ, cùng người, cùng tiêu chí.</a:t>
            </a:r>
          </a:p>
        </p:txBody>
      </p:sp>
      <p:sp>
        <p:nvSpPr>
          <p:cNvPr id="3" name="S3_Metric_1">
            <a:extLst xmlns:a="http://schemas.openxmlformats.org/drawingml/2006/main">
              <a:ext uri="{FF2B5EF4-FFF2-40B4-BE49-F238E27FC236}">
                <a16:creationId xmlns:a16="http://schemas.microsoft.com/office/drawing/2014/main" id="{1F7BEFCB-014F-4C1F-BB78-6A113B14F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43050"/>
            <a:ext cx="2343150" cy="245745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112338"/>
          </a:solidFill>
          <a:ln xmlns:a="http://schemas.openxmlformats.org/drawingml/2006/main" w="9525">
            <a:solidFill>
              <a:srgbClr val="31445C"/>
            </a:solidFill>
            <a:prstDash val="solid"/>
          </a:ln>
        </p:spPr>
      </p:sp>
      <p:sp>
        <p:nvSpPr>
          <p:cNvPr id="4" name="S3_MetricLabel_1">
            <a:extLst xmlns:a="http://schemas.openxmlformats.org/drawingml/2006/main">
              <a:ext uri="{FF2B5EF4-FFF2-40B4-BE49-F238E27FC236}">
                <a16:creationId xmlns:a16="http://schemas.microsoft.com/office/drawing/2014/main" id="{04716BD6-5DFC-408F-BFDC-002F92887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975" b="1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OFFLINE TESTS</a:t>
            </a:r>
          </a:p>
        </p:txBody>
      </p:sp>
      <p:sp>
        <p:nvSpPr>
          <p:cNvPr id="5" name="S3_MetricValue_1">
            <a:extLst xmlns:a="http://schemas.openxmlformats.org/drawingml/2006/main">
              <a:ext uri="{FF2B5EF4-FFF2-40B4-BE49-F238E27FC236}">
                <a16:creationId xmlns:a16="http://schemas.microsoft.com/office/drawing/2014/main" id="{66DDEE4C-9725-42C4-8A70-2A3B8FD2F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2152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4050" b="1">
                <a:solidFill>
                  <a:srgbClr val="5F8FD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4050" b="1">
                <a:solidFill>
                  <a:srgbClr val="5F8FD8"/>
                </a:solidFill>
                <a:latin typeface="Segoe UI"/>
                <a:ea typeface="Segoe UI"/>
                <a:cs typeface="Segoe UI"/>
              </a:defRPr>
            </a:pPr>
            <a:r>
              <a:rPr sz="4050" b="1">
                <a:solidFill>
                  <a:srgbClr val="5F8FD8"/>
                </a:solidFill>
                <a:latin typeface="Segoe UI"/>
                <a:ea typeface="Segoe UI"/>
                <a:cs typeface="Segoe UI"/>
              </a:rPr>
              <a:t>163/163</a:t>
            </a:r>
          </a:p>
        </p:txBody>
      </p:sp>
      <p:sp>
        <p:nvSpPr>
          <p:cNvPr id="6" name="S3_MetricRule_1">
            <a:extLst xmlns:a="http://schemas.openxmlformats.org/drawingml/2006/main">
              <a:ext uri="{FF2B5EF4-FFF2-40B4-BE49-F238E27FC236}">
                <a16:creationId xmlns:a16="http://schemas.microsoft.com/office/drawing/2014/main" id="{66CA4E15-F047-46FA-8775-030487DEF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09900"/>
            <a:ext cx="1771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F8FD8"/>
            </a:solidFill>
            <a:prstDash val="solid"/>
          </a:ln>
        </p:spPr>
      </p:sp>
      <p:sp>
        <p:nvSpPr>
          <p:cNvPr id="7" name="S3_MetricDetail_1">
            <a:extLst xmlns:a="http://schemas.openxmlformats.org/drawingml/2006/main">
              <a:ext uri="{FF2B5EF4-FFF2-40B4-BE49-F238E27FC236}">
                <a16:creationId xmlns:a16="http://schemas.microsoft.com/office/drawing/2014/main" id="{B26ECED8-7149-49BE-90BA-5C24840A4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125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Release build sạch</a:t>
            </a:r>
          </a:p>
        </p:txBody>
      </p:sp>
      <p:sp>
        <p:nvSpPr>
          <p:cNvPr id="8" name="S3_Metric_2">
            <a:extLst xmlns:a="http://schemas.openxmlformats.org/drawingml/2006/main">
              <a:ext uri="{FF2B5EF4-FFF2-40B4-BE49-F238E27FC236}">
                <a16:creationId xmlns:a16="http://schemas.microsoft.com/office/drawing/2014/main" id="{4105BD6D-9D0B-4163-9AC3-15C56231A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43050"/>
            <a:ext cx="2343150" cy="245745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112338"/>
          </a:solidFill>
          <a:ln xmlns:a="http://schemas.openxmlformats.org/drawingml/2006/main" w="9525">
            <a:solidFill>
              <a:srgbClr val="31445C"/>
            </a:solidFill>
            <a:prstDash val="solid"/>
          </a:ln>
        </p:spPr>
      </p:sp>
      <p:sp>
        <p:nvSpPr>
          <p:cNvPr id="9" name="S3_MetricLabel_2">
            <a:extLst xmlns:a="http://schemas.openxmlformats.org/drawingml/2006/main">
              <a:ext uri="{FF2B5EF4-FFF2-40B4-BE49-F238E27FC236}">
                <a16:creationId xmlns:a16="http://schemas.microsoft.com/office/drawing/2014/main" id="{ACE96863-F391-4AF2-9423-92CB2467E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75260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975" b="1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10 HÓA ĐƠN MỚI</a:t>
            </a:r>
          </a:p>
        </p:txBody>
      </p:sp>
      <p:sp>
        <p:nvSpPr>
          <p:cNvPr id="10" name="S3_MetricValue_2">
            <a:extLst xmlns:a="http://schemas.openxmlformats.org/drawingml/2006/main">
              <a:ext uri="{FF2B5EF4-FFF2-40B4-BE49-F238E27FC236}">
                <a16:creationId xmlns:a16="http://schemas.microsoft.com/office/drawing/2014/main" id="{4B5FC525-ED5D-4B8A-AF3C-E163DA354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114550"/>
            <a:ext cx="2152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4500" b="1">
                <a:solidFill>
                  <a:srgbClr val="4FAF91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4500" b="1">
                <a:solidFill>
                  <a:srgbClr val="4FAF91"/>
                </a:solidFill>
                <a:latin typeface="Segoe UI"/>
                <a:ea typeface="Segoe UI"/>
                <a:cs typeface="Segoe UI"/>
              </a:defRPr>
            </a:pPr>
            <a:r>
              <a:rPr sz="4500" b="1">
                <a:solidFill>
                  <a:srgbClr val="4FAF91"/>
                </a:solidFill>
                <a:latin typeface="Segoe UI"/>
                <a:ea typeface="Segoe UI"/>
                <a:cs typeface="Segoe UI"/>
              </a:rPr>
              <a:t>8/10</a:t>
            </a:r>
          </a:p>
        </p:txBody>
      </p:sp>
      <p:sp>
        <p:nvSpPr>
          <p:cNvPr id="11" name="S3_MetricRule_2">
            <a:extLst xmlns:a="http://schemas.openxmlformats.org/drawingml/2006/main">
              <a:ext uri="{FF2B5EF4-FFF2-40B4-BE49-F238E27FC236}">
                <a16:creationId xmlns:a16="http://schemas.microsoft.com/office/drawing/2014/main" id="{6F9FB6C6-D204-4E25-A137-55A1F7A3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09900"/>
            <a:ext cx="1771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FAF91"/>
            </a:solidFill>
            <a:prstDash val="solid"/>
          </a:ln>
        </p:spPr>
      </p:sp>
      <p:sp>
        <p:nvSpPr>
          <p:cNvPr id="12" name="S3_MetricDetail_2">
            <a:extLst xmlns:a="http://schemas.openxmlformats.org/drawingml/2006/main">
              <a:ext uri="{FF2B5EF4-FFF2-40B4-BE49-F238E27FC236}">
                <a16:creationId xmlns:a16="http://schemas.microsoft.com/office/drawing/2014/main" id="{7A827A88-B1D6-422C-B705-126476E80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2575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125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0 missed • 2 over fail-safe</a:t>
            </a:r>
          </a:p>
        </p:txBody>
      </p:sp>
      <p:sp>
        <p:nvSpPr>
          <p:cNvPr id="13" name="S3_Metric_3">
            <a:extLst xmlns:a="http://schemas.openxmlformats.org/drawingml/2006/main">
              <a:ext uri="{FF2B5EF4-FFF2-40B4-BE49-F238E27FC236}">
                <a16:creationId xmlns:a16="http://schemas.microsoft.com/office/drawing/2014/main" id="{3E66A0B7-76CB-472B-A681-480E7B41E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543050"/>
            <a:ext cx="2343150" cy="245745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112338"/>
          </a:solidFill>
          <a:ln xmlns:a="http://schemas.openxmlformats.org/drawingml/2006/main" w="9525">
            <a:solidFill>
              <a:srgbClr val="31445C"/>
            </a:solidFill>
            <a:prstDash val="solid"/>
          </a:ln>
        </p:spPr>
      </p:sp>
      <p:sp>
        <p:nvSpPr>
          <p:cNvPr id="14" name="S3_MetricLabel_3">
            <a:extLst xmlns:a="http://schemas.openxmlformats.org/drawingml/2006/main">
              <a:ext uri="{FF2B5EF4-FFF2-40B4-BE49-F238E27FC236}">
                <a16:creationId xmlns:a16="http://schemas.microsoft.com/office/drawing/2014/main" id="{81AB207F-6739-48DA-ABCA-894E800EE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75260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975" b="1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VERIFY LIVE</a:t>
            </a:r>
          </a:p>
        </p:txBody>
      </p:sp>
      <p:sp>
        <p:nvSpPr>
          <p:cNvPr id="15" name="S3_MetricValue_3">
            <a:extLst xmlns:a="http://schemas.openxmlformats.org/drawingml/2006/main">
              <a:ext uri="{FF2B5EF4-FFF2-40B4-BE49-F238E27FC236}">
                <a16:creationId xmlns:a16="http://schemas.microsoft.com/office/drawing/2014/main" id="{5BFC1852-87AE-4BD8-939C-FBA9B6334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114550"/>
            <a:ext cx="2152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4500" b="1">
                <a:solidFill>
                  <a:srgbClr val="45A9BE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4500" b="1">
                <a:solidFill>
                  <a:srgbClr val="45A9BE"/>
                </a:solidFill>
                <a:latin typeface="Segoe UI"/>
                <a:ea typeface="Segoe UI"/>
                <a:cs typeface="Segoe UI"/>
              </a:defRPr>
            </a:pPr>
            <a:r>
              <a:rPr sz="4500" b="1">
                <a:solidFill>
                  <a:srgbClr val="45A9BE"/>
                </a:solidFill>
                <a:latin typeface="Segoe UI"/>
                <a:ea typeface="Segoe UI"/>
                <a:cs typeface="Segoe UI"/>
              </a:rPr>
              <a:t>5/5</a:t>
            </a:r>
          </a:p>
        </p:txBody>
      </p:sp>
      <p:sp>
        <p:nvSpPr>
          <p:cNvPr id="16" name="S3_MetricRule_3">
            <a:extLst xmlns:a="http://schemas.openxmlformats.org/drawingml/2006/main">
              <a:ext uri="{FF2B5EF4-FFF2-40B4-BE49-F238E27FC236}">
                <a16:creationId xmlns:a16="http://schemas.microsoft.com/office/drawing/2014/main" id="{DEF9B2C0-E7DE-4EDD-854A-06E48818D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09900"/>
            <a:ext cx="1771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5A9BE"/>
            </a:solidFill>
            <a:prstDash val="solid"/>
          </a:ln>
        </p:spPr>
      </p:sp>
      <p:sp>
        <p:nvSpPr>
          <p:cNvPr id="17" name="S3_MetricDetail_3">
            <a:extLst xmlns:a="http://schemas.openxmlformats.org/drawingml/2006/main">
              <a:ext uri="{FF2B5EF4-FFF2-40B4-BE49-F238E27FC236}">
                <a16:creationId xmlns:a16="http://schemas.microsoft.com/office/drawing/2014/main" id="{9D47550C-6F3D-4F8C-9615-3963F1CCB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2575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125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65.004s</a:t>
            </a:r>
          </a:p>
        </p:txBody>
      </p:sp>
      <p:sp>
        <p:nvSpPr>
          <p:cNvPr id="18" name="S3_Pending">
            <a:extLst xmlns:a="http://schemas.openxmlformats.org/drawingml/2006/main">
              <a:ext uri="{FF2B5EF4-FFF2-40B4-BE49-F238E27FC236}">
                <a16:creationId xmlns:a16="http://schemas.microsoft.com/office/drawing/2014/main" id="{C595B75B-AF9B-4F96-BC73-D4B693C5E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543050"/>
            <a:ext cx="3257550" cy="34671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162A42"/>
          </a:solidFill>
          <a:ln xmlns:a="http://schemas.openxmlformats.org/drawingml/2006/main" w="9525">
            <a:solidFill>
              <a:srgbClr val="C59A4A"/>
            </a:solidFill>
            <a:prstDash val="solid"/>
          </a:ln>
        </p:spPr>
      </p:sp>
      <p:sp>
        <p:nvSpPr>
          <p:cNvPr id="19" name="S3_PendingPill">
            <a:extLst xmlns:a="http://schemas.openxmlformats.org/drawingml/2006/main">
              <a:ext uri="{FF2B5EF4-FFF2-40B4-BE49-F238E27FC236}">
                <a16:creationId xmlns:a16="http://schemas.microsoft.com/office/drawing/2014/main" id="{A7378C0D-2755-4E63-9A73-E7D4E6F2D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733550"/>
            <a:ext cx="1847850" cy="2667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C59A4A"/>
          </a:solidFill>
          <a:ln xmlns:a="http://schemas.openxmlformats.org/drawingml/2006/main" w="9525">
            <a:solidFill>
              <a:srgbClr val="C59A4A"/>
            </a:solidFill>
            <a:prstDash val="solid"/>
          </a:ln>
        </p:spPr>
        <p:txBody>
          <a:bodyPr xmlns:a="http://schemas.openxmlformats.org/drawingml/2006/main" lIns="47625" tIns="0" rIns="47625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091522"/>
                </a:solidFill>
                <a:latin typeface="Segoe UI"/>
                <a:ea typeface="Segoe UI"/>
                <a:cs typeface="Segoe UI"/>
              </a:rPr>
              <a:t>ĐANG CHỜ ĐO • PENDING</a:t>
            </a:r>
          </a:p>
        </p:txBody>
      </p:sp>
      <p:sp>
        <p:nvSpPr>
          <p:cNvPr id="20" name="S3_PendingMetrics">
            <a:extLst xmlns:a="http://schemas.openxmlformats.org/drawingml/2006/main">
              <a:ext uri="{FF2B5EF4-FFF2-40B4-BE49-F238E27FC236}">
                <a16:creationId xmlns:a16="http://schemas.microsoft.com/office/drawing/2014/main" id="{158DE565-EFA1-4290-9081-9C3E0C19E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190750"/>
            <a:ext cx="2838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225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ΔT   +   ΔH</a:t>
            </a:r>
          </a:p>
        </p:txBody>
      </p:sp>
      <p:sp>
        <p:nvSpPr>
          <p:cNvPr id="21" name="S3_PendingUsers">
            <a:extLst xmlns:a="http://schemas.openxmlformats.org/drawingml/2006/main">
              <a:ext uri="{FF2B5EF4-FFF2-40B4-BE49-F238E27FC236}">
                <a16:creationId xmlns:a16="http://schemas.microsoft.com/office/drawing/2014/main" id="{3F73808C-651C-4ED3-BAA6-69B5F96F8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724150"/>
            <a:ext cx="2838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050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pPr>
            <a:r>
              <a:rPr sz="1050" b="1">
                <a:solidFill>
                  <a:srgbClr val="C59A4A"/>
                </a:solidFill>
                <a:latin typeface="Segoe UI"/>
                <a:ea typeface="Segoe UI"/>
                <a:cs typeface="Segoe UI"/>
              </a:rPr>
              <a:t>3 người dùng • phản hồi dự kiến 16/10</a:t>
            </a:r>
          </a:p>
        </p:txBody>
      </p:sp>
      <p:sp>
        <p:nvSpPr>
          <p:cNvPr id="22" name="S3_MethodLabel">
            <a:extLst xmlns:a="http://schemas.openxmlformats.org/drawingml/2006/main">
              <a:ext uri="{FF2B5EF4-FFF2-40B4-BE49-F238E27FC236}">
                <a16:creationId xmlns:a16="http://schemas.microsoft.com/office/drawing/2014/main" id="{B960673F-4FED-4E8F-95C0-877A61146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181350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900" b="1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PAIRED METHOD</a:t>
            </a:r>
          </a:p>
        </p:txBody>
      </p:sp>
      <p:sp>
        <p:nvSpPr>
          <p:cNvPr id="23" name="S3_MethodIcon_1">
            <a:extLst xmlns:a="http://schemas.openxmlformats.org/drawingml/2006/main">
              <a:ext uri="{FF2B5EF4-FFF2-40B4-BE49-F238E27FC236}">
                <a16:creationId xmlns:a16="http://schemas.microsoft.com/office/drawing/2014/main" id="{268E8BA4-7002-4B89-B021-216ACF340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486150"/>
            <a:ext cx="323850" cy="323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59A4A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C59A4A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24" name="S3_MethodText_1">
            <a:extLst xmlns:a="http://schemas.openxmlformats.org/drawingml/2006/main">
              <a:ext uri="{FF2B5EF4-FFF2-40B4-BE49-F238E27FC236}">
                <a16:creationId xmlns:a16="http://schemas.microsoft.com/office/drawing/2014/main" id="{02AECB66-221E-4281-BF96-AE6425319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543300"/>
            <a:ext cx="2362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975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Cùng người / cùng task</a:t>
            </a:r>
          </a:p>
        </p:txBody>
      </p:sp>
      <p:sp>
        <p:nvSpPr>
          <p:cNvPr id="25" name="S3_MethodIcon_2">
            <a:extLst xmlns:a="http://schemas.openxmlformats.org/drawingml/2006/main">
              <a:ext uri="{FF2B5EF4-FFF2-40B4-BE49-F238E27FC236}">
                <a16:creationId xmlns:a16="http://schemas.microsoft.com/office/drawing/2014/main" id="{C69E36ED-C1EC-4BC4-877C-F156CC27E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819525"/>
            <a:ext cx="323850" cy="323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59A4A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C59A4A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26" name="S3_MethodText_2">
            <a:extLst xmlns:a="http://schemas.openxmlformats.org/drawingml/2006/main">
              <a:ext uri="{FF2B5EF4-FFF2-40B4-BE49-F238E27FC236}">
                <a16:creationId xmlns:a16="http://schemas.microsoft.com/office/drawing/2014/main" id="{2F9C6F15-FECF-4977-A485-0E649D87F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876675"/>
            <a:ext cx="2362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975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Timestamp + số lần chạm</a:t>
            </a:r>
          </a:p>
        </p:txBody>
      </p:sp>
      <p:sp>
        <p:nvSpPr>
          <p:cNvPr id="27" name="S3_MethodIcon_3">
            <a:extLst xmlns:a="http://schemas.openxmlformats.org/drawingml/2006/main">
              <a:ext uri="{FF2B5EF4-FFF2-40B4-BE49-F238E27FC236}">
                <a16:creationId xmlns:a16="http://schemas.microsoft.com/office/drawing/2014/main" id="{B5E078AB-45AE-4C83-9423-922B8EA0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152900"/>
            <a:ext cx="323850" cy="323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59A4A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C59A4A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8" name="S3_MethodText_3">
            <a:extLst xmlns:a="http://schemas.openxmlformats.org/drawingml/2006/main">
              <a:ext uri="{FF2B5EF4-FFF2-40B4-BE49-F238E27FC236}">
                <a16:creationId xmlns:a16="http://schemas.microsoft.com/office/drawing/2014/main" id="{6DC074EC-0CD5-4D16-85CD-F34C225F3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210050"/>
            <a:ext cx="2362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975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So median trước / sau</a:t>
            </a:r>
          </a:p>
        </p:txBody>
      </p:sp>
      <p:sp>
        <p:nvSpPr>
          <p:cNvPr id="29" name="S3_MethodIcon_4">
            <a:extLst xmlns:a="http://schemas.openxmlformats.org/drawingml/2006/main">
              <a:ext uri="{FF2B5EF4-FFF2-40B4-BE49-F238E27FC236}">
                <a16:creationId xmlns:a16="http://schemas.microsoft.com/office/drawing/2014/main" id="{599A8B26-1D39-4B84-B5B4-95C9B3BB0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486275"/>
            <a:ext cx="323850" cy="323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59A4A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C59A4A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30" name="S3_MethodText_4">
            <a:extLst xmlns:a="http://schemas.openxmlformats.org/drawingml/2006/main">
              <a:ext uri="{FF2B5EF4-FFF2-40B4-BE49-F238E27FC236}">
                <a16:creationId xmlns:a16="http://schemas.microsoft.com/office/drawing/2014/main" id="{95209251-F32E-4386-B55A-CF83B6A2E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543425"/>
            <a:ext cx="2362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975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Giữ feedback tiêu cực</a:t>
            </a:r>
          </a:p>
        </p:txBody>
      </p:sp>
      <p:sp>
        <p:nvSpPr>
          <p:cNvPr id="31" name="S3_HonestyBand">
            <a:extLst xmlns:a="http://schemas.openxmlformats.org/drawingml/2006/main">
              <a:ext uri="{FF2B5EF4-FFF2-40B4-BE49-F238E27FC236}">
                <a16:creationId xmlns:a16="http://schemas.microsoft.com/office/drawing/2014/main" id="{916C1722-1AD7-4E7A-BD5F-EA3CD8737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19600"/>
            <a:ext cx="752475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162A42"/>
          </a:solidFill>
          <a:ln xmlns:a="http://schemas.openxmlformats.org/drawingml/2006/main" w="9525">
            <a:solidFill>
              <a:srgbClr val="31445C"/>
            </a:solidFill>
            <a:prstDash val="solid"/>
          </a:ln>
        </p:spPr>
      </p:sp>
      <p:sp>
        <p:nvSpPr>
          <p:cNvPr id="32" name="S3_HonestyKicker">
            <a:extLst xmlns:a="http://schemas.openxmlformats.org/drawingml/2006/main">
              <a:ext uri="{FF2B5EF4-FFF2-40B4-BE49-F238E27FC236}">
                <a16:creationId xmlns:a16="http://schemas.microsoft.com/office/drawing/2014/main" id="{062CE398-2D40-493E-82B9-F708A431D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975" b="1">
                <a:solidFill>
                  <a:srgbClr val="4FAF91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4FAF91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4FAF91"/>
                </a:solidFill>
                <a:latin typeface="Segoe UI"/>
                <a:ea typeface="Segoe UI"/>
                <a:cs typeface="Segoe UI"/>
              </a:rPr>
              <a:t>CÁCH ĐỌC ĐÚNG</a:t>
            </a:r>
          </a:p>
        </p:txBody>
      </p:sp>
      <p:sp>
        <p:nvSpPr>
          <p:cNvPr id="33" name="S3_HonestyText">
            <a:extLst xmlns:a="http://schemas.openxmlformats.org/drawingml/2006/main">
              <a:ext uri="{FF2B5EF4-FFF2-40B4-BE49-F238E27FC236}">
                <a16:creationId xmlns:a16="http://schemas.microsoft.com/office/drawing/2014/main" id="{93291F1C-552E-44A8-BCB2-844C4F490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7067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8/10 là mini-holdout mẫu nhỏ. Verify là fixture kỹ thuật.</a:t>
            </a:r>
          </a:p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Không số nào ở đây là production accuracy hay ROI.</a:t>
            </a:r>
          </a:p>
        </p:txBody>
      </p:sp>
      <p:sp>
        <p:nvSpPr>
          <p:cNvPr id="34" name="S3_Caption">
            <a:extLst xmlns:a="http://schemas.openxmlformats.org/drawingml/2006/main">
              <a:ext uri="{FF2B5EF4-FFF2-40B4-BE49-F238E27FC236}">
                <a16:creationId xmlns:a16="http://schemas.microsoft.com/office/drawing/2014/main" id="{63D212C8-ACC9-404B-9FD6-E715DE378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29300"/>
            <a:ext cx="1108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125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C59A4A"/>
                </a:solidFill>
                <a:latin typeface="Segoe UI"/>
                <a:ea typeface="Segoe UI"/>
                <a:cs typeface="Segoe UI"/>
              </a:rPr>
              <a:t>Mẫu nhỏ — không phải production accuracy.</a:t>
            </a:r>
          </a:p>
        </p:txBody>
      </p:sp>
    </p:spTree>
    <p:extLst>
      <p:ext uri="{BB962C8B-B14F-4D97-AF65-F5344CB8AC3E}">
        <p14:creationId xmlns:p14="http://schemas.microsoft.com/office/powerpoint/2010/main" val="19510581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15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Slide_Title">
            <a:extLst xmlns:a="http://schemas.openxmlformats.org/drawingml/2006/main">
              <a:ext uri="{FF2B5EF4-FFF2-40B4-BE49-F238E27FC236}">
                <a16:creationId xmlns:a16="http://schemas.microsoft.com/office/drawing/2014/main" id="{BD19A755-7E44-4180-A994-1AB04A5B7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87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Kiến trúc triển khai: model thay được, policy đứng yên</a:t>
            </a:r>
          </a:p>
        </p:txBody>
      </p:sp>
      <p:sp>
        <p:nvSpPr>
          <p:cNvPr id="2" name="Slide_Subtitle">
            <a:extLst xmlns:a="http://schemas.openxmlformats.org/drawingml/2006/main">
              <a:ext uri="{FF2B5EF4-FFF2-40B4-BE49-F238E27FC236}">
                <a16:creationId xmlns:a16="http://schemas.microsoft.com/office/drawing/2014/main" id="{B2EC4A8C-1DE4-4B2E-8054-8480D938B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ASP.NET Core + SQL chạy thật; fixture/runner được phân định rõ là mô phỏng.</a:t>
            </a:r>
          </a:p>
        </p:txBody>
      </p:sp>
      <p:sp>
        <p:nvSpPr>
          <p:cNvPr id="3" name="S4_LiveBadge">
            <a:extLst xmlns:a="http://schemas.openxmlformats.org/drawingml/2006/main">
              <a:ext uri="{FF2B5EF4-FFF2-40B4-BE49-F238E27FC236}">
                <a16:creationId xmlns:a16="http://schemas.microsoft.com/office/drawing/2014/main" id="{8589F9C9-C90D-467D-A652-1F30BF19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104900" cy="2667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4FAF91"/>
          </a:solidFill>
          <a:ln xmlns:a="http://schemas.openxmlformats.org/drawingml/2006/main" w="9525">
            <a:solidFill>
              <a:srgbClr val="4FAF91"/>
            </a:solidFill>
            <a:prstDash val="solid"/>
          </a:ln>
        </p:spPr>
        <p:txBody>
          <a:bodyPr xmlns:a="http://schemas.openxmlformats.org/drawingml/2006/main" lIns="47625" tIns="0" rIns="47625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091522"/>
                </a:solidFill>
                <a:latin typeface="Segoe UI"/>
                <a:ea typeface="Segoe UI"/>
                <a:cs typeface="Segoe UI"/>
              </a:rPr>
              <a:t>CHẠY THẬT</a:t>
            </a:r>
          </a:p>
        </p:txBody>
      </p:sp>
      <p:sp>
        <p:nvSpPr>
          <p:cNvPr id="4" name="S4_Layer_1">
            <a:extLst xmlns:a="http://schemas.openxmlformats.org/drawingml/2006/main">
              <a:ext uri="{FF2B5EF4-FFF2-40B4-BE49-F238E27FC236}">
                <a16:creationId xmlns:a16="http://schemas.microsoft.com/office/drawing/2014/main" id="{2423A2F2-013A-4161-97F7-E2297F467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71650"/>
            <a:ext cx="718185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112338"/>
          </a:solidFill>
          <a:ln xmlns:a="http://schemas.openxmlformats.org/drawingml/2006/main" w="9525">
            <a:solidFill>
              <a:srgbClr val="31445C"/>
            </a:solidFill>
            <a:prstDash val="solid"/>
          </a:ln>
        </p:spPr>
      </p:sp>
      <p:sp>
        <p:nvSpPr>
          <p:cNvPr id="5" name="S4_LayerPill_1">
            <a:extLst xmlns:a="http://schemas.openxmlformats.org/drawingml/2006/main">
              <a:ext uri="{FF2B5EF4-FFF2-40B4-BE49-F238E27FC236}">
                <a16:creationId xmlns:a16="http://schemas.microsoft.com/office/drawing/2014/main" id="{82DD60B8-1D29-4482-8566-894D32003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33575"/>
            <a:ext cx="1581150" cy="2667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45A9BE"/>
          </a:solidFill>
          <a:ln xmlns:a="http://schemas.openxmlformats.org/drawingml/2006/main" w="9525">
            <a:solidFill>
              <a:srgbClr val="45A9BE"/>
            </a:solidFill>
            <a:prstDash val="solid"/>
          </a:ln>
        </p:spPr>
        <p:txBody>
          <a:bodyPr xmlns:a="http://schemas.openxmlformats.org/drawingml/2006/main" lIns="47625" tIns="0" rIns="47625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091522"/>
                </a:solidFill>
                <a:latin typeface="Segoe UI"/>
                <a:ea typeface="Segoe UI"/>
                <a:cs typeface="Segoe UI"/>
              </a:rPr>
              <a:t>GIAO DIỆN</a:t>
            </a:r>
          </a:p>
        </p:txBody>
      </p:sp>
      <p:sp>
        <p:nvSpPr>
          <p:cNvPr id="6" name="S4_LayerText_1">
            <a:extLst xmlns:a="http://schemas.openxmlformats.org/drawingml/2006/main">
              <a:ext uri="{FF2B5EF4-FFF2-40B4-BE49-F238E27FC236}">
                <a16:creationId xmlns:a16="http://schemas.microsoft.com/office/drawing/2014/main" id="{7555DDE6-5044-449B-BC2D-68F59EE8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943100"/>
            <a:ext cx="5010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0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05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Razor MVC • HTTP 202 • polling</a:t>
            </a:r>
          </a:p>
        </p:txBody>
      </p:sp>
      <p:sp>
        <p:nvSpPr>
          <p:cNvPr id="7" name="S4_LayerConnector_1">
            <a:extLst xmlns:a="http://schemas.openxmlformats.org/drawingml/2006/main">
              <a:ext uri="{FF2B5EF4-FFF2-40B4-BE49-F238E27FC236}">
                <a16:creationId xmlns:a16="http://schemas.microsoft.com/office/drawing/2014/main" id="{BDA49388-97A9-4A37-8573-424283BE0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362200"/>
            <a:ext cx="0" cy="171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1445C"/>
            </a:solidFill>
            <a:prstDash val="solid"/>
          </a:ln>
        </p:spPr>
      </p:sp>
      <p:sp>
        <p:nvSpPr>
          <p:cNvPr id="8" name="S4_Layer_2">
            <a:extLst xmlns:a="http://schemas.openxmlformats.org/drawingml/2006/main">
              <a:ext uri="{FF2B5EF4-FFF2-40B4-BE49-F238E27FC236}">
                <a16:creationId xmlns:a16="http://schemas.microsoft.com/office/drawing/2014/main" id="{E5F9381A-9E2B-47E9-8946-FC2D02580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33650"/>
            <a:ext cx="718185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112338"/>
          </a:solidFill>
          <a:ln xmlns:a="http://schemas.openxmlformats.org/drawingml/2006/main" w="9525">
            <a:solidFill>
              <a:srgbClr val="31445C"/>
            </a:solidFill>
            <a:prstDash val="solid"/>
          </a:ln>
        </p:spPr>
      </p:sp>
      <p:sp>
        <p:nvSpPr>
          <p:cNvPr id="9" name="S4_LayerPill_2">
            <a:extLst xmlns:a="http://schemas.openxmlformats.org/drawingml/2006/main">
              <a:ext uri="{FF2B5EF4-FFF2-40B4-BE49-F238E27FC236}">
                <a16:creationId xmlns:a16="http://schemas.microsoft.com/office/drawing/2014/main" id="{0DE06B55-74EF-4FD5-91B2-2F01D42E2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95575"/>
            <a:ext cx="1581150" cy="2667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45A9BE"/>
          </a:solidFill>
          <a:ln xmlns:a="http://schemas.openxmlformats.org/drawingml/2006/main" w="9525">
            <a:solidFill>
              <a:srgbClr val="45A9BE"/>
            </a:solidFill>
            <a:prstDash val="solid"/>
          </a:ln>
        </p:spPr>
        <p:txBody>
          <a:bodyPr xmlns:a="http://schemas.openxmlformats.org/drawingml/2006/main" lIns="47625" tIns="0" rIns="47625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091522"/>
                </a:solidFill>
                <a:latin typeface="Segoe UI"/>
                <a:ea typeface="Segoe UI"/>
                <a:cs typeface="Segoe UI"/>
              </a:rPr>
              <a:t>QUEUE / WORKER</a:t>
            </a:r>
          </a:p>
        </p:txBody>
      </p:sp>
      <p:sp>
        <p:nvSpPr>
          <p:cNvPr id="10" name="S4_LayerText_2">
            <a:extLst xmlns:a="http://schemas.openxmlformats.org/drawingml/2006/main">
              <a:ext uri="{FF2B5EF4-FFF2-40B4-BE49-F238E27FC236}">
                <a16:creationId xmlns:a16="http://schemas.microsoft.com/office/drawing/2014/main" id="{C33D195C-09FD-4C2F-9FB8-0825A8973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705100"/>
            <a:ext cx="5010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0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05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SQL job • lease 600s • retry / circuit</a:t>
            </a:r>
          </a:p>
        </p:txBody>
      </p:sp>
      <p:sp>
        <p:nvSpPr>
          <p:cNvPr id="11" name="S4_LayerConnector_2">
            <a:extLst xmlns:a="http://schemas.openxmlformats.org/drawingml/2006/main">
              <a:ext uri="{FF2B5EF4-FFF2-40B4-BE49-F238E27FC236}">
                <a16:creationId xmlns:a16="http://schemas.microsoft.com/office/drawing/2014/main" id="{C1F9B505-7D34-41DD-A1EE-0E617CB0D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124200"/>
            <a:ext cx="0" cy="171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1445C"/>
            </a:solidFill>
            <a:prstDash val="solid"/>
          </a:ln>
        </p:spPr>
      </p:sp>
      <p:sp>
        <p:nvSpPr>
          <p:cNvPr id="12" name="S4_Layer_3">
            <a:extLst xmlns:a="http://schemas.openxmlformats.org/drawingml/2006/main">
              <a:ext uri="{FF2B5EF4-FFF2-40B4-BE49-F238E27FC236}">
                <a16:creationId xmlns:a16="http://schemas.microsoft.com/office/drawing/2014/main" id="{DA381E1A-31CD-4D97-8F74-9FAFA4C61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95650"/>
            <a:ext cx="718185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112338"/>
          </a:solidFill>
          <a:ln xmlns:a="http://schemas.openxmlformats.org/drawingml/2006/main" w="9525">
            <a:solidFill>
              <a:srgbClr val="31445C"/>
            </a:solidFill>
            <a:prstDash val="solid"/>
          </a:ln>
        </p:spPr>
      </p:sp>
      <p:sp>
        <p:nvSpPr>
          <p:cNvPr id="13" name="S4_LayerPill_3">
            <a:extLst xmlns:a="http://schemas.openxmlformats.org/drawingml/2006/main">
              <a:ext uri="{FF2B5EF4-FFF2-40B4-BE49-F238E27FC236}">
                <a16:creationId xmlns:a16="http://schemas.microsoft.com/office/drawing/2014/main" id="{276D903C-8912-4C4E-8CDD-2B9177193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57575"/>
            <a:ext cx="1924050" cy="2667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5F8FD8"/>
          </a:solidFill>
          <a:ln xmlns:a="http://schemas.openxmlformats.org/drawingml/2006/main" w="9525">
            <a:solidFill>
              <a:srgbClr val="5F8FD8"/>
            </a:solidFill>
            <a:prstDash val="solid"/>
          </a:ln>
        </p:spPr>
        <p:txBody>
          <a:bodyPr xmlns:a="http://schemas.openxmlformats.org/drawingml/2006/main" lIns="47625" tIns="0" rIns="47625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091522"/>
                </a:solidFill>
                <a:latin typeface="Segoe UI"/>
                <a:ea typeface="Segoe UI"/>
                <a:cs typeface="Segoe UI"/>
              </a:rPr>
              <a:t>AI ADAPTER + CONTRACT</a:t>
            </a:r>
          </a:p>
        </p:txBody>
      </p:sp>
      <p:sp>
        <p:nvSpPr>
          <p:cNvPr id="14" name="S4_LayerText_3">
            <a:extLst xmlns:a="http://schemas.openxmlformats.org/drawingml/2006/main">
              <a:ext uri="{FF2B5EF4-FFF2-40B4-BE49-F238E27FC236}">
                <a16:creationId xmlns:a16="http://schemas.microsoft.com/office/drawing/2014/main" id="{51DD10E8-61BC-4E51-9E36-A981572D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467100"/>
            <a:ext cx="468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0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05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OpenRouter → Qwen3.8 Flash • Schema → DTO → semantic → repair ≤ 1</a:t>
            </a:r>
          </a:p>
        </p:txBody>
      </p:sp>
      <p:sp>
        <p:nvSpPr>
          <p:cNvPr id="15" name="S4_LayerConnector_3">
            <a:extLst xmlns:a="http://schemas.openxmlformats.org/drawingml/2006/main">
              <a:ext uri="{FF2B5EF4-FFF2-40B4-BE49-F238E27FC236}">
                <a16:creationId xmlns:a16="http://schemas.microsoft.com/office/drawing/2014/main" id="{645F90A9-8661-4EA7-AB54-4191922A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886200"/>
            <a:ext cx="0" cy="171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1445C"/>
            </a:solidFill>
            <a:prstDash val="solid"/>
          </a:ln>
        </p:spPr>
      </p:sp>
      <p:sp>
        <p:nvSpPr>
          <p:cNvPr id="16" name="S4_Layer_4">
            <a:extLst xmlns:a="http://schemas.openxmlformats.org/drawingml/2006/main">
              <a:ext uri="{FF2B5EF4-FFF2-40B4-BE49-F238E27FC236}">
                <a16:creationId xmlns:a16="http://schemas.microsoft.com/office/drawing/2014/main" id="{C1C71AD1-DFF5-40E6-A204-B77CF40A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57650"/>
            <a:ext cx="718185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112338"/>
          </a:solidFill>
          <a:ln xmlns:a="http://schemas.openxmlformats.org/drawingml/2006/main" w="9525">
            <a:solidFill>
              <a:srgbClr val="31445C"/>
            </a:solidFill>
            <a:prstDash val="solid"/>
          </a:ln>
        </p:spPr>
      </p:sp>
      <p:sp>
        <p:nvSpPr>
          <p:cNvPr id="17" name="S4_LayerPill_4">
            <a:extLst xmlns:a="http://schemas.openxmlformats.org/drawingml/2006/main">
              <a:ext uri="{FF2B5EF4-FFF2-40B4-BE49-F238E27FC236}">
                <a16:creationId xmlns:a16="http://schemas.microsoft.com/office/drawing/2014/main" id="{34305FC3-264A-418B-BFC3-C02200824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19575"/>
            <a:ext cx="1581150" cy="2667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C59A4A"/>
          </a:solidFill>
          <a:ln xmlns:a="http://schemas.openxmlformats.org/drawingml/2006/main" w="9525">
            <a:solidFill>
              <a:srgbClr val="C59A4A"/>
            </a:solidFill>
            <a:prstDash val="solid"/>
          </a:ln>
        </p:spPr>
        <p:txBody>
          <a:bodyPr xmlns:a="http://schemas.openxmlformats.org/drawingml/2006/main" lIns="47625" tIns="0" rIns="47625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091522"/>
                </a:solidFill>
                <a:latin typeface="Segoe UI"/>
                <a:ea typeface="Segoe UI"/>
                <a:cs typeface="Segoe UI"/>
              </a:rPr>
              <a:t>POLICY + DỮ LIỆU</a:t>
            </a:r>
          </a:p>
        </p:txBody>
      </p:sp>
      <p:sp>
        <p:nvSpPr>
          <p:cNvPr id="18" name="S4_LayerText_4">
            <a:extLst xmlns:a="http://schemas.openxmlformats.org/drawingml/2006/main">
              <a:ext uri="{FF2B5EF4-FFF2-40B4-BE49-F238E27FC236}">
                <a16:creationId xmlns:a16="http://schemas.microsoft.com/office/drawing/2014/main" id="{835A2D23-88B0-414C-9E11-701BD3DAB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229100"/>
            <a:ext cx="5010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0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05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PolicyDecisionEngine C# • EF Core • SQL Server • private storage • Undo event</a:t>
            </a:r>
          </a:p>
        </p:txBody>
      </p:sp>
      <p:sp>
        <p:nvSpPr>
          <p:cNvPr id="19" name="S4_TestCard">
            <a:extLst xmlns:a="http://schemas.openxmlformats.org/drawingml/2006/main">
              <a:ext uri="{FF2B5EF4-FFF2-40B4-BE49-F238E27FC236}">
                <a16:creationId xmlns:a16="http://schemas.microsoft.com/office/drawing/2014/main" id="{835E7092-2644-4CC8-8E77-773E6D1C3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352550"/>
            <a:ext cx="3600450" cy="3467100"/>
          </a:xfrm>
          <a:prstGeom xmlns:a="http://schemas.openxmlformats.org/drawingml/2006/main" prst="roundRect">
            <a:avLst>
              <a:gd name="adj" fmla="val 1648"/>
            </a:avLst>
          </a:prstGeom>
          <a:solidFill xmlns:a="http://schemas.openxmlformats.org/drawingml/2006/main">
            <a:srgbClr val="162A42"/>
          </a:solidFill>
          <a:ln xmlns:a="http://schemas.openxmlformats.org/drawingml/2006/main" w="9525">
            <a:solidFill>
              <a:srgbClr val="C59A4A"/>
            </a:solidFill>
            <a:prstDash val="solid"/>
          </a:ln>
        </p:spPr>
      </p:sp>
      <p:sp>
        <p:nvSpPr>
          <p:cNvPr id="20" name="S4_TestBadge">
            <a:extLst xmlns:a="http://schemas.openxmlformats.org/drawingml/2006/main">
              <a:ext uri="{FF2B5EF4-FFF2-40B4-BE49-F238E27FC236}">
                <a16:creationId xmlns:a16="http://schemas.microsoft.com/office/drawing/2014/main" id="{2EF7C7AA-48DF-42E8-8E20-7A5CE9D4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543050"/>
            <a:ext cx="1581150" cy="2667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C59A4A"/>
          </a:solidFill>
          <a:ln xmlns:a="http://schemas.openxmlformats.org/drawingml/2006/main" w="9525">
            <a:solidFill>
              <a:srgbClr val="C59A4A"/>
            </a:solidFill>
            <a:prstDash val="solid"/>
          </a:ln>
        </p:spPr>
        <p:txBody>
          <a:bodyPr xmlns:a="http://schemas.openxmlformats.org/drawingml/2006/main" lIns="47625" tIns="0" rIns="47625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091522"/>
                </a:solidFill>
                <a:latin typeface="Segoe UI"/>
                <a:ea typeface="Segoe UI"/>
                <a:cs typeface="Segoe UI"/>
              </a:rPr>
              <a:t>MÔ PHỎNG / TEST</a:t>
            </a:r>
          </a:p>
        </p:txBody>
      </p:sp>
      <p:sp>
        <p:nvSpPr>
          <p:cNvPr id="21" name="S4_TestIcon_1">
            <a:extLst xmlns:a="http://schemas.openxmlformats.org/drawingml/2006/main">
              <a:ext uri="{FF2B5EF4-FFF2-40B4-BE49-F238E27FC236}">
                <a16:creationId xmlns:a16="http://schemas.microsoft.com/office/drawing/2014/main" id="{B702050F-F4FF-479F-84A0-BB2ECB164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14550"/>
            <a:ext cx="323850" cy="323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59A4A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C59A4A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22" name="S4_TestText_1">
            <a:extLst xmlns:a="http://schemas.openxmlformats.org/drawingml/2006/main">
              <a:ext uri="{FF2B5EF4-FFF2-40B4-BE49-F238E27FC236}">
                <a16:creationId xmlns:a16="http://schemas.microsoft.com/office/drawing/2014/main" id="{45609482-6B47-403E-AD5E-352D0264C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171700"/>
            <a:ext cx="2647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30 ảnh tổng hợp</a:t>
            </a:r>
          </a:p>
        </p:txBody>
      </p:sp>
      <p:sp>
        <p:nvSpPr>
          <p:cNvPr id="23" name="S4_TestIcon_2">
            <a:extLst xmlns:a="http://schemas.openxmlformats.org/drawingml/2006/main">
              <a:ext uri="{FF2B5EF4-FFF2-40B4-BE49-F238E27FC236}">
                <a16:creationId xmlns:a16="http://schemas.microsoft.com/office/drawing/2014/main" id="{4356EBFA-1966-4706-A26C-C7C30470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609850"/>
            <a:ext cx="323850" cy="323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59A4A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C59A4A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24" name="S4_TestText_2">
            <a:extLst xmlns:a="http://schemas.openxmlformats.org/drawingml/2006/main">
              <a:ext uri="{FF2B5EF4-FFF2-40B4-BE49-F238E27FC236}">
                <a16:creationId xmlns:a16="http://schemas.microsoft.com/office/drawing/2014/main" id="{7D9DAAF6-9D89-4D1B-875D-8CECFA647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67000"/>
            <a:ext cx="2647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5 fixture Verify trên UI</a:t>
            </a:r>
          </a:p>
        </p:txBody>
      </p:sp>
      <p:sp>
        <p:nvSpPr>
          <p:cNvPr id="25" name="S4_TestIcon_3">
            <a:extLst xmlns:a="http://schemas.openxmlformats.org/drawingml/2006/main">
              <a:ext uri="{FF2B5EF4-FFF2-40B4-BE49-F238E27FC236}">
                <a16:creationId xmlns:a16="http://schemas.microsoft.com/office/drawing/2014/main" id="{7D0FF83C-8EA2-401C-996E-E0162C80A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105150"/>
            <a:ext cx="323850" cy="323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59A4A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C59A4A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6" name="S4_TestText_3">
            <a:extLst xmlns:a="http://schemas.openxmlformats.org/drawingml/2006/main">
              <a:ext uri="{FF2B5EF4-FFF2-40B4-BE49-F238E27FC236}">
                <a16:creationId xmlns:a16="http://schemas.microsoft.com/office/drawing/2014/main" id="{97DAFF51-9AE9-4649-B739-2D91FA0BC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162300"/>
            <a:ext cx="2647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Runner ngoài dashboard</a:t>
            </a:r>
          </a:p>
        </p:txBody>
      </p:sp>
      <p:sp>
        <p:nvSpPr>
          <p:cNvPr id="27" name="S4_TestDivider">
            <a:extLst xmlns:a="http://schemas.openxmlformats.org/drawingml/2006/main">
              <a:ext uri="{FF2B5EF4-FFF2-40B4-BE49-F238E27FC236}">
                <a16:creationId xmlns:a16="http://schemas.microsoft.com/office/drawing/2014/main" id="{BA746C76-2F64-4329-B775-29666DD27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14750"/>
            <a:ext cx="316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1445C"/>
            </a:solidFill>
            <a:prstDash val="solid"/>
          </a:ln>
        </p:spPr>
      </p:sp>
      <p:sp>
        <p:nvSpPr>
          <p:cNvPr id="28" name="S4_TestCaveat">
            <a:extLst xmlns:a="http://schemas.openxmlformats.org/drawingml/2006/main">
              <a:ext uri="{FF2B5EF4-FFF2-40B4-BE49-F238E27FC236}">
                <a16:creationId xmlns:a16="http://schemas.microsoft.com/office/drawing/2014/main" id="{D7E65707-BE0A-4716-A7A0-E924520D0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943350"/>
            <a:ext cx="3162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Không phải receipt thật / user evidence.</a:t>
            </a:r>
          </a:p>
          <a:p xmlns:a="http://schemas.openxmlformats.org/drawingml/2006/main">
            <a:pPr algn="l">
              <a:defRPr sz="1200" b="1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Không claim production SLA.</a:t>
            </a:r>
          </a:p>
        </p:txBody>
      </p:sp>
      <p:sp>
        <p:nvSpPr>
          <p:cNvPr id="29" name="S4_AuthorityBand">
            <a:extLst xmlns:a="http://schemas.openxmlformats.org/drawingml/2006/main">
              <a:ext uri="{FF2B5EF4-FFF2-40B4-BE49-F238E27FC236}">
                <a16:creationId xmlns:a16="http://schemas.microsoft.com/office/drawing/2014/main" id="{5E41806D-94B7-4248-A8D5-B5C2C6062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67300"/>
            <a:ext cx="11087100" cy="10287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162A42"/>
          </a:solidFill>
          <a:ln xmlns:a="http://schemas.openxmlformats.org/drawingml/2006/main" w="9525">
            <a:solidFill>
              <a:srgbClr val="31445C"/>
            </a:solidFill>
            <a:prstDash val="solid"/>
          </a:ln>
        </p:spPr>
      </p:sp>
      <p:sp>
        <p:nvSpPr>
          <p:cNvPr id="30" name="S4_AuthorityLabel">
            <a:extLst xmlns:a="http://schemas.openxmlformats.org/drawingml/2006/main">
              <a:ext uri="{FF2B5EF4-FFF2-40B4-BE49-F238E27FC236}">
                <a16:creationId xmlns:a16="http://schemas.microsoft.com/office/drawing/2014/main" id="{8A420413-BC69-4AF4-8524-53E30DFB5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19700"/>
            <a:ext cx="2114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975" b="1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RANH GIỚI QUYỀN HẠN</a:t>
            </a:r>
          </a:p>
        </p:txBody>
      </p:sp>
      <p:sp>
        <p:nvSpPr>
          <p:cNvPr id="31" name="S4_AuthorityNode_1">
            <a:extLst xmlns:a="http://schemas.openxmlformats.org/drawingml/2006/main">
              <a:ext uri="{FF2B5EF4-FFF2-40B4-BE49-F238E27FC236}">
                <a16:creationId xmlns:a16="http://schemas.microsoft.com/office/drawing/2014/main" id="{650D1761-5E12-48B9-8DBF-DF3258CC7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353050"/>
            <a:ext cx="20955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12338"/>
          </a:solidFill>
          <a:ln xmlns:a="http://schemas.openxmlformats.org/drawingml/2006/main" w="9525">
            <a:solidFill>
              <a:srgbClr val="5F8FD8"/>
            </a:solidFill>
            <a:prstDash val="solid"/>
          </a:ln>
        </p:spPr>
      </p:sp>
      <p:sp>
        <p:nvSpPr>
          <p:cNvPr id="32" name="S4_AuthorityNodeText_1">
            <a:extLst xmlns:a="http://schemas.openxmlformats.org/drawingml/2006/main">
              <a:ext uri="{FF2B5EF4-FFF2-40B4-BE49-F238E27FC236}">
                <a16:creationId xmlns:a16="http://schemas.microsoft.com/office/drawing/2014/main" id="{93039B7C-5FF3-4CC2-848F-B7575194B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495925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AI trả facts</a:t>
            </a:r>
          </a:p>
        </p:txBody>
      </p:sp>
      <p:sp>
        <p:nvSpPr>
          <p:cNvPr id="33" name="S4_AuthorityArrow_1">
            <a:extLst xmlns:a="http://schemas.openxmlformats.org/drawingml/2006/main">
              <a:ext uri="{FF2B5EF4-FFF2-40B4-BE49-F238E27FC236}">
                <a16:creationId xmlns:a16="http://schemas.microsoft.com/office/drawing/2014/main" id="{04C9F80F-1EE7-4CFF-BE4E-CAD5EDC92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524500"/>
            <a:ext cx="285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445C"/>
          </a:solidFill>
          <a:ln xmlns:a="http://schemas.openxmlformats.org/drawingml/2006/main" w="0">
            <a:solidFill>
              <a:srgbClr val="31445C"/>
            </a:solidFill>
          </a:ln>
        </p:spPr>
      </p:sp>
      <p:sp>
        <p:nvSpPr>
          <p:cNvPr id="34" name="S4_AuthorityNode_2">
            <a:extLst xmlns:a="http://schemas.openxmlformats.org/drawingml/2006/main">
              <a:ext uri="{FF2B5EF4-FFF2-40B4-BE49-F238E27FC236}">
                <a16:creationId xmlns:a16="http://schemas.microsoft.com/office/drawing/2014/main" id="{00D9AAB9-8D65-46F2-B37A-244E495F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353050"/>
            <a:ext cx="20955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12338"/>
          </a:solidFill>
          <a:ln xmlns:a="http://schemas.openxmlformats.org/drawingml/2006/main" w="9525">
            <a:solidFill>
              <a:srgbClr val="C59A4A"/>
            </a:solidFill>
            <a:prstDash val="solid"/>
          </a:ln>
        </p:spPr>
      </p:sp>
      <p:sp>
        <p:nvSpPr>
          <p:cNvPr id="35" name="S4_AuthorityNodeText_2">
            <a:extLst xmlns:a="http://schemas.openxmlformats.org/drawingml/2006/main">
              <a:ext uri="{FF2B5EF4-FFF2-40B4-BE49-F238E27FC236}">
                <a16:creationId xmlns:a16="http://schemas.microsoft.com/office/drawing/2014/main" id="{910A03AC-0FD5-4425-9E70-7DF04C179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495925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Policy C# route</a:t>
            </a:r>
          </a:p>
        </p:txBody>
      </p:sp>
      <p:sp>
        <p:nvSpPr>
          <p:cNvPr id="36" name="S4_AuthorityArrow_2">
            <a:extLst xmlns:a="http://schemas.openxmlformats.org/drawingml/2006/main">
              <a:ext uri="{FF2B5EF4-FFF2-40B4-BE49-F238E27FC236}">
                <a16:creationId xmlns:a16="http://schemas.microsoft.com/office/drawing/2014/main" id="{ED88452F-A7D1-4A35-A32F-933C3412B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524500"/>
            <a:ext cx="285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445C"/>
          </a:solidFill>
          <a:ln xmlns:a="http://schemas.openxmlformats.org/drawingml/2006/main" w="0">
            <a:solidFill>
              <a:srgbClr val="31445C"/>
            </a:solidFill>
          </a:ln>
        </p:spPr>
      </p:sp>
      <p:sp>
        <p:nvSpPr>
          <p:cNvPr id="37" name="S4_AuthorityNode_3">
            <a:extLst xmlns:a="http://schemas.openxmlformats.org/drawingml/2006/main">
              <a:ext uri="{FF2B5EF4-FFF2-40B4-BE49-F238E27FC236}">
                <a16:creationId xmlns:a16="http://schemas.microsoft.com/office/drawing/2014/main" id="{BE681F9D-EB54-495B-9AD0-022D18494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353050"/>
            <a:ext cx="20955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12338"/>
          </a:solidFill>
          <a:ln xmlns:a="http://schemas.openxmlformats.org/drawingml/2006/main" w="9525">
            <a:solidFill>
              <a:srgbClr val="45A9BE"/>
            </a:solidFill>
            <a:prstDash val="solid"/>
          </a:ln>
        </p:spPr>
      </p:sp>
      <p:sp>
        <p:nvSpPr>
          <p:cNvPr id="38" name="S4_AuthorityNodeText_3">
            <a:extLst xmlns:a="http://schemas.openxmlformats.org/drawingml/2006/main">
              <a:ext uri="{FF2B5EF4-FFF2-40B4-BE49-F238E27FC236}">
                <a16:creationId xmlns:a16="http://schemas.microsoft.com/office/drawing/2014/main" id="{69D6FE43-01E7-40E8-97CB-D57B2835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495925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Người quyết định ngoại lệ</a:t>
            </a:r>
          </a:p>
        </p:txBody>
      </p:sp>
    </p:spTree>
    <p:extLst>
      <p:ext uri="{BB962C8B-B14F-4D97-AF65-F5344CB8AC3E}">
        <p14:creationId xmlns:p14="http://schemas.microsoft.com/office/powerpoint/2010/main" val="6785113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15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_Title">
            <a:extLst xmlns:a="http://schemas.openxmlformats.org/drawingml/2006/main">
              <a:ext uri="{FF2B5EF4-FFF2-40B4-BE49-F238E27FC236}">
                <a16:creationId xmlns:a16="http://schemas.microsoft.com/office/drawing/2014/main" id="{E086419A-5D3C-4688-97F3-397A3CBB5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87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Giới hạn, tình huống lỗi và bước tiếp theo</a:t>
            </a:r>
          </a:p>
        </p:txBody>
      </p:sp>
      <p:sp>
        <p:nvSpPr>
          <p:cNvPr id="2" name="Slide_Subtitle">
            <a:extLst xmlns:a="http://schemas.openxmlformats.org/drawingml/2006/main">
              <a:ext uri="{FF2B5EF4-FFF2-40B4-BE49-F238E27FC236}">
                <a16:creationId xmlns:a16="http://schemas.microsoft.com/office/drawing/2014/main" id="{5D7B054D-4873-43B4-A66D-6F41490E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A6B3C4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A6B3C4"/>
                </a:solidFill>
                <a:latin typeface="Segoe UI"/>
                <a:ea typeface="Segoe UI"/>
                <a:cs typeface="Segoe UI"/>
              </a:rPr>
              <a:t>Baseline có người giám sát: lỗi phải dừng an toàn và để lại bằng chứng.</a:t>
            </a:r>
          </a:p>
        </p:txBody>
      </p:sp>
      <p:graphicFrame>
        <p:nvGraphicFramePr>
          <p:cNvPr id="3" name="S5_LimitsTable">
            <a:extLst xmlns:a="http://schemas.openxmlformats.org/drawingml/2006/main">
              <a:ext uri="{FF2B5EF4-FFF2-40B4-BE49-F238E27FC236}">
                <a16:creationId xmlns:a16="http://schemas.microsoft.com/office/drawing/2014/main" id="{914B3D64-B6ED-41D0-9F90-1E926773EF9C}"/>
              </a:ext>
            </a:extLst>
          </p:cNvPr>
          <p:cNvGraphicFramePr/>
          <p:nvPr/>
        </p:nvGraphicFramePr>
        <p:xfrm>
          <a:off xmlns:a="http://schemas.openxmlformats.org/drawingml/2006/main" x="552450" y="1447800"/>
          <a:ext xmlns:a="http://schemas.openxmlformats.org/drawingml/2006/main" cx="6762750" cy="3981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09800"/>
                <a:gridCol w="4552950"/>
              </a:tblGrid>
              <a:tr h="457200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A6B3C4"/>
                          </a:solidFill>
                          <a:latin typeface="Segoe UI"/>
                          <a:ea typeface="Segoe UI"/>
                          <a:cs typeface="Segoe UI"/>
                        </a:rPr>
                        <a:t>TÌNH HUỐNG</a:t>
                      </a:r>
                    </a:p>
                  </a:txBody>
                  <a:tcPr marL="114300" marR="114300" marT="76200" marB="76200">
                    <a:lnL w="9525">
                      <a:solidFill>
                        <a:srgbClr val="31445C"/>
                      </a:solidFill>
                      <a:prstDash val="solid"/>
                    </a:lnL>
                    <a:lnR w="9525">
                      <a:solidFill>
                        <a:srgbClr val="31445C"/>
                      </a:solidFill>
                      <a:prstDash val="solid"/>
                    </a:lnR>
                    <a:lnT w="9525">
                      <a:solidFill>
                        <a:srgbClr val="31445C"/>
                      </a:solidFill>
                      <a:prstDash val="solid"/>
                    </a:lnT>
                    <a:lnB w="9525">
                      <a:solidFill>
                        <a:srgbClr val="31445C"/>
                      </a:solidFill>
                      <a:prstDash val="solid"/>
                    </a:lnB>
                    <a:solidFill>
                      <a:srgbClr val="162A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A6B3C4"/>
                          </a:solidFill>
                          <a:latin typeface="Segoe UI"/>
                          <a:ea typeface="Segoe UI"/>
                          <a:cs typeface="Segoe UI"/>
                        </a:rPr>
                        <a:t>AURA PHẢN ỨNG</a:t>
                      </a:r>
                    </a:p>
                  </a:txBody>
                  <a:tcPr marL="114300" marR="114300" marT="76200" marB="76200">
                    <a:lnR w="9525">
                      <a:solidFill>
                        <a:srgbClr val="31445C"/>
                      </a:solidFill>
                      <a:prstDash val="solid"/>
                    </a:lnR>
                    <a:lnT w="9525">
                      <a:solidFill>
                        <a:srgbClr val="31445C"/>
                      </a:solidFill>
                      <a:prstDash val="solid"/>
                    </a:lnT>
                    <a:lnB w="9525">
                      <a:solidFill>
                        <a:srgbClr val="31445C"/>
                      </a:solidFill>
                      <a:prstDash val="solid"/>
                    </a:lnB>
                    <a:solidFill>
                      <a:srgbClr val="162A42"/>
                    </a:solidFill>
                  </a:tcPr>
                </a:tc>
              </a:tr>
              <a:tr h="7048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4F7FB"/>
                          </a:solidFill>
                          <a:latin typeface="Segoe UI"/>
                          <a:ea typeface="Segoe UI"/>
                          <a:cs typeface="Segoe UI"/>
                        </a:rPr>
                        <a:t>JSON / semantic sai</a:t>
                      </a:r>
                    </a:p>
                  </a:txBody>
                  <a:tcPr marL="114300" marR="114300" marT="76200" marB="76200">
                    <a:lnL w="9525">
                      <a:solidFill>
                        <a:srgbClr val="31445C"/>
                      </a:solidFill>
                      <a:prstDash val="solid"/>
                    </a:lnL>
                    <a:lnR w="9525">
                      <a:solidFill>
                        <a:srgbClr val="31445C"/>
                      </a:solidFill>
                      <a:prstDash val="solid"/>
                    </a:lnR>
                    <a:lnB w="9525">
                      <a:solidFill>
                        <a:srgbClr val="31445C"/>
                      </a:solidFill>
                      <a:prstDash val="solid"/>
                    </a:lnB>
                    <a:solidFill>
                      <a:srgbClr val="1123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4F7FB"/>
                          </a:solidFill>
                          <a:latin typeface="Segoe UI"/>
                          <a:ea typeface="Segoe UI"/>
                          <a:cs typeface="Segoe UI"/>
                        </a:rPr>
                        <a:t>Repair đúng 1 lần → FACT fail-safe</a:t>
                      </a:r>
                    </a:p>
                  </a:txBody>
                  <a:tcPr marL="114300" marR="114300" marT="76200" marB="76200">
                    <a:lnR w="9525">
                      <a:solidFill>
                        <a:srgbClr val="31445C"/>
                      </a:solidFill>
                      <a:prstDash val="solid"/>
                    </a:lnR>
                    <a:lnB w="9525">
                      <a:solidFill>
                        <a:srgbClr val="31445C"/>
                      </a:solidFill>
                      <a:prstDash val="solid"/>
                    </a:lnB>
                    <a:solidFill>
                      <a:srgbClr val="112338"/>
                    </a:solidFill>
                  </a:tcPr>
                </a:tc>
              </a:tr>
              <a:tr h="7048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4F7FB"/>
                          </a:solidFill>
                          <a:latin typeface="Segoe UI"/>
                          <a:ea typeface="Segoe UI"/>
                          <a:cs typeface="Segoe UI"/>
                        </a:rPr>
                        <a:t>429 / timeout</a:t>
                      </a:r>
                    </a:p>
                  </a:txBody>
                  <a:tcPr marL="114300" marR="114300" marT="76200" marB="76200">
                    <a:lnL w="9525">
                      <a:solidFill>
                        <a:srgbClr val="31445C"/>
                      </a:solidFill>
                      <a:prstDash val="solid"/>
                    </a:lnL>
                    <a:lnR w="9525">
                      <a:solidFill>
                        <a:srgbClr val="31445C"/>
                      </a:solidFill>
                      <a:prstDash val="solid"/>
                    </a:lnR>
                    <a:lnB w="9525">
                      <a:solidFill>
                        <a:srgbClr val="31445C"/>
                      </a:solidFill>
                      <a:prstDash val="solid"/>
                    </a:lnB>
                    <a:solidFill>
                      <a:srgbClr val="1123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4F7FB"/>
                          </a:solidFill>
                          <a:latin typeface="Segoe UI"/>
                          <a:ea typeface="Segoe UI"/>
                          <a:cs typeface="Segoe UI"/>
                        </a:rPr>
                        <a:t>Fallback chỉ khi bật → audit provider</a:t>
                      </a:r>
                    </a:p>
                  </a:txBody>
                  <a:tcPr marL="114300" marR="114300" marT="76200" marB="76200">
                    <a:lnR w="9525">
                      <a:solidFill>
                        <a:srgbClr val="31445C"/>
                      </a:solidFill>
                      <a:prstDash val="solid"/>
                    </a:lnR>
                    <a:lnB w="9525">
                      <a:solidFill>
                        <a:srgbClr val="31445C"/>
                      </a:solidFill>
                      <a:prstDash val="solid"/>
                    </a:lnB>
                    <a:solidFill>
                      <a:srgbClr val="112338"/>
                    </a:solidFill>
                  </a:tcPr>
                </a:tc>
              </a:tr>
              <a:tr h="7048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4F7FB"/>
                          </a:solidFill>
                          <a:latin typeface="Segoe UI"/>
                          <a:ea typeface="Segoe UI"/>
                          <a:cs typeface="Segoe UI"/>
                        </a:rPr>
                        <a:t>App restart</a:t>
                      </a:r>
                    </a:p>
                  </a:txBody>
                  <a:tcPr marL="114300" marR="114300" marT="76200" marB="76200">
                    <a:lnL w="9525">
                      <a:solidFill>
                        <a:srgbClr val="31445C"/>
                      </a:solidFill>
                      <a:prstDash val="solid"/>
                    </a:lnL>
                    <a:lnR w="9525">
                      <a:solidFill>
                        <a:srgbClr val="31445C"/>
                      </a:solidFill>
                      <a:prstDash val="solid"/>
                    </a:lnR>
                    <a:lnB w="9525">
                      <a:solidFill>
                        <a:srgbClr val="31445C"/>
                      </a:solidFill>
                      <a:prstDash val="solid"/>
                    </a:lnB>
                    <a:solidFill>
                      <a:srgbClr val="1123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4F7FB"/>
                          </a:solidFill>
                          <a:latin typeface="Segoe UI"/>
                          <a:ea typeface="Segoe UI"/>
                          <a:cs typeface="Segoe UI"/>
                        </a:rPr>
                        <a:t>DB job + lease → worker reclaim</a:t>
                      </a:r>
                    </a:p>
                  </a:txBody>
                  <a:tcPr marL="114300" marR="114300" marT="76200" marB="76200">
                    <a:lnR w="9525">
                      <a:solidFill>
                        <a:srgbClr val="31445C"/>
                      </a:solidFill>
                      <a:prstDash val="solid"/>
                    </a:lnR>
                    <a:lnB w="9525">
                      <a:solidFill>
                        <a:srgbClr val="31445C"/>
                      </a:solidFill>
                      <a:prstDash val="solid"/>
                    </a:lnB>
                    <a:solidFill>
                      <a:srgbClr val="112338"/>
                    </a:solidFill>
                  </a:tcPr>
                </a:tc>
              </a:tr>
              <a:tr h="7048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4F7FB"/>
                          </a:solidFill>
                          <a:latin typeface="Segoe UI"/>
                          <a:ea typeface="Segoe UI"/>
                          <a:cs typeface="Segoe UI"/>
                        </a:rPr>
                        <a:t>5 upload đồng thời</a:t>
                      </a:r>
                    </a:p>
                  </a:txBody>
                  <a:tcPr marL="114300" marR="114300" marT="76200" marB="76200">
                    <a:lnL w="9525">
                      <a:solidFill>
                        <a:srgbClr val="31445C"/>
                      </a:solidFill>
                      <a:prstDash val="solid"/>
                    </a:lnL>
                    <a:lnR w="9525">
                      <a:solidFill>
                        <a:srgbClr val="31445C"/>
                      </a:solidFill>
                      <a:prstDash val="solid"/>
                    </a:lnR>
                    <a:lnB w="9525">
                      <a:solidFill>
                        <a:srgbClr val="31445C"/>
                      </a:solidFill>
                      <a:prstDash val="solid"/>
                    </a:lnB>
                    <a:solidFill>
                      <a:srgbClr val="1123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59A4A"/>
                          </a:solidFill>
                          <a:latin typeface="Segoe UI"/>
                          <a:ea typeface="Segoe UI"/>
                          <a:cs typeface="Segoe UI"/>
                        </a:rPr>
                        <a:t>5/5 hoàn tất • P95 93.684s • chưa là SLA</a:t>
                      </a:r>
                    </a:p>
                  </a:txBody>
                  <a:tcPr marL="114300" marR="114300" marT="76200" marB="76200">
                    <a:lnR w="9525">
                      <a:solidFill>
                        <a:srgbClr val="31445C"/>
                      </a:solidFill>
                      <a:prstDash val="solid"/>
                    </a:lnR>
                    <a:lnB w="9525">
                      <a:solidFill>
                        <a:srgbClr val="31445C"/>
                      </a:solidFill>
                      <a:prstDash val="solid"/>
                    </a:lnB>
                    <a:solidFill>
                      <a:srgbClr val="112338"/>
                    </a:solidFill>
                  </a:tcPr>
                </a:tc>
              </a:tr>
              <a:tr h="7048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4F7FB"/>
                          </a:solidFill>
                          <a:latin typeface="Segoe UI"/>
                          <a:ea typeface="Segoe UI"/>
                          <a:cs typeface="Segoe UI"/>
                        </a:rPr>
                        <a:t>Ảnh mơ hồ / giả</a:t>
                      </a:r>
                    </a:p>
                  </a:txBody>
                  <a:tcPr marL="114300" marR="114300" marT="76200" marB="76200">
                    <a:lnL w="9525">
                      <a:solidFill>
                        <a:srgbClr val="31445C"/>
                      </a:solidFill>
                      <a:prstDash val="solid"/>
                    </a:lnL>
                    <a:lnR w="9525">
                      <a:solidFill>
                        <a:srgbClr val="31445C"/>
                      </a:solidFill>
                      <a:prstDash val="solid"/>
                    </a:lnR>
                    <a:lnB w="9525">
                      <a:solidFill>
                        <a:srgbClr val="31445C"/>
                      </a:solidFill>
                      <a:prstDash val="solid"/>
                    </a:lnB>
                    <a:solidFill>
                      <a:srgbClr val="1123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4F7FB"/>
                          </a:solidFill>
                          <a:latin typeface="Segoe UI"/>
                          <a:ea typeface="Segoe UI"/>
                          <a:cs typeface="Segoe UI"/>
                        </a:rPr>
                        <a:t>FACT ưu tiên • không auto-approve</a:t>
                      </a:r>
                    </a:p>
                  </a:txBody>
                  <a:tcPr marL="114300" marR="114300" marT="76200" marB="76200">
                    <a:lnR w="9525">
                      <a:solidFill>
                        <a:srgbClr val="31445C"/>
                      </a:solidFill>
                      <a:prstDash val="solid"/>
                    </a:lnR>
                    <a:lnB w="9525">
                      <a:solidFill>
                        <a:srgbClr val="31445C"/>
                      </a:solidFill>
                      <a:prstDash val="solid"/>
                    </a:lnB>
                    <a:solidFill>
                      <a:srgbClr val="112338"/>
                    </a:solidFill>
                  </a:tcPr>
                </a:tc>
              </a:tr>
            </a:tbl>
          </a:graphicData>
        </a:graphic>
      </p:graphicFrame>
      <p:sp>
        <p:nvSpPr>
          <p:cNvPr id="4" name="S5_OpenCard">
            <a:extLst xmlns:a="http://schemas.openxmlformats.org/drawingml/2006/main">
              <a:ext uri="{FF2B5EF4-FFF2-40B4-BE49-F238E27FC236}">
                <a16:creationId xmlns:a16="http://schemas.microsoft.com/office/drawing/2014/main" id="{AC1300D7-147E-4F7B-98A9-820AD5DEB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447800"/>
            <a:ext cx="3962400" cy="234315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162A42"/>
          </a:solidFill>
          <a:ln xmlns:a="http://schemas.openxmlformats.org/drawingml/2006/main" w="9525">
            <a:solidFill>
              <a:srgbClr val="C59A4A"/>
            </a:solidFill>
            <a:prstDash val="solid"/>
          </a:ln>
        </p:spPr>
      </p:sp>
      <p:sp>
        <p:nvSpPr>
          <p:cNvPr id="5" name="S5_OpenPill">
            <a:extLst xmlns:a="http://schemas.openxmlformats.org/drawingml/2006/main">
              <a:ext uri="{FF2B5EF4-FFF2-40B4-BE49-F238E27FC236}">
                <a16:creationId xmlns:a16="http://schemas.microsoft.com/office/drawing/2014/main" id="{02D022E5-E0AB-483D-ABE0-5CD2F65A4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638300"/>
            <a:ext cx="933450" cy="2667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C59A4A"/>
          </a:solidFill>
          <a:ln xmlns:a="http://schemas.openxmlformats.org/drawingml/2006/main" w="9525">
            <a:solidFill>
              <a:srgbClr val="C59A4A"/>
            </a:solidFill>
            <a:prstDash val="solid"/>
          </a:ln>
        </p:spPr>
        <p:txBody>
          <a:bodyPr xmlns:a="http://schemas.openxmlformats.org/drawingml/2006/main" lIns="47625" tIns="0" rIns="47625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091522"/>
                </a:solidFill>
                <a:latin typeface="Segoe UI"/>
                <a:ea typeface="Segoe UI"/>
                <a:cs typeface="Segoe UI"/>
              </a:rPr>
              <a:t>CÒN MỞ</a:t>
            </a:r>
          </a:p>
        </p:txBody>
      </p:sp>
      <p:sp>
        <p:nvSpPr>
          <p:cNvPr id="6" name="S5_OpenText">
            <a:extLst xmlns:a="http://schemas.openxmlformats.org/drawingml/2006/main">
              <a:ext uri="{FF2B5EF4-FFF2-40B4-BE49-F238E27FC236}">
                <a16:creationId xmlns:a16="http://schemas.microsoft.com/office/drawing/2014/main" id="{7BEE39EF-7565-4DF1-BB25-F42D9EFF2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114550"/>
            <a:ext cx="35242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• Phản hồi 3 người dùng: chờ 16/10</a:t>
            </a:r>
          </a:p>
          <a:p xmlns:a="http://schemas.openxmlformats.org/drawingml/2006/main">
            <a:pPr algn="l">
              <a:defRPr sz="12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• Limiter / lock mới ở một process</a:t>
            </a:r>
          </a:p>
          <a:p xmlns:a="http://schemas.openxmlformats.org/drawingml/2006/main">
            <a:pPr algn="l">
              <a:defRPr sz="12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• PDF • RBAC • object storage</a:t>
            </a:r>
          </a:p>
          <a:p xmlns:a="http://schemas.openxmlformats.org/drawingml/2006/main">
            <a:pPr algn="l">
              <a:defRPr sz="12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• Evidence overlay mới là prototype</a:t>
            </a:r>
          </a:p>
        </p:txBody>
      </p:sp>
      <p:sp>
        <p:nvSpPr>
          <p:cNvPr id="7" name="S5_NextCard">
            <a:extLst xmlns:a="http://schemas.openxmlformats.org/drawingml/2006/main">
              <a:ext uri="{FF2B5EF4-FFF2-40B4-BE49-F238E27FC236}">
                <a16:creationId xmlns:a16="http://schemas.microsoft.com/office/drawing/2014/main" id="{1B5C9C99-7DA0-4FAD-9BF9-45B8C9162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57650"/>
            <a:ext cx="3962400" cy="13716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62A42"/>
          </a:solidFill>
          <a:ln xmlns:a="http://schemas.openxmlformats.org/drawingml/2006/main" w="9525">
            <a:solidFill>
              <a:srgbClr val="4FAF91"/>
            </a:solidFill>
            <a:prstDash val="solid"/>
          </a:ln>
        </p:spPr>
      </p:sp>
      <p:sp>
        <p:nvSpPr>
          <p:cNvPr id="8" name="S5_NextPill">
            <a:extLst xmlns:a="http://schemas.openxmlformats.org/drawingml/2006/main">
              <a:ext uri="{FF2B5EF4-FFF2-40B4-BE49-F238E27FC236}">
                <a16:creationId xmlns:a16="http://schemas.microsoft.com/office/drawing/2014/main" id="{8220F14B-6584-4DC3-A2BA-C66A6153C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48150"/>
            <a:ext cx="1466850" cy="2667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4FAF91"/>
          </a:solidFill>
          <a:ln xmlns:a="http://schemas.openxmlformats.org/drawingml/2006/main" w="9525">
            <a:solidFill>
              <a:srgbClr val="4FAF91"/>
            </a:solidFill>
            <a:prstDash val="solid"/>
          </a:ln>
        </p:spPr>
        <p:txBody>
          <a:bodyPr xmlns:a="http://schemas.openxmlformats.org/drawingml/2006/main" lIns="47625" tIns="0" rIns="47625" bIns="0" anchor="ctr">
            <a:noAutofit/>
          </a:bodyPr>
          <a:lstStyle xmlns:a="http://schemas.openxmlformats.org/drawingml/2006/main">
            <a:def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091522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091522"/>
                </a:solidFill>
                <a:latin typeface="Segoe UI"/>
                <a:ea typeface="Segoe UI"/>
                <a:cs typeface="Segoe UI"/>
              </a:rPr>
              <a:t>BƯỚC TIẾP THEO</a:t>
            </a:r>
          </a:p>
        </p:txBody>
      </p:sp>
      <p:sp>
        <p:nvSpPr>
          <p:cNvPr id="9" name="S5_NextText">
            <a:extLst xmlns:a="http://schemas.openxmlformats.org/drawingml/2006/main">
              <a:ext uri="{FF2B5EF4-FFF2-40B4-BE49-F238E27FC236}">
                <a16:creationId xmlns:a16="http://schemas.microsoft.com/office/drawing/2014/main" id="{F0B74992-329D-4A19-9863-BB147296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667250"/>
            <a:ext cx="3524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Sau feedback: chọn 1 thay đổi truy vết → chạy lại build / test / Verify.</a:t>
            </a:r>
          </a:p>
          <a:p xmlns:a="http://schemas.openxmlformats.org/drawingml/2006/main">
            <a:pPr algn="l">
              <a:defRPr sz="1200" b="1">
                <a:solidFill>
                  <a:srgbClr val="F4F7FB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F4F7FB"/>
                </a:solidFill>
                <a:latin typeface="Segoe UI"/>
                <a:ea typeface="Segoe UI"/>
                <a:cs typeface="Segoe UI"/>
              </a:rPr>
              <a:t>Không tune bằng holdout.</a:t>
            </a:r>
          </a:p>
        </p:txBody>
      </p:sp>
      <p:sp>
        <p:nvSpPr>
          <p:cNvPr id="10" name="S5_SafetyLine">
            <a:extLst xmlns:a="http://schemas.openxmlformats.org/drawingml/2006/main">
              <a:ext uri="{FF2B5EF4-FFF2-40B4-BE49-F238E27FC236}">
                <a16:creationId xmlns:a16="http://schemas.microsoft.com/office/drawing/2014/main" id="{DA7F3600-AA0D-45AE-AE5D-B7D860F0F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0250"/>
            <a:ext cx="1108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350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350" b="1">
                <a:solidFill>
                  <a:srgbClr val="C59A4A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C59A4A"/>
                </a:solidFill>
                <a:latin typeface="Segoe UI"/>
                <a:ea typeface="Segoe UI"/>
                <a:cs typeface="Segoe UI"/>
              </a:rPr>
              <a:t>Fail-safe trước • audit đầy đủ • claim đúng phạm vi</a:t>
            </a:r>
          </a:p>
        </p:txBody>
      </p:sp>
    </p:spTree>
    <p:extLst>
      <p:ext uri="{BB962C8B-B14F-4D97-AF65-F5344CB8AC3E}">
        <p14:creationId xmlns:p14="http://schemas.microsoft.com/office/powerpoint/2010/main" val="463264911"/>
      </p:ext>
    </p:extLst>
  </p:cSld>
</p:sld>
</file>

<file path=ppt/theme/theme1.xml><?xml version="1.0" encoding="utf-8"?>
<a:theme xmlns:a="http://schemas.openxmlformats.org/drawingml/2006/main" name="ChatGPT">
  <a:themeElements>
    <a:clrScheme name="AURA restrained navy">
      <a:dk1>
        <a:srgbClr val="091522"/>
      </a:dk1>
      <a:lt1>
        <a:srgbClr val="F4F7FB"/>
      </a:lt1>
      <a:dk2>
        <a:srgbClr val="162A42"/>
      </a:dk2>
      <a:lt2>
        <a:srgbClr val="A6B3C4"/>
      </a:lt2>
      <a:accent1>
        <a:srgbClr val="5F8FD8"/>
      </a:accent1>
      <a:accent2>
        <a:srgbClr val="45A9BE"/>
      </a:accent2>
      <a:accent3>
        <a:srgbClr val="C59A4A"/>
      </a:accent3>
      <a:accent4>
        <a:srgbClr val="4FAF91"/>
      </a:accent4>
      <a:accent5>
        <a:srgbClr val="162A42"/>
      </a:accent5>
      <a:accent6>
        <a:srgbClr val="31445C"/>
      </a:accent6>
      <a:hlink>
        <a:srgbClr val="5F8FD8"/>
      </a:hlink>
      <a:folHlink>
        <a:srgbClr val="45A9BE"/>
      </a:folHlink>
    </a:clrScheme>
    <a:fontScheme name="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AURA restrained nav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2026-10-15T17:30:49.0440000Z</dcterms:created>
  <dcterms:modified xsi:type="dcterms:W3CDTF">2026-10-15T17:30:49.0440000Z</dcterms:modified>
</coreProperties>
</file>
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Quy trình hoàn ứng hiện tại có năm điểm chờ. Vấn đề không chỉ là đọc chữ, mà là người duyệt phải tự ghép dữ kiện, quy định và lịch sử trước khi quyết định.</a:t>
            </a:r>
          </a:p>
          <a:p/>
          <a:p>
            <a:r>
              <a:t>Ảnh, claimed amount và metadata nằm rời nhau. Việc đọc thủ công dễ bỏ sót trường trọng yếu. Khi đối chiếu, FACT và POLICY dễ bị trộn. Câu hỏi chuyển cấp thường thiếu ngữ cảnh, còn lịch sử khó nối từ đầu vào tới người chịu trách nhiệm.</a:t>
            </a:r>
          </a:p>
          <a:p/>
          <a:p>
            <a:r>
              <a:t>Khoảng trống mà AURA giải quyết là đóng gói ngoại lệ thành một hồ sơ có facts, policy route và audit. Đây là dòng cầu nối sang giải pháp, chưa phải claim tác động.</a:t>
            </a:r>
          </a:p>
          <a:p/>
          <a:p>
            <a:r>
              <a:t>Nguồn: submission/AURA_PROPOSAL_VI.md; submission/BUSINESS_RULES.md; submission/AURA_WORKFLOW_SPEC.md.</a:t>
            </a:r>
          </a:p>
          <a:p/>
          <a:p>
            <a:r>
              <a:t>CHUYỂN: Slide tiếp theo cho thấy hệ thống xử lý ở đâu và con người quyết định ở đâu.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Sơ đồ chia rõ ba vùng và hai làn để thấy hệ thống làm gì, con người quyết định ở đâu.</a:t>
            </a:r>
          </a:p>
          <a:p/>
          <a:p>
            <a:r>
              <a:t>Pha A kiểm file, lưu riêng tư, tính SHA-256, rồi ghi PENDING cùng AI_QUEUED vào SQL. Người gửi chỉ cung cấp ảnh, claimed amount và metadata.</a:t>
            </a:r>
          </a:p>
          <a:p/>
          <a:p>
            <a:r>
              <a:t>Pha B trả HTTP 202 cùng statusUrl. UI poll trạng thái, còn worker dùng lease 600 giây để xử lý bền vững. Pha C lấy một AI permit, gọi OpenRouter tới Qwen3.8 Flash qua Alibaba, parse JSON Schema thành DTO, semantic validate và repair tối đa một lần.</a:t>
            </a:r>
          </a:p>
          <a:p/>
          <a:p>
            <a:r>
              <a:t>Pha D dùng PolicyDecisionEngine C# để route. AUTO_APPROVE ghi lịch sử. ESCALATE_* mở Gate 9: nhân viên chuyển tiếp, quản lý trả lời CÓ hoặc KHÔNG, Undo tạo event mới.</a:t>
            </a:r>
          </a:p>
          <a:p/>
          <a:p>
            <a:r>
              <a:t>Ranh giới quyền hạn: AI trả FACT; C# áp POLICY; con người giữ AUTHORITY.</a:t>
            </a:r>
          </a:p>
          <a:p/>
          <a:p>
            <a:r>
              <a:t>Nguồn: submission/AURA_WORKFLOW_SPEC.md; docs/RUNBOOK.md; ReceiptProcessingWorker.cs; ReceiptProcessingQueue.cs; VisionInvocationCoordinator.cs.</a:t>
            </a:r>
          </a:p>
          <a:p/>
          <a:p>
            <a:r>
              <a:t>CHUYỂN: Kiến trúc đã rõ, nhưng tác động chỉ được trình bày khi có đối chứng trước và sau.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Slide này dùng bảng đối chiếu thật. Mỗi hàng là một chỉ số; hai phía phải cùng cách đo.</a:t>
            </a:r>
          </a:p>
          <a:p/>
          <a:p>
            <a:r>
              <a:t>ΔT là thời gian đến kết quả cuối và ΔH là số lần chạm. E_missed và E_over so với cùng đáp án chuẩn. A_trace kiểm tra liệu quyết định có đủ audit timeline hay không.</a:t>
            </a:r>
          </a:p>
          <a:p/>
          <a:p>
            <a:r>
              <a:t>Phía AURA đã có 0/10 missed, 2/10 over và audit timeline trên mini-holdout. Phía thủ công chưa đo trên cùng bộ hóa đơn, nên ba hàng này mới có một nửa bằng chứng. ΔT và ΔH chưa có số ở cả hai phía trong user study.</a:t>
            </a:r>
          </a:p>
          <a:p/>
          <a:p>
            <a:r>
              <a:t>Giao thức: ba người dùng làm cùng ba nhiệm vụ trên cùng bộ hóa đơn; so median trước và sau; giữ phản hồi tiêu cực. Team phải khóa ngưỡng đạt hoặc không đạt trước khi nhận kết quả, không chọn ngưỡng sau khi thấy số.</a:t>
            </a:r>
          </a:p>
          <a:p/>
          <a:p>
            <a:r>
              <a:t>163/163, Verify 5/5 và 65.004 giây là bằng chứng kỹ thuật, không phải tác động người dùng hoặc ROI.</a:t>
            </a:r>
          </a:p>
          <a:p/>
          <a:p>
            <a:r>
              <a:t>Nguồn: docs/EVALUATION_EVIDENCE.md; docs/USER_STUDY_PROTOCOL.md; docs/MEASUREMENT_PLAN.md.</a:t>
            </a:r>
          </a:p>
          <a:p/>
          <a:p>
            <a:r>
              <a:t>CHUYỂN: Tiếp theo là kiến trúc triển khai và ranh giới giữa thành phần chạy thật với dữ liệu mô phỏng.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Slide này phân định trực tiếp thành phần chạy thật, quyền của model và phần còn mô phỏng.</a:t>
            </a:r>
          </a:p>
          <a:p/>
          <a:p>
            <a:r>
              <a:t>Ranh giới thực thi có tính quyết định là: model chỉ nhận ảnh và trả DTO theo contract; model không có tool, không có credential ghi database và không tự sửa trạng thái. Semantic validator kiểm tra facts, còn PolicyDecisionEngine C# mới chọn route. Vì vậy đổi model không đồng nghĩa đổi policy.</a:t>
            </a:r>
          </a:p>
          <a:p/>
          <a:p>
            <a:r>
              <a:t>Identity hiện mới là metadata demo gồm mã nhân viên, tên và phòng ban; đó chưa phải danh tính đã xác thực. Các vai trò người gửi, nhân viên và quản lý mới là vai trò workflow, chưa phải production RBAC hay least-privilege enforcement.</a:t>
            </a:r>
          </a:p>
          <a:p/>
          <a:p>
            <a:r>
              <a:t>Upload hiện đã kiểm extension, MIME, magic bytes, giới hạn 5 MB và lưu riêng tư; model không được cấp quyền hệ thống. Tuy nhiên đây mới là logical isolation, chưa phải sandbox OS hoặc container cho file parser.</a:t>
            </a:r>
          </a:p>
          <a:p/>
          <a:p>
            <a:r>
              <a:t>Ba khối mô phỏng hoặc test là 30 ảnh tổng hợp, 5 fixture Verify và evidence overlay prototype. Overlay chỉ gắn với hash, chưa nối extraction hoặc policy và chưa có benchmark localization trên ảnh unseen.</a:t>
            </a:r>
          </a:p>
          <a:p/>
          <a:p>
            <a:r>
              <a:t>Mô hình hiện tại là localhost, một process; AI gọi qua OpenRouter tới route Alibaba; fallback Ollama tắt.</a:t>
            </a:r>
          </a:p>
          <a:p/>
          <a:p>
            <a:r>
              <a:t>Nguồn: submission/AURA_WORKFLOW_SPEC.md; submission/AURA_PROPOSAL_VI.md; docs/CURRENT_PROJECT_STATUS.md; src/AURA/Infrastructure/AI/ReceiptExtractionContract.cs; src/AURA/Core/Policy/PolicyDecisionEngine.cs.</a:t>
            </a:r>
          </a:p>
          <a:p/>
          <a:p>
            <a:r>
              <a:t>CHUYỂN: Slide cuối biến khoảng cách từ demo tới production thành các security gate có thể kiểm chứng.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Slide cuối tách ba phần: lỗi đã quan sát, hạn chế còn lại và security gate trước khi đưa demo vào production.</a:t>
            </a:r>
          </a:p>
          <a:p/>
          <a:p>
            <a:r>
              <a:t>Trong mini-holdout, hai over-escalation là FAHASA và GS25_2. FAHASA bị validator từ chối nhãn ‘Thanh toán 91.500 đ’; GS25_2 bị thiếu merchantName gần vùng che. Hệ thống dừng ở FACT để người duyệt kiểm tra, nên không có missed escalation hay provider error.</a:t>
            </a:r>
          </a:p>
          <a:p/>
          <a:p>
            <a:r>
              <a:t>Hai trên ba mươi field trọng yếu sai là hai field của Phương Nam: ngày bị vùng che cắt và identifier bị suy diễn quá mức. Quyết định vẫn đúng FACT; đây là redaction confounder phải công bố riêng, không đồng nhất với hai ca over-escalation.</a:t>
            </a:r>
          </a:p>
          <a:p/>
          <a:p>
            <a:r>
              <a:t>Regression trên 12 ảnh đã biết đạt 10/12 với cùng hai failure mode. Lượt tuần tự 11/12 cho thấy variance, nên không dùng chính các ảnh này để nới guard.</a:t>
            </a:r>
          </a:p>
          <a:p/>
          <a:p>
            <a:r>
              <a:t>Từ demo tới production, identity phải chuyển từ metadata sang OIDC hoặc SSO và service identity. Least privilege cần role matrix deny-by-default cho người gửi, reviewer, manager và operator, kèm authorization tests và audit.</a:t>
            </a:r>
          </a:p>
          <a:p/>
          <a:p>
            <a:r>
              <a:t>Sandbox hiện mới ở mức logical: model không có tool hay quyền ghi DB trực tiếp. Production cần quarantine, AV hoặc CDR, parser cô lập với quyền thấp, cùng giới hạn CPU, RAM, thời gian và network egress.</a:t>
            </a:r>
          </a:p>
          <a:p/>
          <a:p>
            <a:r>
              <a:t>Scale vẫn cần distributed limiter, cooldown, circuit và lock trước multi-instance; user study vẫn PENDING và feedback chung của doanh nghiệp không thay thế record từ ba người dùng.</a:t>
            </a:r>
          </a:p>
          <a:p/>
          <a:p>
            <a:r>
              <a:t>Nguồn: docs/EVALUATION_EVIDENCE.md; docs/CURRENT_PROJECT_STATUS.md; submission/AURA_WORKFLOW_SPEC.md; submission/AURA_PROPOSAL_VI.md.</a:t>
            </a:r>
          </a:p>
          <a:p/>
          <a:p>
            <a:r>
              <a:t>KẾT: AURA là supervised MVP có ranh giới quyết định rõ, chưa tự nhận production-ready. Chỉ mở rộng khi từng security gate đạt bằng test và audit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AURA_CONTENT_1">
    <p:spTree>
      <p:nvGrpSpPr>
        <p:cNvPr id="1" name=""/>
        <p:cNvGrpSpPr/>
        <p:nvPr/>
      </p:nvGrpSpPr>
      <p:grpSpPr/>
      <p:sp>
        <p:nvSpPr>
          <p:cNvPr id="4" name="Layout_Divider"/>
          <p:cNvSpPr>
            <a:spLocks noGrp="1"/>
          </p:cNvSpPr>
          <p:nvPr/>
        </p:nvSpPr>
        <p:spPr>
          <a:xfrm>
            <a:off x="552450" y="1104900"/>
            <a:ext cx="11087100" cy="0"/>
          </a:xfrm>
          <a:prstGeom prst="line">
            <a:avLst/>
          </a:prstGeom>
          <a:noFill/>
          <a:ln w="9525">
            <a:solidFill>
              <a:srgbClr val="31445C"/>
            </a:solidFill>
            <a:prstDash val="solid"/>
          </a:ln>
        </p:spPr>
      </p:sp>
      <p:sp>
        <p:nvSpPr>
          <p:cNvPr id="2" name="Layout_Footer"/>
          <p:cNvSpPr>
            <a:spLocks noGrp="1"/>
          </p:cNvSpPr>
          <p:nvPr/>
        </p:nvSpPr>
        <p:spPr>
          <a:xfrm>
            <a:off x="552450" y="6534150"/>
            <a:ext cx="5143500" cy="152400"/>
          </a:xfrm>
          <a:prstGeom prst="rect">
            <a:avLst/>
          </a:prstGeom>
          <a:noFill/>
          <a:ln w="0">
            <a:noFill/>
          </a:ln>
        </p:spPr>
        <p:txBody>
          <a:bodyPr lIns="0" tIns="0" rIns="0" bIns="0" anchor="t">
            <a:noAutofit/>
          </a:bodyPr>
          <a:lstStyle>
            <a:defPPr algn="l">
              <a:defRPr sz="750" b="0">
                <a:solidFill>
                  <a:srgbClr val="A6B3C4"/>
                </a:solidFill>
                <a:latin typeface="Segoe UI" panose="020B0502040204020203"/>
                <a:ea typeface="Segoe UI" panose="020B0502040204020203"/>
                <a:cs typeface="Segoe UI" panose="020B0502040204020203"/>
              </a:defRPr>
            </a:defPPr>
          </a:lstStyle>
          <a:p>
            <a:pPr algn="l">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AURA • Track VNG • 16/10/2026</a:t>
            </a:r>
            <a:endParaRPr sz="750" b="0">
              <a:solidFill>
                <a:srgbClr val="A6B3C4"/>
              </a:solidFill>
              <a:latin typeface="Segoe UI" panose="020B0502040204020203"/>
              <a:ea typeface="Segoe UI" panose="020B0502040204020203"/>
              <a:cs typeface="Segoe UI" panose="020B0502040204020203"/>
            </a:endParaRPr>
          </a:p>
        </p:txBody>
      </p:sp>
      <p:sp>
        <p:nvSpPr>
          <p:cNvPr id="3" name="Layout_PageNumber"/>
          <p:cNvSpPr>
            <a:spLocks noGrp="1"/>
          </p:cNvSpPr>
          <p:nvPr/>
        </p:nvSpPr>
        <p:spPr>
          <a:xfrm>
            <a:off x="11049000" y="6515100"/>
            <a:ext cx="590550" cy="171450"/>
          </a:xfrm>
          <a:prstGeom prst="rect">
            <a:avLst/>
          </a:prstGeom>
          <a:noFill/>
          <a:ln w="0">
            <a:noFill/>
          </a:ln>
        </p:spPr>
        <p:txBody>
          <a:bodyPr lIns="0" tIns="0" rIns="0" bIns="0" anchor="t">
            <a:noAutofit/>
          </a:bodyPr>
          <a:lstStyle>
            <a:defPPr algn="r">
              <a:defRPr sz="750" b="1">
                <a:solidFill>
                  <a:srgbClr val="A6B3C4"/>
                </a:solidFill>
                <a:latin typeface="Segoe UI" panose="020B0502040204020203"/>
                <a:ea typeface="Segoe UI" panose="020B0502040204020203"/>
                <a:cs typeface="Segoe UI" panose="020B0502040204020203"/>
              </a:defRPr>
            </a:defPPr>
          </a:lstStyle>
          <a:p>
            <a:pPr algn="r">
              <a:defRPr sz="750" b="1">
                <a:solidFill>
                  <a:srgbClr val="A6B3C4"/>
                </a:solidFill>
                <a:latin typeface="Segoe UI" panose="020B0502040204020203"/>
                <a:ea typeface="Segoe UI" panose="020B0502040204020203"/>
                <a:cs typeface="Segoe UI" panose="020B0502040204020203"/>
              </a:defRPr>
            </a:pPr>
            <a:r>
              <a:rPr sz="750" b="1">
                <a:solidFill>
                  <a:srgbClr val="A6B3C4"/>
                </a:solidFill>
                <a:latin typeface="Segoe UI" panose="020B0502040204020203"/>
                <a:ea typeface="Segoe UI" panose="020B0502040204020203"/>
                <a:cs typeface="Segoe UI" panose="020B0502040204020203"/>
              </a:rPr>
              <a:t>1</a:t>
            </a:r>
            <a:endParaRPr sz="750" b="1">
              <a:solidFill>
                <a:srgbClr val="A6B3C4"/>
              </a:solidFill>
              <a:latin typeface="Segoe UI" panose="020B0502040204020203"/>
              <a:ea typeface="Segoe UI" panose="020B0502040204020203"/>
              <a:cs typeface="Segoe UI" panose="020B0502040204020203"/>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AURA_CONTENT_2">
    <p:spTree>
      <p:nvGrpSpPr>
        <p:cNvPr id="1" name=""/>
        <p:cNvGrpSpPr/>
        <p:nvPr/>
      </p:nvGrpSpPr>
      <p:grpSpPr/>
      <p:sp>
        <p:nvSpPr>
          <p:cNvPr id="4" name="Layout_Divider"/>
          <p:cNvSpPr>
            <a:spLocks noGrp="1"/>
          </p:cNvSpPr>
          <p:nvPr/>
        </p:nvSpPr>
        <p:spPr>
          <a:xfrm>
            <a:off x="552450" y="1104900"/>
            <a:ext cx="11087100" cy="0"/>
          </a:xfrm>
          <a:prstGeom prst="line">
            <a:avLst/>
          </a:prstGeom>
          <a:noFill/>
          <a:ln w="9525">
            <a:solidFill>
              <a:srgbClr val="31445C"/>
            </a:solidFill>
            <a:prstDash val="solid"/>
          </a:ln>
        </p:spPr>
      </p:sp>
      <p:sp>
        <p:nvSpPr>
          <p:cNvPr id="2" name="Layout_Footer"/>
          <p:cNvSpPr>
            <a:spLocks noGrp="1"/>
          </p:cNvSpPr>
          <p:nvPr/>
        </p:nvSpPr>
        <p:spPr>
          <a:xfrm>
            <a:off x="552450" y="6534150"/>
            <a:ext cx="5143500" cy="152400"/>
          </a:xfrm>
          <a:prstGeom prst="rect">
            <a:avLst/>
          </a:prstGeom>
          <a:noFill/>
          <a:ln w="0">
            <a:noFill/>
          </a:ln>
        </p:spPr>
        <p:txBody>
          <a:bodyPr lIns="0" tIns="0" rIns="0" bIns="0" anchor="t">
            <a:noAutofit/>
          </a:bodyPr>
          <a:lstStyle>
            <a:defPPr algn="l">
              <a:defRPr sz="750" b="0">
                <a:solidFill>
                  <a:srgbClr val="A6B3C4"/>
                </a:solidFill>
                <a:latin typeface="Segoe UI" panose="020B0502040204020203"/>
                <a:ea typeface="Segoe UI" panose="020B0502040204020203"/>
                <a:cs typeface="Segoe UI" panose="020B0502040204020203"/>
              </a:defRPr>
            </a:defPPr>
          </a:lstStyle>
          <a:p>
            <a:pPr algn="l">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AURA • Track VNG • 16/10/2026</a:t>
            </a:r>
            <a:endParaRPr sz="750" b="0">
              <a:solidFill>
                <a:srgbClr val="A6B3C4"/>
              </a:solidFill>
              <a:latin typeface="Segoe UI" panose="020B0502040204020203"/>
              <a:ea typeface="Segoe UI" panose="020B0502040204020203"/>
              <a:cs typeface="Segoe UI" panose="020B0502040204020203"/>
            </a:endParaRPr>
          </a:p>
        </p:txBody>
      </p:sp>
      <p:sp>
        <p:nvSpPr>
          <p:cNvPr id="3" name="Layout_PageNumber"/>
          <p:cNvSpPr>
            <a:spLocks noGrp="1"/>
          </p:cNvSpPr>
          <p:nvPr/>
        </p:nvSpPr>
        <p:spPr>
          <a:xfrm>
            <a:off x="11049000" y="6515100"/>
            <a:ext cx="590550" cy="171450"/>
          </a:xfrm>
          <a:prstGeom prst="rect">
            <a:avLst/>
          </a:prstGeom>
          <a:noFill/>
          <a:ln w="0">
            <a:noFill/>
          </a:ln>
        </p:spPr>
        <p:txBody>
          <a:bodyPr lIns="0" tIns="0" rIns="0" bIns="0" anchor="t">
            <a:noAutofit/>
          </a:bodyPr>
          <a:lstStyle>
            <a:defPPr algn="r">
              <a:defRPr sz="750" b="1">
                <a:solidFill>
                  <a:srgbClr val="A6B3C4"/>
                </a:solidFill>
                <a:latin typeface="Segoe UI" panose="020B0502040204020203"/>
                <a:ea typeface="Segoe UI" panose="020B0502040204020203"/>
                <a:cs typeface="Segoe UI" panose="020B0502040204020203"/>
              </a:defRPr>
            </a:defPPr>
          </a:lstStyle>
          <a:p>
            <a:pPr algn="r">
              <a:defRPr sz="750" b="1">
                <a:solidFill>
                  <a:srgbClr val="A6B3C4"/>
                </a:solidFill>
                <a:latin typeface="Segoe UI" panose="020B0502040204020203"/>
                <a:ea typeface="Segoe UI" panose="020B0502040204020203"/>
                <a:cs typeface="Segoe UI" panose="020B0502040204020203"/>
              </a:defRPr>
            </a:pPr>
            <a:r>
              <a:rPr sz="750" b="1">
                <a:solidFill>
                  <a:srgbClr val="A6B3C4"/>
                </a:solidFill>
                <a:latin typeface="Segoe UI" panose="020B0502040204020203"/>
                <a:ea typeface="Segoe UI" panose="020B0502040204020203"/>
                <a:cs typeface="Segoe UI" panose="020B0502040204020203"/>
              </a:rPr>
              <a:t>2</a:t>
            </a:r>
            <a:endParaRPr sz="750" b="1">
              <a:solidFill>
                <a:srgbClr val="A6B3C4"/>
              </a:solidFill>
              <a:latin typeface="Segoe UI" panose="020B0502040204020203"/>
              <a:ea typeface="Segoe UI" panose="020B0502040204020203"/>
              <a:cs typeface="Segoe UI" panose="020B0502040204020203"/>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AURA_CONTENT_3">
    <p:spTree>
      <p:nvGrpSpPr>
        <p:cNvPr id="1" name=""/>
        <p:cNvGrpSpPr/>
        <p:nvPr/>
      </p:nvGrpSpPr>
      <p:grpSpPr/>
      <p:sp>
        <p:nvSpPr>
          <p:cNvPr id="4" name="Layout_Divider"/>
          <p:cNvSpPr>
            <a:spLocks noGrp="1"/>
          </p:cNvSpPr>
          <p:nvPr/>
        </p:nvSpPr>
        <p:spPr>
          <a:xfrm>
            <a:off x="552450" y="1104900"/>
            <a:ext cx="11087100" cy="0"/>
          </a:xfrm>
          <a:prstGeom prst="line">
            <a:avLst/>
          </a:prstGeom>
          <a:noFill/>
          <a:ln w="9525">
            <a:solidFill>
              <a:srgbClr val="31445C"/>
            </a:solidFill>
            <a:prstDash val="solid"/>
          </a:ln>
        </p:spPr>
      </p:sp>
      <p:sp>
        <p:nvSpPr>
          <p:cNvPr id="2" name="Layout_Footer"/>
          <p:cNvSpPr>
            <a:spLocks noGrp="1"/>
          </p:cNvSpPr>
          <p:nvPr/>
        </p:nvSpPr>
        <p:spPr>
          <a:xfrm>
            <a:off x="552450" y="6534150"/>
            <a:ext cx="5143500" cy="152400"/>
          </a:xfrm>
          <a:prstGeom prst="rect">
            <a:avLst/>
          </a:prstGeom>
          <a:noFill/>
          <a:ln w="0">
            <a:noFill/>
          </a:ln>
        </p:spPr>
        <p:txBody>
          <a:bodyPr lIns="0" tIns="0" rIns="0" bIns="0" anchor="t">
            <a:noAutofit/>
          </a:bodyPr>
          <a:lstStyle>
            <a:defPPr algn="l">
              <a:defRPr sz="750" b="0">
                <a:solidFill>
                  <a:srgbClr val="A6B3C4"/>
                </a:solidFill>
                <a:latin typeface="Segoe UI" panose="020B0502040204020203"/>
                <a:ea typeface="Segoe UI" panose="020B0502040204020203"/>
                <a:cs typeface="Segoe UI" panose="020B0502040204020203"/>
              </a:defRPr>
            </a:defPPr>
          </a:lstStyle>
          <a:p>
            <a:pPr algn="l">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AURA • Track VNG • 16/10/2026</a:t>
            </a:r>
            <a:endParaRPr sz="750" b="0">
              <a:solidFill>
                <a:srgbClr val="A6B3C4"/>
              </a:solidFill>
              <a:latin typeface="Segoe UI" panose="020B0502040204020203"/>
              <a:ea typeface="Segoe UI" panose="020B0502040204020203"/>
              <a:cs typeface="Segoe UI" panose="020B0502040204020203"/>
            </a:endParaRPr>
          </a:p>
        </p:txBody>
      </p:sp>
      <p:sp>
        <p:nvSpPr>
          <p:cNvPr id="3" name="Layout_PageNumber"/>
          <p:cNvSpPr>
            <a:spLocks noGrp="1"/>
          </p:cNvSpPr>
          <p:nvPr/>
        </p:nvSpPr>
        <p:spPr>
          <a:xfrm>
            <a:off x="11049000" y="6515100"/>
            <a:ext cx="590550" cy="171450"/>
          </a:xfrm>
          <a:prstGeom prst="rect">
            <a:avLst/>
          </a:prstGeom>
          <a:noFill/>
          <a:ln w="0">
            <a:noFill/>
          </a:ln>
        </p:spPr>
        <p:txBody>
          <a:bodyPr lIns="0" tIns="0" rIns="0" bIns="0" anchor="t">
            <a:noAutofit/>
          </a:bodyPr>
          <a:lstStyle>
            <a:defPPr algn="r">
              <a:defRPr sz="750" b="1">
                <a:solidFill>
                  <a:srgbClr val="A6B3C4"/>
                </a:solidFill>
                <a:latin typeface="Segoe UI" panose="020B0502040204020203"/>
                <a:ea typeface="Segoe UI" panose="020B0502040204020203"/>
                <a:cs typeface="Segoe UI" panose="020B0502040204020203"/>
              </a:defRPr>
            </a:defPPr>
          </a:lstStyle>
          <a:p>
            <a:pPr algn="r">
              <a:defRPr sz="750" b="1">
                <a:solidFill>
                  <a:srgbClr val="A6B3C4"/>
                </a:solidFill>
                <a:latin typeface="Segoe UI" panose="020B0502040204020203"/>
                <a:ea typeface="Segoe UI" panose="020B0502040204020203"/>
                <a:cs typeface="Segoe UI" panose="020B0502040204020203"/>
              </a:defRPr>
            </a:pPr>
            <a:r>
              <a:rPr sz="750" b="1">
                <a:solidFill>
                  <a:srgbClr val="A6B3C4"/>
                </a:solidFill>
                <a:latin typeface="Segoe UI" panose="020B0502040204020203"/>
                <a:ea typeface="Segoe UI" panose="020B0502040204020203"/>
                <a:cs typeface="Segoe UI" panose="020B0502040204020203"/>
              </a:rPr>
              <a:t>3</a:t>
            </a:r>
            <a:endParaRPr sz="750" b="1">
              <a:solidFill>
                <a:srgbClr val="A6B3C4"/>
              </a:solidFill>
              <a:latin typeface="Segoe UI" panose="020B0502040204020203"/>
              <a:ea typeface="Segoe UI" panose="020B0502040204020203"/>
              <a:cs typeface="Segoe UI" panose="020B0502040204020203"/>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RA_CONTENT_4">
    <p:spTree>
      <p:nvGrpSpPr>
        <p:cNvPr id="1" name=""/>
        <p:cNvGrpSpPr/>
        <p:nvPr/>
      </p:nvGrpSpPr>
      <p:grpSpPr/>
      <p:sp>
        <p:nvSpPr>
          <p:cNvPr id="4" name="Layout_Divider"/>
          <p:cNvSpPr>
            <a:spLocks noGrp="1"/>
          </p:cNvSpPr>
          <p:nvPr/>
        </p:nvSpPr>
        <p:spPr>
          <a:xfrm>
            <a:off x="552450" y="1104900"/>
            <a:ext cx="11087100" cy="0"/>
          </a:xfrm>
          <a:prstGeom prst="line">
            <a:avLst/>
          </a:prstGeom>
          <a:noFill/>
          <a:ln w="9525">
            <a:solidFill>
              <a:srgbClr val="31445C"/>
            </a:solidFill>
            <a:prstDash val="solid"/>
          </a:ln>
        </p:spPr>
      </p:sp>
      <p:sp>
        <p:nvSpPr>
          <p:cNvPr id="2" name="Layout_Footer"/>
          <p:cNvSpPr>
            <a:spLocks noGrp="1"/>
          </p:cNvSpPr>
          <p:nvPr/>
        </p:nvSpPr>
        <p:spPr>
          <a:xfrm>
            <a:off x="552450" y="6534150"/>
            <a:ext cx="5143500" cy="152400"/>
          </a:xfrm>
          <a:prstGeom prst="rect">
            <a:avLst/>
          </a:prstGeom>
          <a:noFill/>
          <a:ln w="0">
            <a:noFill/>
          </a:ln>
        </p:spPr>
        <p:txBody>
          <a:bodyPr lIns="0" tIns="0" rIns="0" bIns="0" anchor="t">
            <a:noAutofit/>
          </a:bodyPr>
          <a:lstStyle>
            <a:defPPr algn="l">
              <a:defRPr sz="750" b="0">
                <a:solidFill>
                  <a:srgbClr val="A6B3C4"/>
                </a:solidFill>
                <a:latin typeface="Segoe UI" panose="020B0502040204020203"/>
                <a:ea typeface="Segoe UI" panose="020B0502040204020203"/>
                <a:cs typeface="Segoe UI" panose="020B0502040204020203"/>
              </a:defRPr>
            </a:defPPr>
          </a:lstStyle>
          <a:p>
            <a:pPr algn="l">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AURA • Track VNG • 16/10/2026</a:t>
            </a:r>
            <a:endParaRPr sz="750" b="0">
              <a:solidFill>
                <a:srgbClr val="A6B3C4"/>
              </a:solidFill>
              <a:latin typeface="Segoe UI" panose="020B0502040204020203"/>
              <a:ea typeface="Segoe UI" panose="020B0502040204020203"/>
              <a:cs typeface="Segoe UI" panose="020B0502040204020203"/>
            </a:endParaRPr>
          </a:p>
        </p:txBody>
      </p:sp>
      <p:sp>
        <p:nvSpPr>
          <p:cNvPr id="3" name="Layout_PageNumber"/>
          <p:cNvSpPr>
            <a:spLocks noGrp="1"/>
          </p:cNvSpPr>
          <p:nvPr/>
        </p:nvSpPr>
        <p:spPr>
          <a:xfrm>
            <a:off x="11049000" y="6515100"/>
            <a:ext cx="590550" cy="171450"/>
          </a:xfrm>
          <a:prstGeom prst="rect">
            <a:avLst/>
          </a:prstGeom>
          <a:noFill/>
          <a:ln w="0">
            <a:noFill/>
          </a:ln>
        </p:spPr>
        <p:txBody>
          <a:bodyPr lIns="0" tIns="0" rIns="0" bIns="0" anchor="t">
            <a:noAutofit/>
          </a:bodyPr>
          <a:lstStyle>
            <a:defPPr algn="r">
              <a:defRPr sz="750" b="1">
                <a:solidFill>
                  <a:srgbClr val="A6B3C4"/>
                </a:solidFill>
                <a:latin typeface="Segoe UI" panose="020B0502040204020203"/>
                <a:ea typeface="Segoe UI" panose="020B0502040204020203"/>
                <a:cs typeface="Segoe UI" panose="020B0502040204020203"/>
              </a:defRPr>
            </a:defPPr>
          </a:lstStyle>
          <a:p>
            <a:pPr algn="r">
              <a:defRPr sz="750" b="1">
                <a:solidFill>
                  <a:srgbClr val="A6B3C4"/>
                </a:solidFill>
                <a:latin typeface="Segoe UI" panose="020B0502040204020203"/>
                <a:ea typeface="Segoe UI" panose="020B0502040204020203"/>
                <a:cs typeface="Segoe UI" panose="020B0502040204020203"/>
              </a:defRPr>
            </a:pPr>
            <a:r>
              <a:rPr sz="750" b="1">
                <a:solidFill>
                  <a:srgbClr val="A6B3C4"/>
                </a:solidFill>
                <a:latin typeface="Segoe UI" panose="020B0502040204020203"/>
                <a:ea typeface="Segoe UI" panose="020B0502040204020203"/>
                <a:cs typeface="Segoe UI" panose="020B0502040204020203"/>
              </a:rPr>
              <a:t>4</a:t>
            </a:r>
            <a:endParaRPr sz="750" b="1">
              <a:solidFill>
                <a:srgbClr val="A6B3C4"/>
              </a:solidFill>
              <a:latin typeface="Segoe UI" panose="020B0502040204020203"/>
              <a:ea typeface="Segoe UI" panose="020B0502040204020203"/>
              <a:cs typeface="Segoe UI" panose="020B0502040204020203"/>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URA_CONTENT_5">
    <p:spTree>
      <p:nvGrpSpPr>
        <p:cNvPr id="1" name=""/>
        <p:cNvGrpSpPr/>
        <p:nvPr/>
      </p:nvGrpSpPr>
      <p:grpSpPr/>
      <p:sp>
        <p:nvSpPr>
          <p:cNvPr id="5" name="Layout_Divider"/>
          <p:cNvSpPr>
            <a:spLocks noGrp="1"/>
          </p:cNvSpPr>
          <p:nvPr/>
        </p:nvSpPr>
        <p:spPr>
          <a:xfrm>
            <a:off x="552450" y="1104900"/>
            <a:ext cx="11087100" cy="0"/>
          </a:xfrm>
          <a:prstGeom prst="line">
            <a:avLst/>
          </a:prstGeom>
          <a:noFill/>
          <a:ln w="9525">
            <a:solidFill>
              <a:srgbClr val="31445C"/>
            </a:solidFill>
            <a:prstDash val="solid"/>
          </a:ln>
        </p:spPr>
      </p:sp>
      <p:sp>
        <p:nvSpPr>
          <p:cNvPr id="2" name="Layout_Footer"/>
          <p:cNvSpPr>
            <a:spLocks noGrp="1"/>
          </p:cNvSpPr>
          <p:nvPr/>
        </p:nvSpPr>
        <p:spPr>
          <a:xfrm>
            <a:off x="552450" y="6534150"/>
            <a:ext cx="5143500" cy="152400"/>
          </a:xfrm>
          <a:prstGeom prst="rect">
            <a:avLst/>
          </a:prstGeom>
          <a:noFill/>
          <a:ln w="0">
            <a:noFill/>
          </a:ln>
        </p:spPr>
        <p:txBody>
          <a:bodyPr lIns="0" tIns="0" rIns="0" bIns="0" anchor="t">
            <a:noAutofit/>
          </a:bodyPr>
          <a:lstStyle>
            <a:defPPr algn="l">
              <a:defRPr sz="750" b="0">
                <a:solidFill>
                  <a:srgbClr val="A6B3C4"/>
                </a:solidFill>
                <a:latin typeface="Segoe UI" panose="020B0502040204020203"/>
                <a:ea typeface="Segoe UI" panose="020B0502040204020203"/>
                <a:cs typeface="Segoe UI" panose="020B0502040204020203"/>
              </a:defRPr>
            </a:defPPr>
          </a:lstStyle>
          <a:p>
            <a:pPr algn="l">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AURA • Track VNG • 16/10/2026</a:t>
            </a:r>
            <a:endParaRPr sz="750" b="0">
              <a:solidFill>
                <a:srgbClr val="A6B3C4"/>
              </a:solidFill>
              <a:latin typeface="Segoe UI" panose="020B0502040204020203"/>
              <a:ea typeface="Segoe UI" panose="020B0502040204020203"/>
              <a:cs typeface="Segoe UI" panose="020B0502040204020203"/>
            </a:endParaRPr>
          </a:p>
        </p:txBody>
      </p:sp>
      <p:sp>
        <p:nvSpPr>
          <p:cNvPr id="3" name="Layout_LimitFooter"/>
          <p:cNvSpPr>
            <a:spLocks noGrp="1"/>
          </p:cNvSpPr>
          <p:nvPr/>
        </p:nvSpPr>
        <p:spPr>
          <a:xfrm>
            <a:off x="3048000" y="6534150"/>
            <a:ext cx="6096000" cy="152400"/>
          </a:xfrm>
          <a:prstGeom prst="rect">
            <a:avLst/>
          </a:prstGeom>
          <a:noFill/>
          <a:ln w="0">
            <a:noFill/>
          </a:ln>
        </p:spPr>
        <p:txBody>
          <a:bodyPr lIns="0" tIns="0" rIns="0" bIns="0" anchor="t">
            <a:noAutofit/>
          </a:bodyPr>
          <a:lstStyle>
            <a:defPPr algn="ctr">
              <a:defRPr sz="750" b="0">
                <a:solidFill>
                  <a:srgbClr val="A6B3C4"/>
                </a:solidFill>
                <a:latin typeface="Segoe UI" panose="020B0502040204020203"/>
                <a:ea typeface="Segoe UI" panose="020B0502040204020203"/>
                <a:cs typeface="Segoe UI" panose="020B0502040204020203"/>
              </a:defRPr>
            </a:defPPr>
          </a:lstStyle>
          <a:p>
            <a:pPr algn="ctr">
              <a:defRPr sz="750" b="0">
                <a:solidFill>
                  <a:srgbClr val="A6B3C4"/>
                </a:solidFill>
                <a:latin typeface="Segoe UI" panose="020B0502040204020203"/>
                <a:ea typeface="Segoe UI" panose="020B0502040204020203"/>
                <a:cs typeface="Segoe UI" panose="020B0502040204020203"/>
              </a:defRPr>
            </a:pPr>
            <a:r>
              <a:rPr sz="750" b="0">
                <a:solidFill>
                  <a:srgbClr val="A6B3C4"/>
                </a:solidFill>
                <a:latin typeface="Segoe UI" panose="020B0502040204020203"/>
                <a:ea typeface="Segoe UI" panose="020B0502040204020203"/>
                <a:cs typeface="Segoe UI" panose="020B0502040204020203"/>
              </a:rPr>
              <a:t>Giới hạn hiện tại, không phải lời hứa marketing</a:t>
            </a:r>
            <a:endParaRPr sz="750" b="0">
              <a:solidFill>
                <a:srgbClr val="A6B3C4"/>
              </a:solidFill>
              <a:latin typeface="Segoe UI" panose="020B0502040204020203"/>
              <a:ea typeface="Segoe UI" panose="020B0502040204020203"/>
              <a:cs typeface="Segoe UI" panose="020B0502040204020203"/>
            </a:endParaRPr>
          </a:p>
        </p:txBody>
      </p:sp>
      <p:sp>
        <p:nvSpPr>
          <p:cNvPr id="4" name="Layout_PageNumber"/>
          <p:cNvSpPr>
            <a:spLocks noGrp="1"/>
          </p:cNvSpPr>
          <p:nvPr/>
        </p:nvSpPr>
        <p:spPr>
          <a:xfrm>
            <a:off x="11049000" y="6515100"/>
            <a:ext cx="590550" cy="171450"/>
          </a:xfrm>
          <a:prstGeom prst="rect">
            <a:avLst/>
          </a:prstGeom>
          <a:noFill/>
          <a:ln w="0">
            <a:noFill/>
          </a:ln>
        </p:spPr>
        <p:txBody>
          <a:bodyPr lIns="0" tIns="0" rIns="0" bIns="0" anchor="t">
            <a:noAutofit/>
          </a:bodyPr>
          <a:lstStyle>
            <a:defPPr algn="r">
              <a:defRPr sz="750" b="1">
                <a:solidFill>
                  <a:srgbClr val="A6B3C4"/>
                </a:solidFill>
                <a:latin typeface="Segoe UI" panose="020B0502040204020203"/>
                <a:ea typeface="Segoe UI" panose="020B0502040204020203"/>
                <a:cs typeface="Segoe UI" panose="020B0502040204020203"/>
              </a:defRPr>
            </a:defPPr>
          </a:lstStyle>
          <a:p>
            <a:pPr algn="r">
              <a:defRPr sz="750" b="1">
                <a:solidFill>
                  <a:srgbClr val="A6B3C4"/>
                </a:solidFill>
                <a:latin typeface="Segoe UI" panose="020B0502040204020203"/>
                <a:ea typeface="Segoe UI" panose="020B0502040204020203"/>
                <a:cs typeface="Segoe UI" panose="020B0502040204020203"/>
              </a:defRPr>
            </a:pPr>
            <a:r>
              <a:rPr sz="750" b="1">
                <a:solidFill>
                  <a:srgbClr val="A6B3C4"/>
                </a:solidFill>
                <a:latin typeface="Segoe UI" panose="020B0502040204020203"/>
                <a:ea typeface="Segoe UI" panose="020B0502040204020203"/>
                <a:cs typeface="Segoe UI" panose="020B0502040204020203"/>
              </a:rPr>
              <a:t>5</a:t>
            </a:r>
            <a:endParaRPr sz="750" b="1">
              <a:solidFill>
                <a:srgbClr val="A6B3C4"/>
              </a:solidFill>
              <a:latin typeface="Segoe UI" panose="020B0502040204020203"/>
              <a:ea typeface="Segoe UI" panose="020B0502040204020203"/>
              <a:cs typeface="Segoe UI" panose="020B050204020402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522"/>
        </a:solidFill>
        <a:effectLst/>
      </p:bgPr>
    </p:bg>
    <p:spTree>
      <p:nvGrpSpPr>
        <p:cNvPr id="1" name=""/>
        <p:cNvGrpSpPr/>
        <p:nvPr/>
      </p:nvGrpSpPr>
      <p:grpSpPr/>
      <p:sp>
        <p:nvSpPr>
          <p:cNvPr id="37" name="Slide_Title"/>
          <p:cNvSpPr>
            <a:spLocks noGrp="1"/>
          </p:cNvSpPr>
          <p:nvPr/>
        </p:nvSpPr>
        <p:spPr>
          <a:xfrm>
            <a:off x="552450" y="266700"/>
            <a:ext cx="11087100" cy="400050"/>
          </a:xfrm>
          <a:prstGeom prst="rect">
            <a:avLst/>
          </a:prstGeom>
          <a:noFill/>
          <a:ln w="0">
            <a:noFill/>
          </a:ln>
        </p:spPr>
        <p:txBody>
          <a:bodyPr lIns="0" tIns="0" rIns="0" bIns="0" anchor="t">
            <a:noAutofit/>
          </a:bodyPr>
          <a:lstStyle>
            <a:defPPr algn="l">
              <a:defRPr sz="2400" b="1">
                <a:solidFill>
                  <a:srgbClr val="F4F7FB"/>
                </a:solidFill>
                <a:latin typeface="Segoe UI" panose="020B0502040204020203"/>
                <a:ea typeface="Segoe UI" panose="020B0502040204020203"/>
                <a:cs typeface="Segoe UI" panose="020B0502040204020203"/>
              </a:defRPr>
            </a:defPPr>
          </a:lstStyle>
          <a:p>
            <a:pPr algn="l">
              <a:defRPr sz="2400" b="1">
                <a:solidFill>
                  <a:srgbClr val="F4F7FB"/>
                </a:solidFill>
                <a:latin typeface="Segoe UI" panose="020B0502040204020203"/>
                <a:ea typeface="Segoe UI" panose="020B0502040204020203"/>
                <a:cs typeface="Segoe UI" panose="020B0502040204020203"/>
              </a:defRPr>
            </a:pPr>
            <a:r>
              <a:rPr sz="2400" b="1">
                <a:solidFill>
                  <a:srgbClr val="F4F7FB"/>
                </a:solidFill>
                <a:latin typeface="Segoe UI" panose="020B0502040204020203"/>
                <a:ea typeface="Segoe UI" panose="020B0502040204020203"/>
                <a:cs typeface="Segoe UI" panose="020B0502040204020203"/>
              </a:rPr>
              <a:t>Quy trình hoàn ứng hiện tại: năm điểm chờ thiếu bằng chứng</a:t>
            </a:r>
            <a:endParaRPr sz="2400" b="1">
              <a:solidFill>
                <a:srgbClr val="F4F7FB"/>
              </a:solidFill>
              <a:latin typeface="Segoe UI" panose="020B0502040204020203"/>
              <a:ea typeface="Segoe UI" panose="020B0502040204020203"/>
              <a:cs typeface="Segoe UI" panose="020B0502040204020203"/>
            </a:endParaRPr>
          </a:p>
        </p:txBody>
      </p:sp>
      <p:sp>
        <p:nvSpPr>
          <p:cNvPr id="2" name="Slide_Subtitle"/>
          <p:cNvSpPr>
            <a:spLocks noGrp="1"/>
          </p:cNvSpPr>
          <p:nvPr/>
        </p:nvSpPr>
        <p:spPr>
          <a:xfrm>
            <a:off x="552450" y="723900"/>
            <a:ext cx="11087100" cy="266700"/>
          </a:xfrm>
          <a:prstGeom prst="rect">
            <a:avLst/>
          </a:prstGeom>
          <a:noFill/>
          <a:ln w="0">
            <a:noFill/>
          </a:ln>
        </p:spPr>
        <p:txBody>
          <a:bodyPr lIns="0" tIns="0" rIns="0" bIns="0" anchor="t">
            <a:noAutofit/>
          </a:bodyPr>
          <a:lstStyle>
            <a:defPPr algn="l">
              <a:defRPr sz="1275" b="0">
                <a:solidFill>
                  <a:srgbClr val="A6B3C4"/>
                </a:solidFill>
                <a:latin typeface="Segoe UI" panose="020B0502040204020203"/>
                <a:ea typeface="Segoe UI" panose="020B0502040204020203"/>
                <a:cs typeface="Segoe UI" panose="020B0502040204020203"/>
              </a:defRPr>
            </a:defPPr>
          </a:lstStyle>
          <a:p>
            <a:pPr algn="l">
              <a:defRPr sz="1275" b="0">
                <a:solidFill>
                  <a:srgbClr val="A6B3C4"/>
                </a:solidFill>
                <a:latin typeface="Segoe UI" panose="020B0502040204020203"/>
                <a:ea typeface="Segoe UI" panose="020B0502040204020203"/>
                <a:cs typeface="Segoe UI" panose="020B0502040204020203"/>
              </a:defRPr>
            </a:pPr>
            <a:r>
              <a:rPr sz="1275" b="0">
                <a:solidFill>
                  <a:srgbClr val="A6B3C4"/>
                </a:solidFill>
                <a:latin typeface="Segoe UI" panose="020B0502040204020203"/>
                <a:ea typeface="Segoe UI" panose="020B0502040204020203"/>
                <a:cs typeface="Segoe UI" panose="020B0502040204020203"/>
              </a:rPr>
              <a:t>Khoảng trống nằm ở ngoại lệ: người duyệt phải tự ghép dữ kiện, quy định và lịch sử.</a:t>
            </a:r>
            <a:endParaRPr sz="1275" b="0">
              <a:solidFill>
                <a:srgbClr val="A6B3C4"/>
              </a:solidFill>
              <a:latin typeface="Segoe UI" panose="020B0502040204020203"/>
              <a:ea typeface="Segoe UI" panose="020B0502040204020203"/>
              <a:cs typeface="Segoe UI" panose="020B0502040204020203"/>
            </a:endParaRPr>
          </a:p>
        </p:txBody>
      </p:sp>
      <p:sp>
        <p:nvSpPr>
          <p:cNvPr id="3" name="S1_Flow_1"/>
          <p:cNvSpPr>
            <a:spLocks noGrp="1"/>
          </p:cNvSpPr>
          <p:nvPr/>
        </p:nvSpPr>
        <p:spPr>
          <a:xfrm>
            <a:off x="552450" y="1428750"/>
            <a:ext cx="2057400" cy="2190750"/>
          </a:xfrm>
          <a:prstGeom prst="roundRect">
            <a:avLst>
              <a:gd name="adj" fmla="val 2778"/>
            </a:avLst>
          </a:prstGeom>
          <a:solidFill>
            <a:srgbClr val="112338"/>
          </a:solidFill>
          <a:ln w="9525">
            <a:solidFill>
              <a:srgbClr val="31445C"/>
            </a:solidFill>
            <a:prstDash val="solid"/>
          </a:ln>
        </p:spPr>
      </p:sp>
      <p:sp>
        <p:nvSpPr>
          <p:cNvPr id="4" name="S1_FlowIcon_1"/>
          <p:cNvSpPr>
            <a:spLocks noGrp="1"/>
          </p:cNvSpPr>
          <p:nvPr/>
        </p:nvSpPr>
        <p:spPr>
          <a:xfrm>
            <a:off x="704850" y="1619250"/>
            <a:ext cx="323850" cy="323850"/>
          </a:xfrm>
          <a:prstGeom prst="ellipse">
            <a:avLst/>
          </a:prstGeom>
          <a:noFill/>
          <a:ln w="14288">
            <a:solidFill>
              <a:srgbClr val="45A9BE"/>
            </a:solidFill>
            <a:prstDash val="solid"/>
          </a:ln>
        </p:spPr>
        <p:txBody>
          <a:bodyPr lIns="0" tIns="0" rIns="0" bIns="0" anchor="ctr">
            <a:noAutofit/>
          </a:bodyPr>
          <a:lstStyle>
            <a:defPPr algn="ctr">
              <a:defRPr sz="900" b="1">
                <a:solidFill>
                  <a:srgbClr val="45A9BE"/>
                </a:solidFill>
                <a:latin typeface="Segoe UI" panose="020B0502040204020203"/>
                <a:ea typeface="Segoe UI" panose="020B0502040204020203"/>
                <a:cs typeface="Segoe UI" panose="020B0502040204020203"/>
              </a:defRPr>
            </a:defPPr>
          </a:lstStyle>
          <a:p>
            <a:pPr algn="ctr">
              <a:defRPr sz="900" b="1">
                <a:solidFill>
                  <a:srgbClr val="45A9BE"/>
                </a:solidFill>
                <a:latin typeface="Segoe UI" panose="020B0502040204020203"/>
                <a:ea typeface="Segoe UI" panose="020B0502040204020203"/>
                <a:cs typeface="Segoe UI" panose="020B0502040204020203"/>
              </a:defRPr>
            </a:pPr>
            <a:r>
              <a:rPr sz="900" b="1">
                <a:solidFill>
                  <a:srgbClr val="45A9BE"/>
                </a:solidFill>
                <a:latin typeface="Segoe UI" panose="020B0502040204020203"/>
                <a:ea typeface="Segoe UI" panose="020B0502040204020203"/>
                <a:cs typeface="Segoe UI" panose="020B0502040204020203"/>
              </a:rPr>
              <a:t>01</a:t>
            </a:r>
            <a:endParaRPr sz="900" b="1">
              <a:solidFill>
                <a:srgbClr val="45A9BE"/>
              </a:solidFill>
              <a:latin typeface="Segoe UI" panose="020B0502040204020203"/>
              <a:ea typeface="Segoe UI" panose="020B0502040204020203"/>
              <a:cs typeface="Segoe UI" panose="020B0502040204020203"/>
            </a:endParaRPr>
          </a:p>
        </p:txBody>
      </p:sp>
      <p:sp>
        <p:nvSpPr>
          <p:cNvPr id="5" name="S1_FlowLabel_1"/>
          <p:cNvSpPr>
            <a:spLocks noGrp="1"/>
          </p:cNvSpPr>
          <p:nvPr/>
        </p:nvSpPr>
        <p:spPr>
          <a:xfrm>
            <a:off x="704850" y="2095500"/>
            <a:ext cx="1752600" cy="457200"/>
          </a:xfrm>
          <a:prstGeom prst="rect">
            <a:avLst/>
          </a:prstGeom>
          <a:noFill/>
          <a:ln w="0">
            <a:noFill/>
          </a:ln>
        </p:spPr>
        <p:txBody>
          <a:bodyPr lIns="0" tIns="0" rIns="0" bIns="0" anchor="ctr">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Gửi chứng từ</a:t>
            </a:r>
            <a:endParaRPr sz="1350" b="1">
              <a:solidFill>
                <a:srgbClr val="F4F7FB"/>
              </a:solidFill>
              <a:latin typeface="Segoe UI" panose="020B0502040204020203"/>
              <a:ea typeface="Segoe UI" panose="020B0502040204020203"/>
              <a:cs typeface="Segoe UI" panose="020B0502040204020203"/>
            </a:endParaRPr>
          </a:p>
        </p:txBody>
      </p:sp>
      <p:sp>
        <p:nvSpPr>
          <p:cNvPr id="6" name="S1_FlowRule_1"/>
          <p:cNvSpPr>
            <a:spLocks noGrp="1"/>
          </p:cNvSpPr>
          <p:nvPr/>
        </p:nvSpPr>
        <p:spPr>
          <a:xfrm>
            <a:off x="704850" y="2686050"/>
            <a:ext cx="1752600" cy="0"/>
          </a:xfrm>
          <a:prstGeom prst="line">
            <a:avLst/>
          </a:prstGeom>
          <a:noFill/>
          <a:ln w="9525">
            <a:solidFill>
              <a:srgbClr val="31445C"/>
            </a:solidFill>
            <a:prstDash val="solid"/>
          </a:ln>
        </p:spPr>
      </p:sp>
      <p:sp>
        <p:nvSpPr>
          <p:cNvPr id="7" name="S1_FlowPain_1"/>
          <p:cNvSpPr>
            <a:spLocks noGrp="1"/>
          </p:cNvSpPr>
          <p:nvPr/>
        </p:nvSpPr>
        <p:spPr>
          <a:xfrm>
            <a:off x="704850" y="2876550"/>
            <a:ext cx="1752600" cy="57150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Ảnh, số tiền và metadata nằm rời nhau.</a:t>
            </a:r>
            <a:endParaRPr sz="1125" b="0">
              <a:solidFill>
                <a:srgbClr val="A6B3C4"/>
              </a:solidFill>
              <a:latin typeface="Segoe UI" panose="020B0502040204020203"/>
              <a:ea typeface="Segoe UI" panose="020B0502040204020203"/>
              <a:cs typeface="Segoe UI" panose="020B0502040204020203"/>
            </a:endParaRPr>
          </a:p>
        </p:txBody>
      </p:sp>
      <p:sp>
        <p:nvSpPr>
          <p:cNvPr id="8" name="S1_Arrow_1"/>
          <p:cNvSpPr>
            <a:spLocks noGrp="1"/>
          </p:cNvSpPr>
          <p:nvPr/>
        </p:nvSpPr>
        <p:spPr>
          <a:xfrm>
            <a:off x="2619375" y="2419350"/>
            <a:ext cx="152400" cy="209550"/>
          </a:xfrm>
          <a:prstGeom prst="rightArrow">
            <a:avLst/>
          </a:prstGeom>
          <a:solidFill>
            <a:srgbClr val="31445C"/>
          </a:solidFill>
          <a:ln w="0">
            <a:solidFill>
              <a:srgbClr val="31445C"/>
            </a:solidFill>
          </a:ln>
        </p:spPr>
      </p:sp>
      <p:sp>
        <p:nvSpPr>
          <p:cNvPr id="9" name="S1_Flow_2"/>
          <p:cNvSpPr>
            <a:spLocks noGrp="1"/>
          </p:cNvSpPr>
          <p:nvPr/>
        </p:nvSpPr>
        <p:spPr>
          <a:xfrm>
            <a:off x="2781300" y="1428750"/>
            <a:ext cx="2057400" cy="2190750"/>
          </a:xfrm>
          <a:prstGeom prst="roundRect">
            <a:avLst>
              <a:gd name="adj" fmla="val 2778"/>
            </a:avLst>
          </a:prstGeom>
          <a:solidFill>
            <a:srgbClr val="112338"/>
          </a:solidFill>
          <a:ln w="9525">
            <a:solidFill>
              <a:srgbClr val="31445C"/>
            </a:solidFill>
            <a:prstDash val="solid"/>
          </a:ln>
        </p:spPr>
      </p:sp>
      <p:sp>
        <p:nvSpPr>
          <p:cNvPr id="10" name="S1_FlowIcon_2"/>
          <p:cNvSpPr>
            <a:spLocks noGrp="1"/>
          </p:cNvSpPr>
          <p:nvPr/>
        </p:nvSpPr>
        <p:spPr>
          <a:xfrm>
            <a:off x="2933700" y="1619250"/>
            <a:ext cx="323850" cy="323850"/>
          </a:xfrm>
          <a:prstGeom prst="ellipse">
            <a:avLst/>
          </a:prstGeom>
          <a:noFill/>
          <a:ln w="14288">
            <a:solidFill>
              <a:srgbClr val="45A9BE"/>
            </a:solidFill>
            <a:prstDash val="solid"/>
          </a:ln>
        </p:spPr>
        <p:txBody>
          <a:bodyPr lIns="0" tIns="0" rIns="0" bIns="0" anchor="ctr">
            <a:noAutofit/>
          </a:bodyPr>
          <a:lstStyle>
            <a:defPPr algn="ctr">
              <a:defRPr sz="900" b="1">
                <a:solidFill>
                  <a:srgbClr val="45A9BE"/>
                </a:solidFill>
                <a:latin typeface="Segoe UI" panose="020B0502040204020203"/>
                <a:ea typeface="Segoe UI" panose="020B0502040204020203"/>
                <a:cs typeface="Segoe UI" panose="020B0502040204020203"/>
              </a:defRPr>
            </a:defPPr>
          </a:lstStyle>
          <a:p>
            <a:pPr algn="ctr">
              <a:defRPr sz="900" b="1">
                <a:solidFill>
                  <a:srgbClr val="45A9BE"/>
                </a:solidFill>
                <a:latin typeface="Segoe UI" panose="020B0502040204020203"/>
                <a:ea typeface="Segoe UI" panose="020B0502040204020203"/>
                <a:cs typeface="Segoe UI" panose="020B0502040204020203"/>
              </a:defRPr>
            </a:pPr>
            <a:r>
              <a:rPr sz="900" b="1">
                <a:solidFill>
                  <a:srgbClr val="45A9BE"/>
                </a:solidFill>
                <a:latin typeface="Segoe UI" panose="020B0502040204020203"/>
                <a:ea typeface="Segoe UI" panose="020B0502040204020203"/>
                <a:cs typeface="Segoe UI" panose="020B0502040204020203"/>
              </a:rPr>
              <a:t>02</a:t>
            </a:r>
            <a:endParaRPr sz="900" b="1">
              <a:solidFill>
                <a:srgbClr val="45A9BE"/>
              </a:solidFill>
              <a:latin typeface="Segoe UI" panose="020B0502040204020203"/>
              <a:ea typeface="Segoe UI" panose="020B0502040204020203"/>
              <a:cs typeface="Segoe UI" panose="020B0502040204020203"/>
            </a:endParaRPr>
          </a:p>
        </p:txBody>
      </p:sp>
      <p:sp>
        <p:nvSpPr>
          <p:cNvPr id="11" name="S1_FlowLabel_2"/>
          <p:cNvSpPr>
            <a:spLocks noGrp="1"/>
          </p:cNvSpPr>
          <p:nvPr/>
        </p:nvSpPr>
        <p:spPr>
          <a:xfrm>
            <a:off x="2933700" y="2095500"/>
            <a:ext cx="1752600" cy="457200"/>
          </a:xfrm>
          <a:prstGeom prst="rect">
            <a:avLst/>
          </a:prstGeom>
          <a:noFill/>
          <a:ln w="0">
            <a:noFill/>
          </a:ln>
        </p:spPr>
        <p:txBody>
          <a:bodyPr lIns="0" tIns="0" rIns="0" bIns="0" anchor="ctr">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Đọc thủ công</a:t>
            </a:r>
            <a:endParaRPr sz="1350" b="1">
              <a:solidFill>
                <a:srgbClr val="F4F7FB"/>
              </a:solidFill>
              <a:latin typeface="Segoe UI" panose="020B0502040204020203"/>
              <a:ea typeface="Segoe UI" panose="020B0502040204020203"/>
              <a:cs typeface="Segoe UI" panose="020B0502040204020203"/>
            </a:endParaRPr>
          </a:p>
        </p:txBody>
      </p:sp>
      <p:sp>
        <p:nvSpPr>
          <p:cNvPr id="12" name="S1_FlowRule_2"/>
          <p:cNvSpPr>
            <a:spLocks noGrp="1"/>
          </p:cNvSpPr>
          <p:nvPr/>
        </p:nvSpPr>
        <p:spPr>
          <a:xfrm>
            <a:off x="2933700" y="2686050"/>
            <a:ext cx="1752600" cy="0"/>
          </a:xfrm>
          <a:prstGeom prst="line">
            <a:avLst/>
          </a:prstGeom>
          <a:noFill/>
          <a:ln w="9525">
            <a:solidFill>
              <a:srgbClr val="31445C"/>
            </a:solidFill>
            <a:prstDash val="solid"/>
          </a:ln>
        </p:spPr>
      </p:sp>
      <p:sp>
        <p:nvSpPr>
          <p:cNvPr id="13" name="S1_FlowPain_2"/>
          <p:cNvSpPr>
            <a:spLocks noGrp="1"/>
          </p:cNvSpPr>
          <p:nvPr/>
        </p:nvSpPr>
        <p:spPr>
          <a:xfrm>
            <a:off x="2933700" y="2876550"/>
            <a:ext cx="1752600" cy="57150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Tên, ngày, mã và tổng tiền dễ bị bỏ sót.</a:t>
            </a:r>
            <a:endParaRPr sz="1125" b="0">
              <a:solidFill>
                <a:srgbClr val="A6B3C4"/>
              </a:solidFill>
              <a:latin typeface="Segoe UI" panose="020B0502040204020203"/>
              <a:ea typeface="Segoe UI" panose="020B0502040204020203"/>
              <a:cs typeface="Segoe UI" panose="020B0502040204020203"/>
            </a:endParaRPr>
          </a:p>
        </p:txBody>
      </p:sp>
      <p:sp>
        <p:nvSpPr>
          <p:cNvPr id="14" name="S1_Arrow_2"/>
          <p:cNvSpPr>
            <a:spLocks noGrp="1"/>
          </p:cNvSpPr>
          <p:nvPr/>
        </p:nvSpPr>
        <p:spPr>
          <a:xfrm>
            <a:off x="4848225" y="2419350"/>
            <a:ext cx="152400" cy="209550"/>
          </a:xfrm>
          <a:prstGeom prst="rightArrow">
            <a:avLst/>
          </a:prstGeom>
          <a:solidFill>
            <a:srgbClr val="31445C"/>
          </a:solidFill>
          <a:ln w="0">
            <a:solidFill>
              <a:srgbClr val="31445C"/>
            </a:solidFill>
          </a:ln>
        </p:spPr>
      </p:sp>
      <p:sp>
        <p:nvSpPr>
          <p:cNvPr id="15" name="S1_Flow_3"/>
          <p:cNvSpPr>
            <a:spLocks noGrp="1"/>
          </p:cNvSpPr>
          <p:nvPr/>
        </p:nvSpPr>
        <p:spPr>
          <a:xfrm>
            <a:off x="5010150" y="1428750"/>
            <a:ext cx="2057400" cy="2190750"/>
          </a:xfrm>
          <a:prstGeom prst="roundRect">
            <a:avLst>
              <a:gd name="adj" fmla="val 2778"/>
            </a:avLst>
          </a:prstGeom>
          <a:solidFill>
            <a:srgbClr val="112338"/>
          </a:solidFill>
          <a:ln w="9525">
            <a:solidFill>
              <a:srgbClr val="31445C"/>
            </a:solidFill>
            <a:prstDash val="solid"/>
          </a:ln>
        </p:spPr>
      </p:sp>
      <p:sp>
        <p:nvSpPr>
          <p:cNvPr id="16" name="S1_FlowIcon_3"/>
          <p:cNvSpPr>
            <a:spLocks noGrp="1"/>
          </p:cNvSpPr>
          <p:nvPr/>
        </p:nvSpPr>
        <p:spPr>
          <a:xfrm>
            <a:off x="5162550" y="1619250"/>
            <a:ext cx="323850" cy="323850"/>
          </a:xfrm>
          <a:prstGeom prst="ellipse">
            <a:avLst/>
          </a:prstGeom>
          <a:noFill/>
          <a:ln w="14288">
            <a:solidFill>
              <a:srgbClr val="45A9BE"/>
            </a:solidFill>
            <a:prstDash val="solid"/>
          </a:ln>
        </p:spPr>
        <p:txBody>
          <a:bodyPr lIns="0" tIns="0" rIns="0" bIns="0" anchor="ctr">
            <a:noAutofit/>
          </a:bodyPr>
          <a:lstStyle>
            <a:defPPr algn="ctr">
              <a:defRPr sz="900" b="1">
                <a:solidFill>
                  <a:srgbClr val="45A9BE"/>
                </a:solidFill>
                <a:latin typeface="Segoe UI" panose="020B0502040204020203"/>
                <a:ea typeface="Segoe UI" panose="020B0502040204020203"/>
                <a:cs typeface="Segoe UI" panose="020B0502040204020203"/>
              </a:defRPr>
            </a:defPPr>
          </a:lstStyle>
          <a:p>
            <a:pPr algn="ctr">
              <a:defRPr sz="900" b="1">
                <a:solidFill>
                  <a:srgbClr val="45A9BE"/>
                </a:solidFill>
                <a:latin typeface="Segoe UI" panose="020B0502040204020203"/>
                <a:ea typeface="Segoe UI" panose="020B0502040204020203"/>
                <a:cs typeface="Segoe UI" panose="020B0502040204020203"/>
              </a:defRPr>
            </a:pPr>
            <a:r>
              <a:rPr sz="900" b="1">
                <a:solidFill>
                  <a:srgbClr val="45A9BE"/>
                </a:solidFill>
                <a:latin typeface="Segoe UI" panose="020B0502040204020203"/>
                <a:ea typeface="Segoe UI" panose="020B0502040204020203"/>
                <a:cs typeface="Segoe UI" panose="020B0502040204020203"/>
              </a:rPr>
              <a:t>03</a:t>
            </a:r>
            <a:endParaRPr sz="900" b="1">
              <a:solidFill>
                <a:srgbClr val="45A9BE"/>
              </a:solidFill>
              <a:latin typeface="Segoe UI" panose="020B0502040204020203"/>
              <a:ea typeface="Segoe UI" panose="020B0502040204020203"/>
              <a:cs typeface="Segoe UI" panose="020B0502040204020203"/>
            </a:endParaRPr>
          </a:p>
        </p:txBody>
      </p:sp>
      <p:sp>
        <p:nvSpPr>
          <p:cNvPr id="17" name="S1_FlowLabel_3"/>
          <p:cNvSpPr>
            <a:spLocks noGrp="1"/>
          </p:cNvSpPr>
          <p:nvPr/>
        </p:nvSpPr>
        <p:spPr>
          <a:xfrm>
            <a:off x="5162550" y="2095500"/>
            <a:ext cx="1752600" cy="457200"/>
          </a:xfrm>
          <a:prstGeom prst="rect">
            <a:avLst/>
          </a:prstGeom>
          <a:noFill/>
          <a:ln w="0">
            <a:noFill/>
          </a:ln>
        </p:spPr>
        <p:txBody>
          <a:bodyPr lIns="0" tIns="0" rIns="0" bIns="0" anchor="ctr">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Đối chiếu quy định</a:t>
            </a:r>
            <a:endParaRPr sz="1350" b="1">
              <a:solidFill>
                <a:srgbClr val="F4F7FB"/>
              </a:solidFill>
              <a:latin typeface="Segoe UI" panose="020B0502040204020203"/>
              <a:ea typeface="Segoe UI" panose="020B0502040204020203"/>
              <a:cs typeface="Segoe UI" panose="020B0502040204020203"/>
            </a:endParaRPr>
          </a:p>
        </p:txBody>
      </p:sp>
      <p:sp>
        <p:nvSpPr>
          <p:cNvPr id="18" name="S1_FlowRule_3"/>
          <p:cNvSpPr>
            <a:spLocks noGrp="1"/>
          </p:cNvSpPr>
          <p:nvPr/>
        </p:nvSpPr>
        <p:spPr>
          <a:xfrm>
            <a:off x="5162550" y="2686050"/>
            <a:ext cx="1752600" cy="0"/>
          </a:xfrm>
          <a:prstGeom prst="line">
            <a:avLst/>
          </a:prstGeom>
          <a:noFill/>
          <a:ln w="9525">
            <a:solidFill>
              <a:srgbClr val="31445C"/>
            </a:solidFill>
            <a:prstDash val="solid"/>
          </a:ln>
        </p:spPr>
      </p:sp>
      <p:sp>
        <p:nvSpPr>
          <p:cNvPr id="19" name="S1_FlowPain_3"/>
          <p:cNvSpPr>
            <a:spLocks noGrp="1"/>
          </p:cNvSpPr>
          <p:nvPr/>
        </p:nvSpPr>
        <p:spPr>
          <a:xfrm>
            <a:off x="5162550" y="2876550"/>
            <a:ext cx="1752600" cy="57150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FACT và POLICY dễ bị trộn khi giải thích.</a:t>
            </a:r>
            <a:endParaRPr sz="1125" b="0">
              <a:solidFill>
                <a:srgbClr val="A6B3C4"/>
              </a:solidFill>
              <a:latin typeface="Segoe UI" panose="020B0502040204020203"/>
              <a:ea typeface="Segoe UI" panose="020B0502040204020203"/>
              <a:cs typeface="Segoe UI" panose="020B0502040204020203"/>
            </a:endParaRPr>
          </a:p>
        </p:txBody>
      </p:sp>
      <p:sp>
        <p:nvSpPr>
          <p:cNvPr id="20" name="S1_Arrow_3"/>
          <p:cNvSpPr>
            <a:spLocks noGrp="1"/>
          </p:cNvSpPr>
          <p:nvPr/>
        </p:nvSpPr>
        <p:spPr>
          <a:xfrm>
            <a:off x="7077075" y="2419350"/>
            <a:ext cx="152400" cy="209550"/>
          </a:xfrm>
          <a:prstGeom prst="rightArrow">
            <a:avLst/>
          </a:prstGeom>
          <a:solidFill>
            <a:srgbClr val="31445C"/>
          </a:solidFill>
          <a:ln w="0">
            <a:solidFill>
              <a:srgbClr val="31445C"/>
            </a:solidFill>
          </a:ln>
        </p:spPr>
      </p:sp>
      <p:sp>
        <p:nvSpPr>
          <p:cNvPr id="21" name="S1_Flow_4"/>
          <p:cNvSpPr>
            <a:spLocks noGrp="1"/>
          </p:cNvSpPr>
          <p:nvPr/>
        </p:nvSpPr>
        <p:spPr>
          <a:xfrm>
            <a:off x="7239000" y="1428750"/>
            <a:ext cx="2057400" cy="2190750"/>
          </a:xfrm>
          <a:prstGeom prst="roundRect">
            <a:avLst>
              <a:gd name="adj" fmla="val 2778"/>
            </a:avLst>
          </a:prstGeom>
          <a:solidFill>
            <a:srgbClr val="112338"/>
          </a:solidFill>
          <a:ln w="9525">
            <a:solidFill>
              <a:srgbClr val="C59A4A"/>
            </a:solidFill>
            <a:prstDash val="solid"/>
          </a:ln>
        </p:spPr>
      </p:sp>
      <p:sp>
        <p:nvSpPr>
          <p:cNvPr id="22" name="S1_FlowIcon_4"/>
          <p:cNvSpPr>
            <a:spLocks noGrp="1"/>
          </p:cNvSpPr>
          <p:nvPr/>
        </p:nvSpPr>
        <p:spPr>
          <a:xfrm>
            <a:off x="7391400" y="1619250"/>
            <a:ext cx="323850" cy="323850"/>
          </a:xfrm>
          <a:prstGeom prst="ellipse">
            <a:avLst/>
          </a:prstGeom>
          <a:noFill/>
          <a:ln w="14288">
            <a:solidFill>
              <a:srgbClr val="C59A4A"/>
            </a:solidFill>
            <a:prstDash val="solid"/>
          </a:ln>
        </p:spPr>
        <p:txBody>
          <a:bodyPr lIns="0" tIns="0" rIns="0" bIns="0" anchor="ctr">
            <a:noAutofit/>
          </a:bodyPr>
          <a:lstStyle>
            <a:defPPr algn="ctr">
              <a:defRPr sz="900" b="1">
                <a:solidFill>
                  <a:srgbClr val="C59A4A"/>
                </a:solidFill>
                <a:latin typeface="Segoe UI" panose="020B0502040204020203"/>
                <a:ea typeface="Segoe UI" panose="020B0502040204020203"/>
                <a:cs typeface="Segoe UI" panose="020B0502040204020203"/>
              </a:defRPr>
            </a:defPPr>
          </a:lstStyle>
          <a:p>
            <a:pPr algn="ctr">
              <a:defRPr sz="900" b="1">
                <a:solidFill>
                  <a:srgbClr val="C59A4A"/>
                </a:solidFill>
                <a:latin typeface="Segoe UI" panose="020B0502040204020203"/>
                <a:ea typeface="Segoe UI" panose="020B0502040204020203"/>
                <a:cs typeface="Segoe UI" panose="020B0502040204020203"/>
              </a:defRPr>
            </a:pPr>
            <a:r>
              <a:rPr sz="900" b="1">
                <a:solidFill>
                  <a:srgbClr val="C59A4A"/>
                </a:solidFill>
                <a:latin typeface="Segoe UI" panose="020B0502040204020203"/>
                <a:ea typeface="Segoe UI" panose="020B0502040204020203"/>
                <a:cs typeface="Segoe UI" panose="020B0502040204020203"/>
              </a:rPr>
              <a:t>04</a:t>
            </a:r>
            <a:endParaRPr sz="900" b="1">
              <a:solidFill>
                <a:srgbClr val="C59A4A"/>
              </a:solidFill>
              <a:latin typeface="Segoe UI" panose="020B0502040204020203"/>
              <a:ea typeface="Segoe UI" panose="020B0502040204020203"/>
              <a:cs typeface="Segoe UI" panose="020B0502040204020203"/>
            </a:endParaRPr>
          </a:p>
        </p:txBody>
      </p:sp>
      <p:sp>
        <p:nvSpPr>
          <p:cNvPr id="23" name="S1_FlowLabel_4"/>
          <p:cNvSpPr>
            <a:spLocks noGrp="1"/>
          </p:cNvSpPr>
          <p:nvPr/>
        </p:nvSpPr>
        <p:spPr>
          <a:xfrm>
            <a:off x="7391400" y="2095500"/>
            <a:ext cx="1752600" cy="457200"/>
          </a:xfrm>
          <a:prstGeom prst="rect">
            <a:avLst/>
          </a:prstGeom>
          <a:noFill/>
          <a:ln w="0">
            <a:noFill/>
          </a:ln>
        </p:spPr>
        <p:txBody>
          <a:bodyPr lIns="0" tIns="0" rIns="0" bIns="0" anchor="ctr">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Hỏi cấp trên</a:t>
            </a:r>
            <a:endParaRPr sz="1350" b="1">
              <a:solidFill>
                <a:srgbClr val="F4F7FB"/>
              </a:solidFill>
              <a:latin typeface="Segoe UI" panose="020B0502040204020203"/>
              <a:ea typeface="Segoe UI" panose="020B0502040204020203"/>
              <a:cs typeface="Segoe UI" panose="020B0502040204020203"/>
            </a:endParaRPr>
          </a:p>
        </p:txBody>
      </p:sp>
      <p:sp>
        <p:nvSpPr>
          <p:cNvPr id="24" name="S1_FlowRule_4"/>
          <p:cNvSpPr>
            <a:spLocks noGrp="1"/>
          </p:cNvSpPr>
          <p:nvPr/>
        </p:nvSpPr>
        <p:spPr>
          <a:xfrm>
            <a:off x="7391400" y="2686050"/>
            <a:ext cx="1752600" cy="0"/>
          </a:xfrm>
          <a:prstGeom prst="line">
            <a:avLst/>
          </a:prstGeom>
          <a:noFill/>
          <a:ln w="9525">
            <a:solidFill>
              <a:srgbClr val="31445C"/>
            </a:solidFill>
            <a:prstDash val="solid"/>
          </a:ln>
        </p:spPr>
      </p:sp>
      <p:sp>
        <p:nvSpPr>
          <p:cNvPr id="25" name="S1_FlowPain_4"/>
          <p:cNvSpPr>
            <a:spLocks noGrp="1"/>
          </p:cNvSpPr>
          <p:nvPr/>
        </p:nvSpPr>
        <p:spPr>
          <a:xfrm>
            <a:off x="7391400" y="2876550"/>
            <a:ext cx="1752600" cy="571500"/>
          </a:xfrm>
          <a:prstGeom prst="rect">
            <a:avLst/>
          </a:prstGeom>
          <a:noFill/>
          <a:ln w="0">
            <a:noFill/>
          </a:ln>
        </p:spPr>
        <p:txBody>
          <a:bodyPr lIns="0" tIns="0" rIns="0" bIns="0" anchor="ctr">
            <a:noAutofit/>
          </a:bodyPr>
          <a:lstStyle>
            <a:defPPr algn="l">
              <a:defRPr sz="1125" b="1">
                <a:solidFill>
                  <a:srgbClr val="C59A4A"/>
                </a:solidFill>
                <a:latin typeface="Segoe UI" panose="020B0502040204020203"/>
                <a:ea typeface="Segoe UI" panose="020B0502040204020203"/>
                <a:cs typeface="Segoe UI" panose="020B0502040204020203"/>
              </a:defRPr>
            </a:defPPr>
          </a:lstStyle>
          <a:p>
            <a:pPr algn="l">
              <a:defRPr sz="1125" b="1">
                <a:solidFill>
                  <a:srgbClr val="C59A4A"/>
                </a:solidFill>
                <a:latin typeface="Segoe UI" panose="020B0502040204020203"/>
                <a:ea typeface="Segoe UI" panose="020B0502040204020203"/>
                <a:cs typeface="Segoe UI" panose="020B0502040204020203"/>
              </a:defRPr>
            </a:pPr>
            <a:r>
              <a:rPr sz="1125" b="1">
                <a:solidFill>
                  <a:srgbClr val="C59A4A"/>
                </a:solidFill>
                <a:latin typeface="Segoe UI" panose="020B0502040204020203"/>
                <a:ea typeface="Segoe UI" panose="020B0502040204020203"/>
                <a:cs typeface="Segoe UI" panose="020B0502040204020203"/>
              </a:rPr>
              <a:t>Câu hỏi thiếu dữ kiện để trả lời CÓ / KHÔNG.</a:t>
            </a:r>
            <a:endParaRPr sz="1125" b="1">
              <a:solidFill>
                <a:srgbClr val="C59A4A"/>
              </a:solidFill>
              <a:latin typeface="Segoe UI" panose="020B0502040204020203"/>
              <a:ea typeface="Segoe UI" panose="020B0502040204020203"/>
              <a:cs typeface="Segoe UI" panose="020B0502040204020203"/>
            </a:endParaRPr>
          </a:p>
        </p:txBody>
      </p:sp>
      <p:sp>
        <p:nvSpPr>
          <p:cNvPr id="26" name="S1_Arrow_4"/>
          <p:cNvSpPr>
            <a:spLocks noGrp="1"/>
          </p:cNvSpPr>
          <p:nvPr/>
        </p:nvSpPr>
        <p:spPr>
          <a:xfrm>
            <a:off x="9305925" y="2419350"/>
            <a:ext cx="152400" cy="209550"/>
          </a:xfrm>
          <a:prstGeom prst="rightArrow">
            <a:avLst/>
          </a:prstGeom>
          <a:solidFill>
            <a:srgbClr val="31445C"/>
          </a:solidFill>
          <a:ln w="0">
            <a:solidFill>
              <a:srgbClr val="31445C"/>
            </a:solidFill>
          </a:ln>
        </p:spPr>
      </p:sp>
      <p:sp>
        <p:nvSpPr>
          <p:cNvPr id="27" name="S1_Flow_5"/>
          <p:cNvSpPr>
            <a:spLocks noGrp="1"/>
          </p:cNvSpPr>
          <p:nvPr/>
        </p:nvSpPr>
        <p:spPr>
          <a:xfrm>
            <a:off x="9467850" y="1428750"/>
            <a:ext cx="2057400" cy="2190750"/>
          </a:xfrm>
          <a:prstGeom prst="roundRect">
            <a:avLst>
              <a:gd name="adj" fmla="val 2778"/>
            </a:avLst>
          </a:prstGeom>
          <a:solidFill>
            <a:srgbClr val="112338"/>
          </a:solidFill>
          <a:ln w="9525">
            <a:solidFill>
              <a:srgbClr val="C59A4A"/>
            </a:solidFill>
            <a:prstDash val="solid"/>
          </a:ln>
        </p:spPr>
      </p:sp>
      <p:sp>
        <p:nvSpPr>
          <p:cNvPr id="28" name="S1_FlowIcon_5"/>
          <p:cNvSpPr>
            <a:spLocks noGrp="1"/>
          </p:cNvSpPr>
          <p:nvPr/>
        </p:nvSpPr>
        <p:spPr>
          <a:xfrm>
            <a:off x="9620250" y="1619250"/>
            <a:ext cx="323850" cy="323850"/>
          </a:xfrm>
          <a:prstGeom prst="ellipse">
            <a:avLst/>
          </a:prstGeom>
          <a:noFill/>
          <a:ln w="14288">
            <a:solidFill>
              <a:srgbClr val="C59A4A"/>
            </a:solidFill>
            <a:prstDash val="solid"/>
          </a:ln>
        </p:spPr>
        <p:txBody>
          <a:bodyPr lIns="0" tIns="0" rIns="0" bIns="0" anchor="ctr">
            <a:noAutofit/>
          </a:bodyPr>
          <a:lstStyle>
            <a:defPPr algn="ctr">
              <a:defRPr sz="900" b="1">
                <a:solidFill>
                  <a:srgbClr val="C59A4A"/>
                </a:solidFill>
                <a:latin typeface="Segoe UI" panose="020B0502040204020203"/>
                <a:ea typeface="Segoe UI" panose="020B0502040204020203"/>
                <a:cs typeface="Segoe UI" panose="020B0502040204020203"/>
              </a:defRPr>
            </a:defPPr>
          </a:lstStyle>
          <a:p>
            <a:pPr algn="ctr">
              <a:defRPr sz="900" b="1">
                <a:solidFill>
                  <a:srgbClr val="C59A4A"/>
                </a:solidFill>
                <a:latin typeface="Segoe UI" panose="020B0502040204020203"/>
                <a:ea typeface="Segoe UI" panose="020B0502040204020203"/>
                <a:cs typeface="Segoe UI" panose="020B0502040204020203"/>
              </a:defRPr>
            </a:pPr>
            <a:r>
              <a:rPr sz="900" b="1">
                <a:solidFill>
                  <a:srgbClr val="C59A4A"/>
                </a:solidFill>
                <a:latin typeface="Segoe UI" panose="020B0502040204020203"/>
                <a:ea typeface="Segoe UI" panose="020B0502040204020203"/>
                <a:cs typeface="Segoe UI" panose="020B0502040204020203"/>
              </a:rPr>
              <a:t>05</a:t>
            </a:r>
            <a:endParaRPr sz="900" b="1">
              <a:solidFill>
                <a:srgbClr val="C59A4A"/>
              </a:solidFill>
              <a:latin typeface="Segoe UI" panose="020B0502040204020203"/>
              <a:ea typeface="Segoe UI" panose="020B0502040204020203"/>
              <a:cs typeface="Segoe UI" panose="020B0502040204020203"/>
            </a:endParaRPr>
          </a:p>
        </p:txBody>
      </p:sp>
      <p:sp>
        <p:nvSpPr>
          <p:cNvPr id="29" name="S1_FlowLabel_5"/>
          <p:cNvSpPr>
            <a:spLocks noGrp="1"/>
          </p:cNvSpPr>
          <p:nvPr/>
        </p:nvSpPr>
        <p:spPr>
          <a:xfrm>
            <a:off x="9620250" y="2095500"/>
            <a:ext cx="1752600" cy="457200"/>
          </a:xfrm>
          <a:prstGeom prst="rect">
            <a:avLst/>
          </a:prstGeom>
          <a:noFill/>
          <a:ln w="0">
            <a:noFill/>
          </a:ln>
        </p:spPr>
        <p:txBody>
          <a:bodyPr lIns="0" tIns="0" rIns="0" bIns="0" anchor="ctr">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Ghi lịch sử</a:t>
            </a:r>
            <a:endParaRPr sz="1350" b="1">
              <a:solidFill>
                <a:srgbClr val="F4F7FB"/>
              </a:solidFill>
              <a:latin typeface="Segoe UI" panose="020B0502040204020203"/>
              <a:ea typeface="Segoe UI" panose="020B0502040204020203"/>
              <a:cs typeface="Segoe UI" panose="020B0502040204020203"/>
            </a:endParaRPr>
          </a:p>
        </p:txBody>
      </p:sp>
      <p:sp>
        <p:nvSpPr>
          <p:cNvPr id="30" name="S1_FlowRule_5"/>
          <p:cNvSpPr>
            <a:spLocks noGrp="1"/>
          </p:cNvSpPr>
          <p:nvPr/>
        </p:nvSpPr>
        <p:spPr>
          <a:xfrm>
            <a:off x="9620250" y="2686050"/>
            <a:ext cx="1752600" cy="0"/>
          </a:xfrm>
          <a:prstGeom prst="line">
            <a:avLst/>
          </a:prstGeom>
          <a:noFill/>
          <a:ln w="9525">
            <a:solidFill>
              <a:srgbClr val="31445C"/>
            </a:solidFill>
            <a:prstDash val="solid"/>
          </a:ln>
        </p:spPr>
      </p:sp>
      <p:sp>
        <p:nvSpPr>
          <p:cNvPr id="31" name="S1_FlowPain_5"/>
          <p:cNvSpPr>
            <a:spLocks noGrp="1"/>
          </p:cNvSpPr>
          <p:nvPr/>
        </p:nvSpPr>
        <p:spPr>
          <a:xfrm>
            <a:off x="9620250" y="2876550"/>
            <a:ext cx="1752600" cy="571500"/>
          </a:xfrm>
          <a:prstGeom prst="rect">
            <a:avLst/>
          </a:prstGeom>
          <a:noFill/>
          <a:ln w="0">
            <a:noFill/>
          </a:ln>
        </p:spPr>
        <p:txBody>
          <a:bodyPr lIns="0" tIns="0" rIns="0" bIns="0" anchor="ctr">
            <a:noAutofit/>
          </a:bodyPr>
          <a:lstStyle>
            <a:defPPr algn="l">
              <a:defRPr sz="1125" b="1">
                <a:solidFill>
                  <a:srgbClr val="C59A4A"/>
                </a:solidFill>
                <a:latin typeface="Segoe UI" panose="020B0502040204020203"/>
                <a:ea typeface="Segoe UI" panose="020B0502040204020203"/>
                <a:cs typeface="Segoe UI" panose="020B0502040204020203"/>
              </a:defRPr>
            </a:defPPr>
          </a:lstStyle>
          <a:p>
            <a:pPr algn="l">
              <a:defRPr sz="1125" b="1">
                <a:solidFill>
                  <a:srgbClr val="C59A4A"/>
                </a:solidFill>
                <a:latin typeface="Segoe UI" panose="020B0502040204020203"/>
                <a:ea typeface="Segoe UI" panose="020B0502040204020203"/>
                <a:cs typeface="Segoe UI" panose="020B0502040204020203"/>
              </a:defRPr>
            </a:pPr>
            <a:r>
              <a:rPr sz="1125" b="1">
                <a:solidFill>
                  <a:srgbClr val="C59A4A"/>
                </a:solidFill>
                <a:latin typeface="Segoe UI" panose="020B0502040204020203"/>
                <a:ea typeface="Segoe UI" panose="020B0502040204020203"/>
                <a:cs typeface="Segoe UI" panose="020B0502040204020203"/>
              </a:rPr>
              <a:t>Khó nối input, facts, route và người quyết định.</a:t>
            </a:r>
            <a:endParaRPr sz="1125" b="1">
              <a:solidFill>
                <a:srgbClr val="C59A4A"/>
              </a:solidFill>
              <a:latin typeface="Segoe UI" panose="020B0502040204020203"/>
              <a:ea typeface="Segoe UI" panose="020B0502040204020203"/>
              <a:cs typeface="Segoe UI" panose="020B0502040204020203"/>
            </a:endParaRPr>
          </a:p>
        </p:txBody>
      </p:sp>
      <p:sp>
        <p:nvSpPr>
          <p:cNvPr id="32" name="S1_GapBand"/>
          <p:cNvSpPr>
            <a:spLocks noGrp="1"/>
          </p:cNvSpPr>
          <p:nvPr/>
        </p:nvSpPr>
        <p:spPr>
          <a:xfrm>
            <a:off x="552450" y="3943350"/>
            <a:ext cx="11087100" cy="1066800"/>
          </a:xfrm>
          <a:prstGeom prst="roundRect">
            <a:avLst>
              <a:gd name="adj" fmla="val 5357"/>
            </a:avLst>
          </a:prstGeom>
          <a:solidFill>
            <a:srgbClr val="162A42"/>
          </a:solidFill>
          <a:ln w="9525">
            <a:solidFill>
              <a:srgbClr val="C59A4A"/>
            </a:solidFill>
            <a:prstDash val="solid"/>
          </a:ln>
        </p:spPr>
      </p:sp>
      <p:sp>
        <p:nvSpPr>
          <p:cNvPr id="33" name="S1_GapLabel"/>
          <p:cNvSpPr>
            <a:spLocks noGrp="1"/>
          </p:cNvSpPr>
          <p:nvPr/>
        </p:nvSpPr>
        <p:spPr>
          <a:xfrm>
            <a:off x="781050" y="4133850"/>
            <a:ext cx="2952750" cy="209550"/>
          </a:xfrm>
          <a:prstGeom prst="rect">
            <a:avLst/>
          </a:prstGeom>
          <a:noFill/>
          <a:ln w="0">
            <a:noFill/>
          </a:ln>
        </p:spPr>
        <p:txBody>
          <a:bodyPr lIns="0" tIns="0" rIns="0" bIns="0" anchor="t">
            <a:noAutofit/>
          </a:bodyPr>
          <a:lstStyle>
            <a:defPPr algn="l">
              <a:defRPr sz="1050" b="1">
                <a:solidFill>
                  <a:srgbClr val="C59A4A"/>
                </a:solidFill>
                <a:latin typeface="Segoe UI" panose="020B0502040204020203"/>
                <a:ea typeface="Segoe UI" panose="020B0502040204020203"/>
                <a:cs typeface="Segoe UI" panose="020B0502040204020203"/>
              </a:defRPr>
            </a:defPPr>
          </a:lstStyle>
          <a:p>
            <a:pPr algn="l">
              <a:defRPr sz="1050" b="1">
                <a:solidFill>
                  <a:srgbClr val="C59A4A"/>
                </a:solidFill>
                <a:latin typeface="Segoe UI" panose="020B0502040204020203"/>
                <a:ea typeface="Segoe UI" panose="020B0502040204020203"/>
                <a:cs typeface="Segoe UI" panose="020B0502040204020203"/>
              </a:defRPr>
            </a:pPr>
            <a:r>
              <a:rPr sz="1050" b="1">
                <a:solidFill>
                  <a:srgbClr val="C59A4A"/>
                </a:solidFill>
                <a:latin typeface="Segoe UI" panose="020B0502040204020203"/>
                <a:ea typeface="Segoe UI" panose="020B0502040204020203"/>
                <a:cs typeface="Segoe UI" panose="020B0502040204020203"/>
              </a:rPr>
              <a:t>KHOẢNG TRỐNG CẦN GIẢI QUYẾT</a:t>
            </a:r>
            <a:endParaRPr sz="1050" b="1">
              <a:solidFill>
                <a:srgbClr val="C59A4A"/>
              </a:solidFill>
              <a:latin typeface="Segoe UI" panose="020B0502040204020203"/>
              <a:ea typeface="Segoe UI" panose="020B0502040204020203"/>
              <a:cs typeface="Segoe UI" panose="020B0502040204020203"/>
            </a:endParaRPr>
          </a:p>
        </p:txBody>
      </p:sp>
      <p:sp>
        <p:nvSpPr>
          <p:cNvPr id="34" name="S1_GapText"/>
          <p:cNvSpPr>
            <a:spLocks noGrp="1"/>
          </p:cNvSpPr>
          <p:nvPr/>
        </p:nvSpPr>
        <p:spPr>
          <a:xfrm>
            <a:off x="781050" y="4457700"/>
            <a:ext cx="10629900" cy="361950"/>
          </a:xfrm>
          <a:prstGeom prst="rect">
            <a:avLst/>
          </a:prstGeom>
          <a:noFill/>
          <a:ln w="0">
            <a:noFill/>
          </a:ln>
        </p:spPr>
        <p:txBody>
          <a:bodyPr lIns="0" tIns="0" rIns="0" bIns="0" anchor="ctr">
            <a:noAutofit/>
          </a:bodyPr>
          <a:lstStyle>
            <a:defPPr algn="l">
              <a:defRPr sz="1500" b="1">
                <a:solidFill>
                  <a:srgbClr val="F4F7FB"/>
                </a:solidFill>
                <a:latin typeface="Segoe UI" panose="020B0502040204020203"/>
                <a:ea typeface="Segoe UI" panose="020B0502040204020203"/>
                <a:cs typeface="Segoe UI" panose="020B0502040204020203"/>
              </a:defRPr>
            </a:defPPr>
          </a:lstStyle>
          <a:p>
            <a:pPr algn="l">
              <a:defRPr sz="1500" b="1">
                <a:solidFill>
                  <a:srgbClr val="F4F7FB"/>
                </a:solidFill>
                <a:latin typeface="Segoe UI" panose="020B0502040204020203"/>
                <a:ea typeface="Segoe UI" panose="020B0502040204020203"/>
                <a:cs typeface="Segoe UI" panose="020B0502040204020203"/>
              </a:defRPr>
            </a:pPr>
            <a:r>
              <a:rPr sz="1500" b="1">
                <a:solidFill>
                  <a:srgbClr val="F4F7FB"/>
                </a:solidFill>
                <a:latin typeface="Segoe UI" panose="020B0502040204020203"/>
                <a:ea typeface="Segoe UI" panose="020B0502040204020203"/>
                <a:cs typeface="Segoe UI" panose="020B0502040204020203"/>
              </a:rPr>
              <a:t>Ngoại lệ chưa được đóng gói thành câu hỏi có đủ dữ kiện, quy định và audit để quản lý quyết định nhanh.</a:t>
            </a:r>
            <a:endParaRPr sz="1500" b="1">
              <a:solidFill>
                <a:srgbClr val="F4F7FB"/>
              </a:solidFill>
              <a:latin typeface="Segoe UI" panose="020B0502040204020203"/>
              <a:ea typeface="Segoe UI" panose="020B0502040204020203"/>
              <a:cs typeface="Segoe UI" panose="020B0502040204020203"/>
            </a:endParaRPr>
          </a:p>
        </p:txBody>
      </p:sp>
      <p:sp>
        <p:nvSpPr>
          <p:cNvPr id="35" name="S1_BridgeRule"/>
          <p:cNvSpPr>
            <a:spLocks noGrp="1"/>
          </p:cNvSpPr>
          <p:nvPr/>
        </p:nvSpPr>
        <p:spPr>
          <a:xfrm>
            <a:off x="552450" y="5334000"/>
            <a:ext cx="11087100" cy="0"/>
          </a:xfrm>
          <a:prstGeom prst="line">
            <a:avLst/>
          </a:prstGeom>
          <a:noFill/>
          <a:ln w="9525">
            <a:solidFill>
              <a:srgbClr val="31445C"/>
            </a:solidFill>
            <a:prstDash val="solid"/>
          </a:ln>
        </p:spPr>
      </p:sp>
      <p:sp>
        <p:nvSpPr>
          <p:cNvPr id="36" name="S1_Bridge"/>
          <p:cNvSpPr>
            <a:spLocks noGrp="1"/>
          </p:cNvSpPr>
          <p:nvPr/>
        </p:nvSpPr>
        <p:spPr>
          <a:xfrm>
            <a:off x="552450" y="5581650"/>
            <a:ext cx="11087100" cy="400050"/>
          </a:xfrm>
          <a:prstGeom prst="rect">
            <a:avLst/>
          </a:prstGeom>
          <a:noFill/>
          <a:ln w="0">
            <a:noFill/>
          </a:ln>
        </p:spPr>
        <p:txBody>
          <a:bodyPr lIns="0" tIns="0" rIns="0" bIns="0" anchor="ctr">
            <a:noAutofit/>
          </a:bodyPr>
          <a:lstStyle>
            <a:defPPr algn="ctr">
              <a:defRPr sz="1500" b="1">
                <a:solidFill>
                  <a:srgbClr val="4FAF91"/>
                </a:solidFill>
                <a:latin typeface="Segoe UI" panose="020B0502040204020203"/>
                <a:ea typeface="Segoe UI" panose="020B0502040204020203"/>
                <a:cs typeface="Segoe UI" panose="020B0502040204020203"/>
              </a:defRPr>
            </a:defPPr>
          </a:lstStyle>
          <a:p>
            <a:pPr algn="ctr">
              <a:defRPr sz="1500" b="1">
                <a:solidFill>
                  <a:srgbClr val="4FAF91"/>
                </a:solidFill>
                <a:latin typeface="Segoe UI" panose="020B0502040204020203"/>
                <a:ea typeface="Segoe UI" panose="020B0502040204020203"/>
                <a:cs typeface="Segoe UI" panose="020B0502040204020203"/>
              </a:defRPr>
            </a:pPr>
            <a:r>
              <a:rPr sz="1500" b="1">
                <a:solidFill>
                  <a:srgbClr val="4FAF91"/>
                </a:solidFill>
                <a:latin typeface="Segoe UI" panose="020B0502040204020203"/>
                <a:ea typeface="Segoe UI" panose="020B0502040204020203"/>
                <a:cs typeface="Segoe UI" panose="020B0502040204020203"/>
              </a:rPr>
              <a:t>AURA chuẩn hóa facts, route bằng policy C# và giữ quyền quyết định ngoại lệ cho con người.</a:t>
            </a:r>
            <a:endParaRPr sz="1500" b="1">
              <a:solidFill>
                <a:srgbClr val="4FAF91"/>
              </a:solidFill>
              <a:latin typeface="Segoe UI" panose="020B0502040204020203"/>
              <a:ea typeface="Segoe UI" panose="020B0502040204020203"/>
              <a:cs typeface="Segoe UI" panose="020B05020402040202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522"/>
        </a:solidFill>
        <a:effectLst/>
      </p:bgPr>
    </p:bg>
    <p:spTree>
      <p:nvGrpSpPr>
        <p:cNvPr id="1" name=""/>
        <p:cNvGrpSpPr/>
        <p:nvPr/>
      </p:nvGrpSpPr>
      <p:grpSpPr/>
      <p:sp>
        <p:nvSpPr>
          <p:cNvPr id="41" name="Slide_Title"/>
          <p:cNvSpPr>
            <a:spLocks noGrp="1"/>
          </p:cNvSpPr>
          <p:nvPr/>
        </p:nvSpPr>
        <p:spPr>
          <a:xfrm>
            <a:off x="552450" y="266700"/>
            <a:ext cx="11087100" cy="400050"/>
          </a:xfrm>
          <a:prstGeom prst="rect">
            <a:avLst/>
          </a:prstGeom>
          <a:noFill/>
          <a:ln w="0">
            <a:noFill/>
          </a:ln>
        </p:spPr>
        <p:txBody>
          <a:bodyPr lIns="0" tIns="0" rIns="0" bIns="0" anchor="t">
            <a:noAutofit/>
          </a:bodyPr>
          <a:lstStyle>
            <a:defPPr algn="l">
              <a:defRPr sz="2400" b="1">
                <a:solidFill>
                  <a:srgbClr val="F4F7FB"/>
                </a:solidFill>
                <a:latin typeface="Segoe UI" panose="020B0502040204020203"/>
                <a:ea typeface="Segoe UI" panose="020B0502040204020203"/>
                <a:cs typeface="Segoe UI" panose="020B0502040204020203"/>
              </a:defRPr>
            </a:defPPr>
          </a:lstStyle>
          <a:p>
            <a:pPr algn="l">
              <a:defRPr sz="2400" b="1">
                <a:solidFill>
                  <a:srgbClr val="F4F7FB"/>
                </a:solidFill>
                <a:latin typeface="Segoe UI" panose="020B0502040204020203"/>
                <a:ea typeface="Segoe UI" panose="020B0502040204020203"/>
                <a:cs typeface="Segoe UI" panose="020B0502040204020203"/>
              </a:defRPr>
            </a:pPr>
            <a:r>
              <a:rPr sz="2400" b="1">
                <a:solidFill>
                  <a:srgbClr val="F4F7FB"/>
                </a:solidFill>
                <a:latin typeface="Segoe UI" panose="020B0502040204020203"/>
                <a:ea typeface="Segoe UI" panose="020B0502040204020203"/>
                <a:cs typeface="Segoe UI" panose="020B0502040204020203"/>
              </a:rPr>
              <a:t>Pipeline E2E và ranh giới quyết định</a:t>
            </a:r>
            <a:endParaRPr sz="2400" b="1">
              <a:solidFill>
                <a:srgbClr val="F4F7FB"/>
              </a:solidFill>
              <a:latin typeface="Segoe UI" panose="020B0502040204020203"/>
              <a:ea typeface="Segoe UI" panose="020B0502040204020203"/>
              <a:cs typeface="Segoe UI" panose="020B0502040204020203"/>
            </a:endParaRPr>
          </a:p>
        </p:txBody>
      </p:sp>
      <p:sp>
        <p:nvSpPr>
          <p:cNvPr id="2" name="Slide_Subtitle"/>
          <p:cNvSpPr>
            <a:spLocks noGrp="1"/>
          </p:cNvSpPr>
          <p:nvPr/>
        </p:nvSpPr>
        <p:spPr>
          <a:xfrm>
            <a:off x="552450" y="723900"/>
            <a:ext cx="11087100" cy="266700"/>
          </a:xfrm>
          <a:prstGeom prst="rect">
            <a:avLst/>
          </a:prstGeom>
          <a:noFill/>
          <a:ln w="0">
            <a:noFill/>
          </a:ln>
        </p:spPr>
        <p:txBody>
          <a:bodyPr lIns="0" tIns="0" rIns="0" bIns="0" anchor="t">
            <a:noAutofit/>
          </a:bodyPr>
          <a:lstStyle>
            <a:defPPr algn="l">
              <a:defRPr sz="1275" b="0">
                <a:solidFill>
                  <a:srgbClr val="A6B3C4"/>
                </a:solidFill>
                <a:latin typeface="Segoe UI" panose="020B0502040204020203"/>
                <a:ea typeface="Segoe UI" panose="020B0502040204020203"/>
                <a:cs typeface="Segoe UI" panose="020B0502040204020203"/>
              </a:defRPr>
            </a:defPPr>
          </a:lstStyle>
          <a:p>
            <a:pPr algn="l">
              <a:defRPr sz="1275" b="0">
                <a:solidFill>
                  <a:srgbClr val="A6B3C4"/>
                </a:solidFill>
                <a:latin typeface="Segoe UI" panose="020B0502040204020203"/>
                <a:ea typeface="Segoe UI" panose="020B0502040204020203"/>
                <a:cs typeface="Segoe UI" panose="020B0502040204020203"/>
              </a:defRPr>
            </a:pPr>
            <a:r>
              <a:rPr sz="1275" b="0">
                <a:solidFill>
                  <a:srgbClr val="A6B3C4"/>
                </a:solidFill>
                <a:latin typeface="Segoe UI" panose="020B0502040204020203"/>
                <a:ea typeface="Segoe UI" panose="020B0502040204020203"/>
                <a:cs typeface="Segoe UI" panose="020B0502040204020203"/>
              </a:rPr>
              <a:t>Ba vùng Đầu vào, Xử lý, Đầu ra; hai làn cho Hệ thống và Con người.</a:t>
            </a:r>
            <a:endParaRPr sz="1275" b="0">
              <a:solidFill>
                <a:srgbClr val="A6B3C4"/>
              </a:solidFill>
              <a:latin typeface="Segoe UI" panose="020B0502040204020203"/>
              <a:ea typeface="Segoe UI" panose="020B0502040204020203"/>
              <a:cs typeface="Segoe UI" panose="020B0502040204020203"/>
            </a:endParaRPr>
          </a:p>
        </p:txBody>
      </p:sp>
      <p:sp>
        <p:nvSpPr>
          <p:cNvPr id="3" name="S2_Column_1"/>
          <p:cNvSpPr>
            <a:spLocks noGrp="1"/>
          </p:cNvSpPr>
          <p:nvPr/>
        </p:nvSpPr>
        <p:spPr>
          <a:xfrm>
            <a:off x="1885950" y="1333500"/>
            <a:ext cx="3105150" cy="228600"/>
          </a:xfrm>
          <a:prstGeom prst="rect">
            <a:avLst/>
          </a:prstGeom>
          <a:noFill/>
          <a:ln w="0">
            <a:noFill/>
          </a:ln>
        </p:spPr>
        <p:txBody>
          <a:bodyPr lIns="0" tIns="0" rIns="0" bIns="0" anchor="t">
            <a:noAutofit/>
          </a:bodyPr>
          <a:lstStyle>
            <a:defPPr algn="ctr">
              <a:defRPr sz="1125" b="1">
                <a:solidFill>
                  <a:srgbClr val="A6B3C4"/>
                </a:solidFill>
                <a:latin typeface="Segoe UI" panose="020B0502040204020203"/>
                <a:ea typeface="Segoe UI" panose="020B0502040204020203"/>
                <a:cs typeface="Segoe UI" panose="020B0502040204020203"/>
              </a:defRPr>
            </a:defPPr>
          </a:lstStyle>
          <a:p>
            <a:pPr algn="ctr">
              <a:defRPr sz="1125" b="1">
                <a:solidFill>
                  <a:srgbClr val="A6B3C4"/>
                </a:solidFill>
                <a:latin typeface="Segoe UI" panose="020B0502040204020203"/>
                <a:ea typeface="Segoe UI" panose="020B0502040204020203"/>
                <a:cs typeface="Segoe UI" panose="020B0502040204020203"/>
              </a:defRPr>
            </a:pPr>
            <a:r>
              <a:rPr sz="1125" b="1">
                <a:solidFill>
                  <a:srgbClr val="A6B3C4"/>
                </a:solidFill>
                <a:latin typeface="Segoe UI" panose="020B0502040204020203"/>
                <a:ea typeface="Segoe UI" panose="020B0502040204020203"/>
                <a:cs typeface="Segoe UI" panose="020B0502040204020203"/>
              </a:rPr>
              <a:t>ĐẦU VÀO</a:t>
            </a:r>
            <a:endParaRPr sz="1125" b="1">
              <a:solidFill>
                <a:srgbClr val="A6B3C4"/>
              </a:solidFill>
              <a:latin typeface="Segoe UI" panose="020B0502040204020203"/>
              <a:ea typeface="Segoe UI" panose="020B0502040204020203"/>
              <a:cs typeface="Segoe UI" panose="020B0502040204020203"/>
            </a:endParaRPr>
          </a:p>
        </p:txBody>
      </p:sp>
      <p:sp>
        <p:nvSpPr>
          <p:cNvPr id="4" name="S2_Column_2"/>
          <p:cNvSpPr>
            <a:spLocks noGrp="1"/>
          </p:cNvSpPr>
          <p:nvPr/>
        </p:nvSpPr>
        <p:spPr>
          <a:xfrm>
            <a:off x="5124450" y="1333500"/>
            <a:ext cx="3105150" cy="228600"/>
          </a:xfrm>
          <a:prstGeom prst="rect">
            <a:avLst/>
          </a:prstGeom>
          <a:noFill/>
          <a:ln w="0">
            <a:noFill/>
          </a:ln>
        </p:spPr>
        <p:txBody>
          <a:bodyPr lIns="0" tIns="0" rIns="0" bIns="0" anchor="t">
            <a:noAutofit/>
          </a:bodyPr>
          <a:lstStyle>
            <a:defPPr algn="ctr">
              <a:defRPr sz="1125" b="1">
                <a:solidFill>
                  <a:srgbClr val="A6B3C4"/>
                </a:solidFill>
                <a:latin typeface="Segoe UI" panose="020B0502040204020203"/>
                <a:ea typeface="Segoe UI" panose="020B0502040204020203"/>
                <a:cs typeface="Segoe UI" panose="020B0502040204020203"/>
              </a:defRPr>
            </a:defPPr>
          </a:lstStyle>
          <a:p>
            <a:pPr algn="ctr">
              <a:defRPr sz="1125" b="1">
                <a:solidFill>
                  <a:srgbClr val="A6B3C4"/>
                </a:solidFill>
                <a:latin typeface="Segoe UI" panose="020B0502040204020203"/>
                <a:ea typeface="Segoe UI" panose="020B0502040204020203"/>
                <a:cs typeface="Segoe UI" panose="020B0502040204020203"/>
              </a:defRPr>
            </a:pPr>
            <a:r>
              <a:rPr sz="1125" b="1">
                <a:solidFill>
                  <a:srgbClr val="A6B3C4"/>
                </a:solidFill>
                <a:latin typeface="Segoe UI" panose="020B0502040204020203"/>
                <a:ea typeface="Segoe UI" panose="020B0502040204020203"/>
                <a:cs typeface="Segoe UI" panose="020B0502040204020203"/>
              </a:rPr>
              <a:t>XỬ LÝ</a:t>
            </a:r>
            <a:endParaRPr sz="1125" b="1">
              <a:solidFill>
                <a:srgbClr val="A6B3C4"/>
              </a:solidFill>
              <a:latin typeface="Segoe UI" panose="020B0502040204020203"/>
              <a:ea typeface="Segoe UI" panose="020B0502040204020203"/>
              <a:cs typeface="Segoe UI" panose="020B0502040204020203"/>
            </a:endParaRPr>
          </a:p>
        </p:txBody>
      </p:sp>
      <p:sp>
        <p:nvSpPr>
          <p:cNvPr id="5" name="S2_Column_3"/>
          <p:cNvSpPr>
            <a:spLocks noGrp="1"/>
          </p:cNvSpPr>
          <p:nvPr/>
        </p:nvSpPr>
        <p:spPr>
          <a:xfrm>
            <a:off x="8362950" y="1333500"/>
            <a:ext cx="3105150" cy="228600"/>
          </a:xfrm>
          <a:prstGeom prst="rect">
            <a:avLst/>
          </a:prstGeom>
          <a:noFill/>
          <a:ln w="0">
            <a:noFill/>
          </a:ln>
        </p:spPr>
        <p:txBody>
          <a:bodyPr lIns="0" tIns="0" rIns="0" bIns="0" anchor="t">
            <a:noAutofit/>
          </a:bodyPr>
          <a:lstStyle>
            <a:defPPr algn="ctr">
              <a:defRPr sz="1125" b="1">
                <a:solidFill>
                  <a:srgbClr val="A6B3C4"/>
                </a:solidFill>
                <a:latin typeface="Segoe UI" panose="020B0502040204020203"/>
                <a:ea typeface="Segoe UI" panose="020B0502040204020203"/>
                <a:cs typeface="Segoe UI" panose="020B0502040204020203"/>
              </a:defRPr>
            </a:defPPr>
          </a:lstStyle>
          <a:p>
            <a:pPr algn="ctr">
              <a:defRPr sz="1125" b="1">
                <a:solidFill>
                  <a:srgbClr val="A6B3C4"/>
                </a:solidFill>
                <a:latin typeface="Segoe UI" panose="020B0502040204020203"/>
                <a:ea typeface="Segoe UI" panose="020B0502040204020203"/>
                <a:cs typeface="Segoe UI" panose="020B0502040204020203"/>
              </a:defRPr>
            </a:pPr>
            <a:r>
              <a:rPr sz="1125" b="1">
                <a:solidFill>
                  <a:srgbClr val="A6B3C4"/>
                </a:solidFill>
                <a:latin typeface="Segoe UI" panose="020B0502040204020203"/>
                <a:ea typeface="Segoe UI" panose="020B0502040204020203"/>
                <a:cs typeface="Segoe UI" panose="020B0502040204020203"/>
              </a:rPr>
              <a:t>ĐẦU RA</a:t>
            </a:r>
            <a:endParaRPr sz="1125" b="1">
              <a:solidFill>
                <a:srgbClr val="A6B3C4"/>
              </a:solidFill>
              <a:latin typeface="Segoe UI" panose="020B0502040204020203"/>
              <a:ea typeface="Segoe UI" panose="020B0502040204020203"/>
              <a:cs typeface="Segoe UI" panose="020B0502040204020203"/>
            </a:endParaRPr>
          </a:p>
        </p:txBody>
      </p:sp>
      <p:sp>
        <p:nvSpPr>
          <p:cNvPr id="6" name="S2_SystemLabel"/>
          <p:cNvSpPr>
            <a:spLocks noGrp="1"/>
          </p:cNvSpPr>
          <p:nvPr/>
        </p:nvSpPr>
        <p:spPr>
          <a:xfrm>
            <a:off x="552450" y="1676400"/>
            <a:ext cx="1200150" cy="2324100"/>
          </a:xfrm>
          <a:prstGeom prst="roundRect">
            <a:avLst>
              <a:gd name="adj" fmla="val 4762"/>
            </a:avLst>
          </a:prstGeom>
          <a:solidFill>
            <a:srgbClr val="162A42"/>
          </a:solidFill>
          <a:ln w="9525">
            <a:solidFill>
              <a:srgbClr val="45A9BE"/>
            </a:solidFill>
            <a:prstDash val="solid"/>
          </a:ln>
        </p:spPr>
      </p:sp>
      <p:sp>
        <p:nvSpPr>
          <p:cNvPr id="7" name="S2_SystemLabelText"/>
          <p:cNvSpPr>
            <a:spLocks noGrp="1"/>
          </p:cNvSpPr>
          <p:nvPr/>
        </p:nvSpPr>
        <p:spPr>
          <a:xfrm>
            <a:off x="666750" y="1676400"/>
            <a:ext cx="971550" cy="2324100"/>
          </a:xfrm>
          <a:prstGeom prst="rect">
            <a:avLst/>
          </a:prstGeom>
          <a:noFill/>
          <a:ln w="0">
            <a:noFill/>
          </a:ln>
        </p:spPr>
        <p:txBody>
          <a:bodyPr lIns="0" tIns="0" rIns="0" bIns="0" anchor="ctr">
            <a:noAutofit/>
          </a:bodyPr>
          <a:lstStyle>
            <a:defPPr algn="ctr">
              <a:defRPr sz="1200" b="1">
                <a:solidFill>
                  <a:srgbClr val="45A9BE"/>
                </a:solidFill>
                <a:latin typeface="Segoe UI" panose="020B0502040204020203"/>
                <a:ea typeface="Segoe UI" panose="020B0502040204020203"/>
                <a:cs typeface="Segoe UI" panose="020B0502040204020203"/>
              </a:defRPr>
            </a:defPPr>
          </a:lstStyle>
          <a:p>
            <a:pPr algn="ctr">
              <a:defRPr sz="1200" b="1">
                <a:solidFill>
                  <a:srgbClr val="45A9BE"/>
                </a:solidFill>
                <a:latin typeface="Segoe UI" panose="020B0502040204020203"/>
                <a:ea typeface="Segoe UI" panose="020B0502040204020203"/>
                <a:cs typeface="Segoe UI" panose="020B0502040204020203"/>
              </a:defRPr>
            </a:pPr>
            <a:r>
              <a:rPr sz="1200" b="1">
                <a:solidFill>
                  <a:srgbClr val="45A9BE"/>
                </a:solidFill>
                <a:latin typeface="Segoe UI" panose="020B0502040204020203"/>
                <a:ea typeface="Segoe UI" panose="020B0502040204020203"/>
                <a:cs typeface="Segoe UI" panose="020B0502040204020203"/>
              </a:rPr>
              <a:t>HỆ THỐNG</a:t>
            </a:r>
            <a:endParaRPr sz="1200" b="1">
              <a:solidFill>
                <a:srgbClr val="45A9BE"/>
              </a:solidFill>
              <a:latin typeface="Segoe UI" panose="020B0502040204020203"/>
              <a:ea typeface="Segoe UI" panose="020B0502040204020203"/>
              <a:cs typeface="Segoe UI" panose="020B0502040204020203"/>
            </a:endParaRPr>
          </a:p>
        </p:txBody>
      </p:sp>
      <p:sp>
        <p:nvSpPr>
          <p:cNvPr id="8" name="S2_HumanLabel"/>
          <p:cNvSpPr>
            <a:spLocks noGrp="1"/>
          </p:cNvSpPr>
          <p:nvPr/>
        </p:nvSpPr>
        <p:spPr>
          <a:xfrm>
            <a:off x="552450" y="4171950"/>
            <a:ext cx="1200150" cy="1352550"/>
          </a:xfrm>
          <a:prstGeom prst="roundRect">
            <a:avLst>
              <a:gd name="adj" fmla="val 4762"/>
            </a:avLst>
          </a:prstGeom>
          <a:solidFill>
            <a:srgbClr val="162A42"/>
          </a:solidFill>
          <a:ln w="9525">
            <a:solidFill>
              <a:srgbClr val="4FAF91"/>
            </a:solidFill>
            <a:prstDash val="solid"/>
          </a:ln>
        </p:spPr>
      </p:sp>
      <p:sp>
        <p:nvSpPr>
          <p:cNvPr id="9" name="S2_HumanLabelText"/>
          <p:cNvSpPr>
            <a:spLocks noGrp="1"/>
          </p:cNvSpPr>
          <p:nvPr/>
        </p:nvSpPr>
        <p:spPr>
          <a:xfrm>
            <a:off x="666750" y="4171950"/>
            <a:ext cx="971550" cy="1352550"/>
          </a:xfrm>
          <a:prstGeom prst="rect">
            <a:avLst/>
          </a:prstGeom>
          <a:noFill/>
          <a:ln w="0">
            <a:noFill/>
          </a:ln>
        </p:spPr>
        <p:txBody>
          <a:bodyPr lIns="0" tIns="0" rIns="0" bIns="0" anchor="ctr">
            <a:noAutofit/>
          </a:bodyPr>
          <a:lstStyle>
            <a:defPPr algn="ctr">
              <a:defRPr sz="1200" b="1">
                <a:solidFill>
                  <a:srgbClr val="4FAF91"/>
                </a:solidFill>
                <a:latin typeface="Segoe UI" panose="020B0502040204020203"/>
                <a:ea typeface="Segoe UI" panose="020B0502040204020203"/>
                <a:cs typeface="Segoe UI" panose="020B0502040204020203"/>
              </a:defRPr>
            </a:defPPr>
          </a:lstStyle>
          <a:p>
            <a:pPr algn="ctr">
              <a:defRPr sz="1200" b="1">
                <a:solidFill>
                  <a:srgbClr val="4FAF91"/>
                </a:solidFill>
                <a:latin typeface="Segoe UI" panose="020B0502040204020203"/>
                <a:ea typeface="Segoe UI" panose="020B0502040204020203"/>
                <a:cs typeface="Segoe UI" panose="020B0502040204020203"/>
              </a:defRPr>
            </a:pPr>
            <a:r>
              <a:rPr sz="1200" b="1">
                <a:solidFill>
                  <a:srgbClr val="4FAF91"/>
                </a:solidFill>
                <a:latin typeface="Segoe UI" panose="020B0502040204020203"/>
                <a:ea typeface="Segoe UI" panose="020B0502040204020203"/>
                <a:cs typeface="Segoe UI" panose="020B0502040204020203"/>
              </a:rPr>
              <a:t>CON NGƯỜI</a:t>
            </a:r>
            <a:endParaRPr sz="1200" b="1">
              <a:solidFill>
                <a:srgbClr val="4FAF91"/>
              </a:solidFill>
              <a:latin typeface="Segoe UI" panose="020B0502040204020203"/>
              <a:ea typeface="Segoe UI" panose="020B0502040204020203"/>
              <a:cs typeface="Segoe UI" panose="020B0502040204020203"/>
            </a:endParaRPr>
          </a:p>
        </p:txBody>
      </p:sp>
      <p:sp>
        <p:nvSpPr>
          <p:cNvPr id="10" name="S2_InputSystem"/>
          <p:cNvSpPr>
            <a:spLocks noGrp="1"/>
          </p:cNvSpPr>
          <p:nvPr/>
        </p:nvSpPr>
        <p:spPr>
          <a:xfrm>
            <a:off x="1885950" y="1676400"/>
            <a:ext cx="3105150" cy="2324100"/>
          </a:xfrm>
          <a:prstGeom prst="roundRect">
            <a:avLst>
              <a:gd name="adj" fmla="val 2459"/>
            </a:avLst>
          </a:prstGeom>
          <a:solidFill>
            <a:srgbClr val="112338"/>
          </a:solidFill>
          <a:ln w="9525">
            <a:solidFill>
              <a:srgbClr val="31445C"/>
            </a:solidFill>
            <a:prstDash val="solid"/>
          </a:ln>
        </p:spPr>
      </p:sp>
      <p:sp>
        <p:nvSpPr>
          <p:cNvPr id="11" name="S2_PhaseA"/>
          <p:cNvSpPr>
            <a:spLocks noGrp="1"/>
          </p:cNvSpPr>
          <p:nvPr/>
        </p:nvSpPr>
        <p:spPr>
          <a:xfrm>
            <a:off x="2057400" y="1847850"/>
            <a:ext cx="1428750" cy="266700"/>
          </a:xfrm>
          <a:prstGeom prst="roundRect">
            <a:avLst>
              <a:gd name="adj" fmla="val 21429"/>
            </a:avLst>
          </a:prstGeom>
          <a:solidFill>
            <a:srgbClr val="45A9BE"/>
          </a:solidFill>
          <a:ln w="9525">
            <a:solidFill>
              <a:srgbClr val="45A9BE"/>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PHA A • GATE 1–3</a:t>
            </a:r>
            <a:endParaRPr sz="900" b="1">
              <a:solidFill>
                <a:srgbClr val="091522"/>
              </a:solidFill>
              <a:latin typeface="Segoe UI" panose="020B0502040204020203"/>
              <a:ea typeface="Segoe UI" panose="020B0502040204020203"/>
              <a:cs typeface="Segoe UI" panose="020B0502040204020203"/>
            </a:endParaRPr>
          </a:p>
        </p:txBody>
      </p:sp>
      <p:sp>
        <p:nvSpPr>
          <p:cNvPr id="12" name="S2_PhaseATitle"/>
          <p:cNvSpPr>
            <a:spLocks noGrp="1"/>
          </p:cNvSpPr>
          <p:nvPr/>
        </p:nvSpPr>
        <p:spPr>
          <a:xfrm>
            <a:off x="2057400" y="2266950"/>
            <a:ext cx="2762250" cy="266700"/>
          </a:xfrm>
          <a:prstGeom prst="rect">
            <a:avLst/>
          </a:prstGeom>
          <a:noFill/>
          <a:ln w="0">
            <a:noFill/>
          </a:ln>
        </p:spPr>
        <p:txBody>
          <a:bodyPr lIns="0" tIns="0" rIns="0" bIns="0" anchor="t">
            <a:noAutofit/>
          </a:bodyPr>
          <a:lstStyle>
            <a:defPPr algn="l">
              <a:defRPr sz="1425" b="1">
                <a:solidFill>
                  <a:srgbClr val="F4F7FB"/>
                </a:solidFill>
                <a:latin typeface="Segoe UI" panose="020B0502040204020203"/>
                <a:ea typeface="Segoe UI" panose="020B0502040204020203"/>
                <a:cs typeface="Segoe UI" panose="020B0502040204020203"/>
              </a:defRPr>
            </a:defPPr>
          </a:lstStyle>
          <a:p>
            <a:pPr algn="l">
              <a:defRPr sz="1425" b="1">
                <a:solidFill>
                  <a:srgbClr val="F4F7FB"/>
                </a:solidFill>
                <a:latin typeface="Segoe UI" panose="020B0502040204020203"/>
                <a:ea typeface="Segoe UI" panose="020B0502040204020203"/>
                <a:cs typeface="Segoe UI" panose="020B0502040204020203"/>
              </a:defRPr>
            </a:pPr>
            <a:r>
              <a:rPr sz="1425" b="1">
                <a:solidFill>
                  <a:srgbClr val="F4F7FB"/>
                </a:solidFill>
                <a:latin typeface="Segoe UI" panose="020B0502040204020203"/>
                <a:ea typeface="Segoe UI" panose="020B0502040204020203"/>
                <a:cs typeface="Segoe UI" panose="020B0502040204020203"/>
              </a:rPr>
              <a:t>Nhận và xếp hàng</a:t>
            </a:r>
            <a:endParaRPr sz="1425" b="1">
              <a:solidFill>
                <a:srgbClr val="F4F7FB"/>
              </a:solidFill>
              <a:latin typeface="Segoe UI" panose="020B0502040204020203"/>
              <a:ea typeface="Segoe UI" panose="020B0502040204020203"/>
              <a:cs typeface="Segoe UI" panose="020B0502040204020203"/>
            </a:endParaRPr>
          </a:p>
        </p:txBody>
      </p:sp>
      <p:sp>
        <p:nvSpPr>
          <p:cNvPr id="13" name="S2_PhaseADetail"/>
          <p:cNvSpPr>
            <a:spLocks noGrp="1"/>
          </p:cNvSpPr>
          <p:nvPr/>
        </p:nvSpPr>
        <p:spPr>
          <a:xfrm>
            <a:off x="2057400" y="2686050"/>
            <a:ext cx="2762250" cy="1009650"/>
          </a:xfrm>
          <a:prstGeom prst="rect">
            <a:avLst/>
          </a:prstGeom>
          <a:noFill/>
          <a:ln w="0">
            <a:noFill/>
          </a:ln>
        </p:spPr>
        <p:txBody>
          <a:bodyPr lIns="0" tIns="0" rIns="0" bIns="0" anchor="ctr">
            <a:noAutofit/>
          </a:bodyPr>
          <a:lstStyle>
            <a:defPPr algn="l">
              <a:defRPr sz="1200" b="0">
                <a:solidFill>
                  <a:srgbClr val="A6B3C4"/>
                </a:solidFill>
                <a:latin typeface="Segoe UI" panose="020B0502040204020203"/>
                <a:ea typeface="Segoe UI" panose="020B0502040204020203"/>
                <a:cs typeface="Segoe UI" panose="020B0502040204020203"/>
              </a:defRPr>
            </a:defPPr>
          </a:lstStyle>
          <a:p>
            <a:pPr algn="l">
              <a:defRPr sz="1200" b="0">
                <a:solidFill>
                  <a:srgbClr val="A6B3C4"/>
                </a:solidFill>
                <a:latin typeface="Segoe UI" panose="020B0502040204020203"/>
                <a:ea typeface="Segoe UI" panose="020B0502040204020203"/>
                <a:cs typeface="Segoe UI" panose="020B0502040204020203"/>
              </a:defRPr>
            </a:pPr>
            <a:r>
              <a:rPr sz="1200" b="0">
                <a:solidFill>
                  <a:srgbClr val="A6B3C4"/>
                </a:solidFill>
                <a:latin typeface="Segoe UI" panose="020B0502040204020203"/>
                <a:ea typeface="Segoe UI" panose="020B0502040204020203"/>
                <a:cs typeface="Segoe UI" panose="020B0502040204020203"/>
              </a:rPr>
              <a:t>JPG/PNG ≤ 5 MB</a:t>
            </a:r>
            <a:endParaRPr sz="1200" b="0">
              <a:solidFill>
                <a:srgbClr val="A6B3C4"/>
              </a:solidFill>
              <a:latin typeface="Segoe UI" panose="020B0502040204020203"/>
              <a:ea typeface="Segoe UI" panose="020B0502040204020203"/>
              <a:cs typeface="Segoe UI" panose="020B0502040204020203"/>
            </a:endParaRPr>
          </a:p>
          <a:p>
            <a:pPr algn="l">
              <a:defRPr sz="1200" b="0">
                <a:solidFill>
                  <a:srgbClr val="A6B3C4"/>
                </a:solidFill>
                <a:latin typeface="Segoe UI" panose="020B0502040204020203"/>
                <a:ea typeface="Segoe UI" panose="020B0502040204020203"/>
                <a:cs typeface="Segoe UI" panose="020B0502040204020203"/>
              </a:defRPr>
            </a:pPr>
            <a:r>
              <a:rPr sz="1200" b="0">
                <a:solidFill>
                  <a:srgbClr val="A6B3C4"/>
                </a:solidFill>
                <a:latin typeface="Segoe UI" panose="020B0502040204020203"/>
                <a:ea typeface="Segoe UI" panose="020B0502040204020203"/>
                <a:cs typeface="Segoe UI" panose="020B0502040204020203"/>
              </a:rPr>
              <a:t>MIME + magic bytes</a:t>
            </a:r>
            <a:endParaRPr sz="1200" b="0">
              <a:solidFill>
                <a:srgbClr val="A6B3C4"/>
              </a:solidFill>
              <a:latin typeface="Segoe UI" panose="020B0502040204020203"/>
              <a:ea typeface="Segoe UI" panose="020B0502040204020203"/>
              <a:cs typeface="Segoe UI" panose="020B0502040204020203"/>
            </a:endParaRPr>
          </a:p>
          <a:p>
            <a:pPr algn="l">
              <a:defRPr sz="1200" b="0">
                <a:solidFill>
                  <a:srgbClr val="A6B3C4"/>
                </a:solidFill>
                <a:latin typeface="Segoe UI" panose="020B0502040204020203"/>
                <a:ea typeface="Segoe UI" panose="020B0502040204020203"/>
                <a:cs typeface="Segoe UI" panose="020B0502040204020203"/>
              </a:defRPr>
            </a:pPr>
            <a:r>
              <a:rPr sz="1200" b="0">
                <a:solidFill>
                  <a:srgbClr val="A6B3C4"/>
                </a:solidFill>
                <a:latin typeface="Segoe UI" panose="020B0502040204020203"/>
                <a:ea typeface="Segoe UI" panose="020B0502040204020203"/>
                <a:cs typeface="Segoe UI" panose="020B0502040204020203"/>
              </a:rPr>
              <a:t>Private storage + SHA-256</a:t>
            </a:r>
            <a:endParaRPr sz="1200" b="0">
              <a:solidFill>
                <a:srgbClr val="A6B3C4"/>
              </a:solidFill>
              <a:latin typeface="Segoe UI" panose="020B0502040204020203"/>
              <a:ea typeface="Segoe UI" panose="020B0502040204020203"/>
              <a:cs typeface="Segoe UI" panose="020B0502040204020203"/>
            </a:endParaRPr>
          </a:p>
          <a:p>
            <a:pPr algn="l">
              <a:defRPr sz="1200" b="0">
                <a:solidFill>
                  <a:srgbClr val="A6B3C4"/>
                </a:solidFill>
                <a:latin typeface="Segoe UI" panose="020B0502040204020203"/>
                <a:ea typeface="Segoe UI" panose="020B0502040204020203"/>
                <a:cs typeface="Segoe UI" panose="020B0502040204020203"/>
              </a:defRPr>
            </a:pPr>
            <a:r>
              <a:rPr sz="1200" b="0">
                <a:solidFill>
                  <a:srgbClr val="A6B3C4"/>
                </a:solidFill>
                <a:latin typeface="Segoe UI" panose="020B0502040204020203"/>
                <a:ea typeface="Segoe UI" panose="020B0502040204020203"/>
                <a:cs typeface="Segoe UI" panose="020B0502040204020203"/>
              </a:rPr>
              <a:t>SQL PENDING + AI_QUEUED</a:t>
            </a:r>
            <a:endParaRPr sz="1200" b="0">
              <a:solidFill>
                <a:srgbClr val="A6B3C4"/>
              </a:solidFill>
              <a:latin typeface="Segoe UI" panose="020B0502040204020203"/>
              <a:ea typeface="Segoe UI" panose="020B0502040204020203"/>
              <a:cs typeface="Segoe UI" panose="020B0502040204020203"/>
            </a:endParaRPr>
          </a:p>
        </p:txBody>
      </p:sp>
      <p:sp>
        <p:nvSpPr>
          <p:cNvPr id="14" name="S2_ProcessSystem"/>
          <p:cNvSpPr>
            <a:spLocks noGrp="1"/>
          </p:cNvSpPr>
          <p:nvPr/>
        </p:nvSpPr>
        <p:spPr>
          <a:xfrm>
            <a:off x="5124450" y="1676400"/>
            <a:ext cx="3105150" cy="2324100"/>
          </a:xfrm>
          <a:prstGeom prst="roundRect">
            <a:avLst>
              <a:gd name="adj" fmla="val 2459"/>
            </a:avLst>
          </a:prstGeom>
          <a:solidFill>
            <a:srgbClr val="112338"/>
          </a:solidFill>
          <a:ln w="9525">
            <a:solidFill>
              <a:srgbClr val="31445C"/>
            </a:solidFill>
            <a:prstDash val="solid"/>
          </a:ln>
        </p:spPr>
      </p:sp>
      <p:sp>
        <p:nvSpPr>
          <p:cNvPr id="15" name="S2_PhaseB"/>
          <p:cNvSpPr>
            <a:spLocks noGrp="1"/>
          </p:cNvSpPr>
          <p:nvPr/>
        </p:nvSpPr>
        <p:spPr>
          <a:xfrm>
            <a:off x="5295900" y="1847850"/>
            <a:ext cx="1428750" cy="266700"/>
          </a:xfrm>
          <a:prstGeom prst="roundRect">
            <a:avLst>
              <a:gd name="adj" fmla="val 21429"/>
            </a:avLst>
          </a:prstGeom>
          <a:solidFill>
            <a:srgbClr val="45A9BE"/>
          </a:solidFill>
          <a:ln w="9525">
            <a:solidFill>
              <a:srgbClr val="45A9BE"/>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PHA B • GATE 4–5</a:t>
            </a:r>
            <a:endParaRPr sz="900" b="1">
              <a:solidFill>
                <a:srgbClr val="091522"/>
              </a:solidFill>
              <a:latin typeface="Segoe UI" panose="020B0502040204020203"/>
              <a:ea typeface="Segoe UI" panose="020B0502040204020203"/>
              <a:cs typeface="Segoe UI" panose="020B0502040204020203"/>
            </a:endParaRPr>
          </a:p>
        </p:txBody>
      </p:sp>
      <p:sp>
        <p:nvSpPr>
          <p:cNvPr id="16" name="S2_PhaseBDetail"/>
          <p:cNvSpPr>
            <a:spLocks noGrp="1"/>
          </p:cNvSpPr>
          <p:nvPr/>
        </p:nvSpPr>
        <p:spPr>
          <a:xfrm>
            <a:off x="5295900" y="2209800"/>
            <a:ext cx="2762250" cy="590550"/>
          </a:xfrm>
          <a:prstGeom prst="rect">
            <a:avLst/>
          </a:prstGeom>
          <a:noFill/>
          <a:ln w="0">
            <a:noFill/>
          </a:ln>
        </p:spPr>
        <p:txBody>
          <a:bodyPr lIns="0" tIns="0" rIns="0" bIns="0" anchor="ctr">
            <a:noAutofit/>
          </a:bodyPr>
          <a:lstStyle>
            <a:defPPr algn="l">
              <a:defRPr sz="1125" b="1">
                <a:solidFill>
                  <a:srgbClr val="F4F7FB"/>
                </a:solidFill>
                <a:latin typeface="Segoe UI" panose="020B0502040204020203"/>
                <a:ea typeface="Segoe UI" panose="020B0502040204020203"/>
                <a:cs typeface="Segoe UI" panose="020B0502040204020203"/>
              </a:defRPr>
            </a:defPPr>
          </a:lstStyle>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HTTP 202 + statusUrl</a:t>
            </a:r>
            <a:endParaRPr sz="1125" b="1">
              <a:solidFill>
                <a:srgbClr val="F4F7FB"/>
              </a:solidFill>
              <a:latin typeface="Segoe UI" panose="020B0502040204020203"/>
              <a:ea typeface="Segoe UI" panose="020B0502040204020203"/>
              <a:cs typeface="Segoe UI" panose="020B0502040204020203"/>
            </a:endParaRPr>
          </a:p>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Worker lease 600s; reclaim sau restart</a:t>
            </a:r>
            <a:endParaRPr sz="1125" b="1">
              <a:solidFill>
                <a:srgbClr val="F4F7FB"/>
              </a:solidFill>
              <a:latin typeface="Segoe UI" panose="020B0502040204020203"/>
              <a:ea typeface="Segoe UI" panose="020B0502040204020203"/>
              <a:cs typeface="Segoe UI" panose="020B0502040204020203"/>
            </a:endParaRPr>
          </a:p>
        </p:txBody>
      </p:sp>
      <p:sp>
        <p:nvSpPr>
          <p:cNvPr id="17" name="S2_ProcessDivider"/>
          <p:cNvSpPr>
            <a:spLocks noGrp="1"/>
          </p:cNvSpPr>
          <p:nvPr/>
        </p:nvSpPr>
        <p:spPr>
          <a:xfrm>
            <a:off x="5295900" y="2914650"/>
            <a:ext cx="2762250" cy="0"/>
          </a:xfrm>
          <a:prstGeom prst="line">
            <a:avLst/>
          </a:prstGeom>
          <a:noFill/>
          <a:ln w="9525">
            <a:solidFill>
              <a:srgbClr val="31445C"/>
            </a:solidFill>
            <a:prstDash val="solid"/>
          </a:ln>
        </p:spPr>
      </p:sp>
      <p:sp>
        <p:nvSpPr>
          <p:cNvPr id="18" name="S2_PhaseC"/>
          <p:cNvSpPr>
            <a:spLocks noGrp="1"/>
          </p:cNvSpPr>
          <p:nvPr/>
        </p:nvSpPr>
        <p:spPr>
          <a:xfrm>
            <a:off x="5295900" y="3067050"/>
            <a:ext cx="1428750" cy="266700"/>
          </a:xfrm>
          <a:prstGeom prst="roundRect">
            <a:avLst>
              <a:gd name="adj" fmla="val 21429"/>
            </a:avLst>
          </a:prstGeom>
          <a:solidFill>
            <a:srgbClr val="5F8FD8"/>
          </a:solidFill>
          <a:ln w="9525">
            <a:solidFill>
              <a:srgbClr val="5F8FD8"/>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PHA C • GATE 6–7</a:t>
            </a:r>
            <a:endParaRPr sz="900" b="1">
              <a:solidFill>
                <a:srgbClr val="091522"/>
              </a:solidFill>
              <a:latin typeface="Segoe UI" panose="020B0502040204020203"/>
              <a:ea typeface="Segoe UI" panose="020B0502040204020203"/>
              <a:cs typeface="Segoe UI" panose="020B0502040204020203"/>
            </a:endParaRPr>
          </a:p>
        </p:txBody>
      </p:sp>
      <p:sp>
        <p:nvSpPr>
          <p:cNvPr id="19" name="S2_PhaseCDetail"/>
          <p:cNvSpPr>
            <a:spLocks noGrp="1"/>
          </p:cNvSpPr>
          <p:nvPr/>
        </p:nvSpPr>
        <p:spPr>
          <a:xfrm>
            <a:off x="5295900" y="3429000"/>
            <a:ext cx="2762250" cy="476250"/>
          </a:xfrm>
          <a:prstGeom prst="rect">
            <a:avLst/>
          </a:prstGeom>
          <a:noFill/>
          <a:ln w="0">
            <a:noFill/>
          </a:ln>
        </p:spPr>
        <p:txBody>
          <a:bodyPr lIns="0" tIns="0" rIns="0" bIns="0" anchor="ctr">
            <a:noAutofit/>
          </a:bodyPr>
          <a:lstStyle>
            <a:defPPr algn="l">
              <a:defRPr sz="1125" b="1">
                <a:solidFill>
                  <a:srgbClr val="F4F7FB"/>
                </a:solidFill>
                <a:latin typeface="Segoe UI" panose="020B0502040204020203"/>
                <a:ea typeface="Segoe UI" panose="020B0502040204020203"/>
                <a:cs typeface="Segoe UI" panose="020B0502040204020203"/>
              </a:defRPr>
            </a:defPPr>
          </a:lstStyle>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AI permit 1 • Schema → DTO</a:t>
            </a:r>
            <a:endParaRPr sz="1125" b="1">
              <a:solidFill>
                <a:srgbClr val="F4F7FB"/>
              </a:solidFill>
              <a:latin typeface="Segoe UI" panose="020B0502040204020203"/>
              <a:ea typeface="Segoe UI" panose="020B0502040204020203"/>
              <a:cs typeface="Segoe UI" panose="020B0502040204020203"/>
            </a:endParaRPr>
          </a:p>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Semantic validation • repair tối đa 1 lần</a:t>
            </a:r>
            <a:endParaRPr sz="1125" b="1">
              <a:solidFill>
                <a:srgbClr val="F4F7FB"/>
              </a:solidFill>
              <a:latin typeface="Segoe UI" panose="020B0502040204020203"/>
              <a:ea typeface="Segoe UI" panose="020B0502040204020203"/>
              <a:cs typeface="Segoe UI" panose="020B0502040204020203"/>
            </a:endParaRPr>
          </a:p>
        </p:txBody>
      </p:sp>
      <p:sp>
        <p:nvSpPr>
          <p:cNvPr id="20" name="S2_OutputSystem"/>
          <p:cNvSpPr>
            <a:spLocks noGrp="1"/>
          </p:cNvSpPr>
          <p:nvPr/>
        </p:nvSpPr>
        <p:spPr>
          <a:xfrm>
            <a:off x="8362950" y="1676400"/>
            <a:ext cx="3105150" cy="2324100"/>
          </a:xfrm>
          <a:prstGeom prst="roundRect">
            <a:avLst>
              <a:gd name="adj" fmla="val 2459"/>
            </a:avLst>
          </a:prstGeom>
          <a:solidFill>
            <a:srgbClr val="112338"/>
          </a:solidFill>
          <a:ln w="9525">
            <a:solidFill>
              <a:srgbClr val="31445C"/>
            </a:solidFill>
            <a:prstDash val="solid"/>
          </a:ln>
        </p:spPr>
      </p:sp>
      <p:sp>
        <p:nvSpPr>
          <p:cNvPr id="21" name="S2_PhaseD"/>
          <p:cNvSpPr>
            <a:spLocks noGrp="1"/>
          </p:cNvSpPr>
          <p:nvPr/>
        </p:nvSpPr>
        <p:spPr>
          <a:xfrm>
            <a:off x="8534400" y="1847850"/>
            <a:ext cx="1257300" cy="266700"/>
          </a:xfrm>
          <a:prstGeom prst="roundRect">
            <a:avLst>
              <a:gd name="adj" fmla="val 21429"/>
            </a:avLst>
          </a:prstGeom>
          <a:solidFill>
            <a:srgbClr val="C59A4A"/>
          </a:solidFill>
          <a:ln w="9525">
            <a:solidFill>
              <a:srgbClr val="C59A4A"/>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PHA D • GATE 8</a:t>
            </a:r>
            <a:endParaRPr sz="900" b="1">
              <a:solidFill>
                <a:srgbClr val="091522"/>
              </a:solidFill>
              <a:latin typeface="Segoe UI" panose="020B0502040204020203"/>
              <a:ea typeface="Segoe UI" panose="020B0502040204020203"/>
              <a:cs typeface="Segoe UI" panose="020B0502040204020203"/>
            </a:endParaRPr>
          </a:p>
        </p:txBody>
      </p:sp>
      <p:sp>
        <p:nvSpPr>
          <p:cNvPr id="22" name="S2_PhaseDTitle"/>
          <p:cNvSpPr>
            <a:spLocks noGrp="1"/>
          </p:cNvSpPr>
          <p:nvPr/>
        </p:nvSpPr>
        <p:spPr>
          <a:xfrm>
            <a:off x="8534400" y="2266950"/>
            <a:ext cx="2762250" cy="285750"/>
          </a:xfrm>
          <a:prstGeom prst="rect">
            <a:avLst/>
          </a:prstGeom>
          <a:noFill/>
          <a:ln w="0">
            <a:noFill/>
          </a:ln>
        </p:spPr>
        <p:txBody>
          <a:bodyPr lIns="0" tIns="0" rIns="0" bIns="0" anchor="t">
            <a:noAutofit/>
          </a:bodyPr>
          <a:lstStyle>
            <a:defPPr algn="l">
              <a:defRPr sz="1350" b="1">
                <a:solidFill>
                  <a:srgbClr val="F4F7FB"/>
                </a:solidFill>
                <a:latin typeface="Segoe UI" panose="020B0502040204020203"/>
                <a:ea typeface="Segoe UI" panose="020B0502040204020203"/>
                <a:cs typeface="Segoe UI" panose="020B0502040204020203"/>
              </a:defRPr>
            </a:defPPr>
          </a:lstStyle>
          <a:p>
            <a:pPr algn="l">
              <a:defRPr sz="1350" b="1">
                <a:solidFill>
                  <a:srgbClr val="F4F7FB"/>
                </a:solidFill>
                <a:latin typeface="Segoe UI" panose="020B0502040204020203"/>
                <a:ea typeface="Segoe UI" panose="020B0502040204020203"/>
                <a:cs typeface="Segoe UI" panose="020B0502040204020203"/>
              </a:defRPr>
            </a:pPr>
            <a:r>
              <a:rPr sz="1350" b="1">
                <a:solidFill>
                  <a:srgbClr val="F4F7FB"/>
                </a:solidFill>
                <a:latin typeface="Segoe UI" panose="020B0502040204020203"/>
                <a:ea typeface="Segoe UI" panose="020B0502040204020203"/>
                <a:cs typeface="Segoe UI" panose="020B0502040204020203"/>
              </a:rPr>
              <a:t>PolicyDecisionEngine C#</a:t>
            </a:r>
            <a:endParaRPr sz="1350" b="1">
              <a:solidFill>
                <a:srgbClr val="F4F7FB"/>
              </a:solidFill>
              <a:latin typeface="Segoe UI" panose="020B0502040204020203"/>
              <a:ea typeface="Segoe UI" panose="020B0502040204020203"/>
              <a:cs typeface="Segoe UI" panose="020B0502040204020203"/>
            </a:endParaRPr>
          </a:p>
        </p:txBody>
      </p:sp>
      <p:sp>
        <p:nvSpPr>
          <p:cNvPr id="23" name="S2_PhaseDDetail"/>
          <p:cNvSpPr>
            <a:spLocks noGrp="1"/>
          </p:cNvSpPr>
          <p:nvPr/>
        </p:nvSpPr>
        <p:spPr>
          <a:xfrm>
            <a:off x="8534400" y="2647950"/>
            <a:ext cx="2762250" cy="47625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Route theo business rules</a:t>
            </a:r>
            <a:endParaRPr sz="1125" b="0">
              <a:solidFill>
                <a:srgbClr val="A6B3C4"/>
              </a:solidFill>
              <a:latin typeface="Segoe UI" panose="020B0502040204020203"/>
              <a:ea typeface="Segoe UI" panose="020B0502040204020203"/>
              <a:cs typeface="Segoe UI" panose="020B0502040204020203"/>
            </a:endParaRPr>
          </a:p>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Không dùng confidence để tự đổi policy</a:t>
            </a:r>
            <a:endParaRPr sz="1125" b="0">
              <a:solidFill>
                <a:srgbClr val="A6B3C4"/>
              </a:solidFill>
              <a:latin typeface="Segoe UI" panose="020B0502040204020203"/>
              <a:ea typeface="Segoe UI" panose="020B0502040204020203"/>
              <a:cs typeface="Segoe UI" panose="020B0502040204020203"/>
            </a:endParaRPr>
          </a:p>
        </p:txBody>
      </p:sp>
      <p:sp>
        <p:nvSpPr>
          <p:cNvPr id="24" name="S2_AutoBranch"/>
          <p:cNvSpPr>
            <a:spLocks noGrp="1"/>
          </p:cNvSpPr>
          <p:nvPr/>
        </p:nvSpPr>
        <p:spPr>
          <a:xfrm>
            <a:off x="8534400" y="3295650"/>
            <a:ext cx="1257300" cy="495300"/>
          </a:xfrm>
          <a:prstGeom prst="roundRect">
            <a:avLst>
              <a:gd name="adj" fmla="val 11538"/>
            </a:avLst>
          </a:prstGeom>
          <a:solidFill>
            <a:srgbClr val="162A42"/>
          </a:solidFill>
          <a:ln w="9525">
            <a:solidFill>
              <a:srgbClr val="4FAF91"/>
            </a:solidFill>
            <a:prstDash val="solid"/>
          </a:ln>
        </p:spPr>
      </p:sp>
      <p:sp>
        <p:nvSpPr>
          <p:cNvPr id="25" name="S2_AutoBranchText"/>
          <p:cNvSpPr>
            <a:spLocks noGrp="1"/>
          </p:cNvSpPr>
          <p:nvPr/>
        </p:nvSpPr>
        <p:spPr>
          <a:xfrm>
            <a:off x="8610600" y="3371850"/>
            <a:ext cx="1104900" cy="342900"/>
          </a:xfrm>
          <a:prstGeom prst="rect">
            <a:avLst/>
          </a:prstGeom>
          <a:noFill/>
          <a:ln w="0">
            <a:noFill/>
          </a:ln>
        </p:spPr>
        <p:txBody>
          <a:bodyPr lIns="0" tIns="0" rIns="0" bIns="0" anchor="ctr">
            <a:noAutofit/>
          </a:bodyPr>
          <a:lstStyle>
            <a:defPPr algn="ctr">
              <a:defRPr sz="975" b="1">
                <a:solidFill>
                  <a:srgbClr val="4FAF91"/>
                </a:solidFill>
                <a:latin typeface="Segoe UI" panose="020B0502040204020203"/>
                <a:ea typeface="Segoe UI" panose="020B0502040204020203"/>
                <a:cs typeface="Segoe UI" panose="020B0502040204020203"/>
              </a:defRPr>
            </a:defPPr>
          </a:lstStyle>
          <a:p>
            <a:pPr algn="ctr">
              <a:defRPr sz="975" b="1">
                <a:solidFill>
                  <a:srgbClr val="4FAF91"/>
                </a:solidFill>
                <a:latin typeface="Segoe UI" panose="020B0502040204020203"/>
                <a:ea typeface="Segoe UI" panose="020B0502040204020203"/>
                <a:cs typeface="Segoe UI" panose="020B0502040204020203"/>
              </a:defRPr>
            </a:pPr>
            <a:r>
              <a:rPr sz="975" b="1">
                <a:solidFill>
                  <a:srgbClr val="4FAF91"/>
                </a:solidFill>
                <a:latin typeface="Segoe UI" panose="020B0502040204020203"/>
                <a:ea typeface="Segoe UI" panose="020B0502040204020203"/>
                <a:cs typeface="Segoe UI" panose="020B0502040204020203"/>
              </a:rPr>
              <a:t>AUTO_APPROVE</a:t>
            </a:r>
            <a:endParaRPr sz="975" b="1">
              <a:solidFill>
                <a:srgbClr val="4FAF91"/>
              </a:solidFill>
              <a:latin typeface="Segoe UI" panose="020B0502040204020203"/>
              <a:ea typeface="Segoe UI" panose="020B0502040204020203"/>
              <a:cs typeface="Segoe UI" panose="020B0502040204020203"/>
            </a:endParaRPr>
          </a:p>
          <a:p>
            <a:pPr algn="ctr">
              <a:defRPr sz="975" b="1">
                <a:solidFill>
                  <a:srgbClr val="4FAF91"/>
                </a:solidFill>
                <a:latin typeface="Segoe UI" panose="020B0502040204020203"/>
                <a:ea typeface="Segoe UI" panose="020B0502040204020203"/>
                <a:cs typeface="Segoe UI" panose="020B0502040204020203"/>
              </a:defRPr>
            </a:pPr>
            <a:r>
              <a:rPr sz="975" b="1">
                <a:solidFill>
                  <a:srgbClr val="4FAF91"/>
                </a:solidFill>
                <a:latin typeface="Segoe UI" panose="020B0502040204020203"/>
                <a:ea typeface="Segoe UI" panose="020B0502040204020203"/>
                <a:cs typeface="Segoe UI" panose="020B0502040204020203"/>
              </a:rPr>
              <a:t>Ghi lịch sử</a:t>
            </a:r>
            <a:endParaRPr sz="975" b="1">
              <a:solidFill>
                <a:srgbClr val="4FAF91"/>
              </a:solidFill>
              <a:latin typeface="Segoe UI" panose="020B0502040204020203"/>
              <a:ea typeface="Segoe UI" panose="020B0502040204020203"/>
              <a:cs typeface="Segoe UI" panose="020B0502040204020203"/>
            </a:endParaRPr>
          </a:p>
        </p:txBody>
      </p:sp>
      <p:sp>
        <p:nvSpPr>
          <p:cNvPr id="26" name="S2_EscalateBranch"/>
          <p:cNvSpPr>
            <a:spLocks noGrp="1"/>
          </p:cNvSpPr>
          <p:nvPr/>
        </p:nvSpPr>
        <p:spPr>
          <a:xfrm>
            <a:off x="9944100" y="3295650"/>
            <a:ext cx="1352550" cy="495300"/>
          </a:xfrm>
          <a:prstGeom prst="roundRect">
            <a:avLst>
              <a:gd name="adj" fmla="val 11538"/>
            </a:avLst>
          </a:prstGeom>
          <a:solidFill>
            <a:srgbClr val="162A42"/>
          </a:solidFill>
          <a:ln w="9525">
            <a:solidFill>
              <a:srgbClr val="C59A4A"/>
            </a:solidFill>
            <a:prstDash val="solid"/>
          </a:ln>
        </p:spPr>
      </p:sp>
      <p:sp>
        <p:nvSpPr>
          <p:cNvPr id="27" name="S2_EscalateBranchText"/>
          <p:cNvSpPr>
            <a:spLocks noGrp="1"/>
          </p:cNvSpPr>
          <p:nvPr/>
        </p:nvSpPr>
        <p:spPr>
          <a:xfrm>
            <a:off x="10020300" y="3371850"/>
            <a:ext cx="1200150" cy="342900"/>
          </a:xfrm>
          <a:prstGeom prst="rect">
            <a:avLst/>
          </a:prstGeom>
          <a:noFill/>
          <a:ln w="0">
            <a:noFill/>
          </a:ln>
        </p:spPr>
        <p:txBody>
          <a:bodyPr lIns="0" tIns="0" rIns="0" bIns="0" anchor="ctr">
            <a:noAutofit/>
          </a:bodyPr>
          <a:lstStyle>
            <a:defPPr algn="ctr">
              <a:defRPr sz="975" b="1">
                <a:solidFill>
                  <a:srgbClr val="C59A4A"/>
                </a:solidFill>
                <a:latin typeface="Segoe UI" panose="020B0502040204020203"/>
                <a:ea typeface="Segoe UI" panose="020B0502040204020203"/>
                <a:cs typeface="Segoe UI" panose="020B0502040204020203"/>
              </a:defRPr>
            </a:defPPr>
          </a:lstStyle>
          <a:p>
            <a:pPr algn="ctr">
              <a:defRPr sz="975" b="1">
                <a:solidFill>
                  <a:srgbClr val="C59A4A"/>
                </a:solidFill>
                <a:latin typeface="Segoe UI" panose="020B0502040204020203"/>
                <a:ea typeface="Segoe UI" panose="020B0502040204020203"/>
                <a:cs typeface="Segoe UI" panose="020B0502040204020203"/>
              </a:defRPr>
            </a:pPr>
            <a:r>
              <a:rPr sz="975" b="1">
                <a:solidFill>
                  <a:srgbClr val="C59A4A"/>
                </a:solidFill>
                <a:latin typeface="Segoe UI" panose="020B0502040204020203"/>
                <a:ea typeface="Segoe UI" panose="020B0502040204020203"/>
                <a:cs typeface="Segoe UI" panose="020B0502040204020203"/>
              </a:rPr>
              <a:t>ESCALATE_*</a:t>
            </a:r>
            <a:endParaRPr sz="975" b="1">
              <a:solidFill>
                <a:srgbClr val="C59A4A"/>
              </a:solidFill>
              <a:latin typeface="Segoe UI" panose="020B0502040204020203"/>
              <a:ea typeface="Segoe UI" panose="020B0502040204020203"/>
              <a:cs typeface="Segoe UI" panose="020B0502040204020203"/>
            </a:endParaRPr>
          </a:p>
          <a:p>
            <a:pPr algn="ctr">
              <a:defRPr sz="975" b="1">
                <a:solidFill>
                  <a:srgbClr val="C59A4A"/>
                </a:solidFill>
                <a:latin typeface="Segoe UI" panose="020B0502040204020203"/>
                <a:ea typeface="Segoe UI" panose="020B0502040204020203"/>
                <a:cs typeface="Segoe UI" panose="020B0502040204020203"/>
              </a:defRPr>
            </a:pPr>
            <a:r>
              <a:rPr sz="975" b="1">
                <a:solidFill>
                  <a:srgbClr val="C59A4A"/>
                </a:solidFill>
                <a:latin typeface="Segoe UI" panose="020B0502040204020203"/>
                <a:ea typeface="Segoe UI" panose="020B0502040204020203"/>
                <a:cs typeface="Segoe UI" panose="020B0502040204020203"/>
              </a:rPr>
              <a:t>Chờ người xử lý</a:t>
            </a:r>
            <a:endParaRPr sz="975" b="1">
              <a:solidFill>
                <a:srgbClr val="C59A4A"/>
              </a:solidFill>
              <a:latin typeface="Segoe UI" panose="020B0502040204020203"/>
              <a:ea typeface="Segoe UI" panose="020B0502040204020203"/>
              <a:cs typeface="Segoe UI" panose="020B0502040204020203"/>
            </a:endParaRPr>
          </a:p>
        </p:txBody>
      </p:sp>
      <p:sp>
        <p:nvSpPr>
          <p:cNvPr id="28" name="S2_InputHuman"/>
          <p:cNvSpPr>
            <a:spLocks noGrp="1"/>
          </p:cNvSpPr>
          <p:nvPr/>
        </p:nvSpPr>
        <p:spPr>
          <a:xfrm>
            <a:off x="1885950" y="4171950"/>
            <a:ext cx="3105150" cy="1352550"/>
          </a:xfrm>
          <a:prstGeom prst="roundRect">
            <a:avLst>
              <a:gd name="adj" fmla="val 4225"/>
            </a:avLst>
          </a:prstGeom>
          <a:solidFill>
            <a:srgbClr val="162A42"/>
          </a:solidFill>
          <a:ln w="9525">
            <a:solidFill>
              <a:srgbClr val="4FAF91"/>
            </a:solidFill>
            <a:prstDash val="solid"/>
          </a:ln>
        </p:spPr>
      </p:sp>
      <p:sp>
        <p:nvSpPr>
          <p:cNvPr id="29" name="S2_InputHumanTitle"/>
          <p:cNvSpPr>
            <a:spLocks noGrp="1"/>
          </p:cNvSpPr>
          <p:nvPr/>
        </p:nvSpPr>
        <p:spPr>
          <a:xfrm>
            <a:off x="2057400" y="4362450"/>
            <a:ext cx="2762250" cy="247650"/>
          </a:xfrm>
          <a:prstGeom prst="rect">
            <a:avLst/>
          </a:prstGeom>
          <a:noFill/>
          <a:ln w="0">
            <a:noFill/>
          </a:ln>
        </p:spPr>
        <p:txBody>
          <a:bodyPr lIns="0" tIns="0" rIns="0" bIns="0" anchor="t">
            <a:noAutofit/>
          </a:bodyPr>
          <a:lstStyle>
            <a:defPPr algn="l">
              <a:defRPr sz="1275" b="1">
                <a:solidFill>
                  <a:srgbClr val="F4F7FB"/>
                </a:solidFill>
                <a:latin typeface="Segoe UI" panose="020B0502040204020203"/>
                <a:ea typeface="Segoe UI" panose="020B0502040204020203"/>
                <a:cs typeface="Segoe UI" panose="020B0502040204020203"/>
              </a:defRPr>
            </a:defPPr>
          </a:lstStyle>
          <a:p>
            <a:pPr algn="l">
              <a:defRPr sz="1275" b="1">
                <a:solidFill>
                  <a:srgbClr val="F4F7FB"/>
                </a:solidFill>
                <a:latin typeface="Segoe UI" panose="020B0502040204020203"/>
                <a:ea typeface="Segoe UI" panose="020B0502040204020203"/>
                <a:cs typeface="Segoe UI" panose="020B0502040204020203"/>
              </a:defRPr>
            </a:pPr>
            <a:r>
              <a:rPr sz="1275" b="1">
                <a:solidFill>
                  <a:srgbClr val="F4F7FB"/>
                </a:solidFill>
                <a:latin typeface="Segoe UI" panose="020B0502040204020203"/>
                <a:ea typeface="Segoe UI" panose="020B0502040204020203"/>
                <a:cs typeface="Segoe UI" panose="020B0502040204020203"/>
              </a:rPr>
              <a:t>Người gửi</a:t>
            </a:r>
            <a:endParaRPr sz="1275" b="1">
              <a:solidFill>
                <a:srgbClr val="F4F7FB"/>
              </a:solidFill>
              <a:latin typeface="Segoe UI" panose="020B0502040204020203"/>
              <a:ea typeface="Segoe UI" panose="020B0502040204020203"/>
              <a:cs typeface="Segoe UI" panose="020B0502040204020203"/>
            </a:endParaRPr>
          </a:p>
        </p:txBody>
      </p:sp>
      <p:sp>
        <p:nvSpPr>
          <p:cNvPr id="30" name="S2_InputHumanDetail"/>
          <p:cNvSpPr>
            <a:spLocks noGrp="1"/>
          </p:cNvSpPr>
          <p:nvPr/>
        </p:nvSpPr>
        <p:spPr>
          <a:xfrm>
            <a:off x="2057400" y="4762500"/>
            <a:ext cx="2762250" cy="45720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Chọn ảnh, nhập claimed amount và metadata.</a:t>
            </a:r>
            <a:endParaRPr sz="1125" b="0">
              <a:solidFill>
                <a:srgbClr val="A6B3C4"/>
              </a:solidFill>
              <a:latin typeface="Segoe UI" panose="020B0502040204020203"/>
              <a:ea typeface="Segoe UI" panose="020B0502040204020203"/>
              <a:cs typeface="Segoe UI" panose="020B0502040204020203"/>
            </a:endParaRPr>
          </a:p>
        </p:txBody>
      </p:sp>
      <p:sp>
        <p:nvSpPr>
          <p:cNvPr id="31" name="S2_ProcessHuman"/>
          <p:cNvSpPr>
            <a:spLocks noGrp="1"/>
          </p:cNvSpPr>
          <p:nvPr/>
        </p:nvSpPr>
        <p:spPr>
          <a:xfrm>
            <a:off x="5124450" y="4171950"/>
            <a:ext cx="3105150" cy="1352550"/>
          </a:xfrm>
          <a:prstGeom prst="roundRect">
            <a:avLst>
              <a:gd name="adj" fmla="val 4225"/>
            </a:avLst>
          </a:prstGeom>
          <a:solidFill>
            <a:srgbClr val="162A42"/>
          </a:solidFill>
          <a:ln w="9525">
            <a:solidFill>
              <a:srgbClr val="4FAF91"/>
            </a:solidFill>
            <a:prstDash val="solid"/>
          </a:ln>
        </p:spPr>
      </p:sp>
      <p:sp>
        <p:nvSpPr>
          <p:cNvPr id="32" name="S2_ProcessHumanTitle"/>
          <p:cNvSpPr>
            <a:spLocks noGrp="1"/>
          </p:cNvSpPr>
          <p:nvPr/>
        </p:nvSpPr>
        <p:spPr>
          <a:xfrm>
            <a:off x="5295900" y="4362450"/>
            <a:ext cx="2762250" cy="247650"/>
          </a:xfrm>
          <a:prstGeom prst="rect">
            <a:avLst/>
          </a:prstGeom>
          <a:noFill/>
          <a:ln w="0">
            <a:noFill/>
          </a:ln>
        </p:spPr>
        <p:txBody>
          <a:bodyPr lIns="0" tIns="0" rIns="0" bIns="0" anchor="t">
            <a:noAutofit/>
          </a:bodyPr>
          <a:lstStyle>
            <a:defPPr algn="l">
              <a:defRPr sz="1275" b="1">
                <a:solidFill>
                  <a:srgbClr val="F4F7FB"/>
                </a:solidFill>
                <a:latin typeface="Segoe UI" panose="020B0502040204020203"/>
                <a:ea typeface="Segoe UI" panose="020B0502040204020203"/>
                <a:cs typeface="Segoe UI" panose="020B0502040204020203"/>
              </a:defRPr>
            </a:defPPr>
          </a:lstStyle>
          <a:p>
            <a:pPr algn="l">
              <a:defRPr sz="1275" b="1">
                <a:solidFill>
                  <a:srgbClr val="F4F7FB"/>
                </a:solidFill>
                <a:latin typeface="Segoe UI" panose="020B0502040204020203"/>
                <a:ea typeface="Segoe UI" panose="020B0502040204020203"/>
                <a:cs typeface="Segoe UI" panose="020B0502040204020203"/>
              </a:defRPr>
            </a:pPr>
            <a:r>
              <a:rPr sz="1275" b="1">
                <a:solidFill>
                  <a:srgbClr val="F4F7FB"/>
                </a:solidFill>
                <a:latin typeface="Segoe UI" panose="020B0502040204020203"/>
                <a:ea typeface="Segoe UI" panose="020B0502040204020203"/>
                <a:cs typeface="Segoe UI" panose="020B0502040204020203"/>
              </a:rPr>
              <a:t>Người vận hành</a:t>
            </a:r>
            <a:endParaRPr sz="1275" b="1">
              <a:solidFill>
                <a:srgbClr val="F4F7FB"/>
              </a:solidFill>
              <a:latin typeface="Segoe UI" panose="020B0502040204020203"/>
              <a:ea typeface="Segoe UI" panose="020B0502040204020203"/>
              <a:cs typeface="Segoe UI" panose="020B0502040204020203"/>
            </a:endParaRPr>
          </a:p>
        </p:txBody>
      </p:sp>
      <p:sp>
        <p:nvSpPr>
          <p:cNvPr id="33" name="S2_ProcessHumanDetail"/>
          <p:cNvSpPr>
            <a:spLocks noGrp="1"/>
          </p:cNvSpPr>
          <p:nvPr/>
        </p:nvSpPr>
        <p:spPr>
          <a:xfrm>
            <a:off x="5295900" y="4714875"/>
            <a:ext cx="2762250" cy="552450"/>
          </a:xfrm>
          <a:prstGeom prst="rect">
            <a:avLst/>
          </a:prstGeom>
          <a:noFill/>
          <a:ln w="0">
            <a:noFill/>
          </a:ln>
        </p:spPr>
        <p:txBody>
          <a:bodyPr lIns="0" tIns="0" rIns="0" bIns="0" anchor="ctr">
            <a:noAutofit/>
          </a:bodyPr>
          <a:lstStyle>
            <a:defPPr algn="l">
              <a:defRPr sz="1125" b="0">
                <a:solidFill>
                  <a:srgbClr val="A6B3C4"/>
                </a:solidFill>
                <a:latin typeface="Segoe UI" panose="020B0502040204020203"/>
                <a:ea typeface="Segoe UI" panose="020B0502040204020203"/>
                <a:cs typeface="Segoe UI" panose="020B0502040204020203"/>
              </a:defRPr>
            </a:defPPr>
          </a:lstStyle>
          <a:p>
            <a:pPr algn="l">
              <a:defRPr sz="1125" b="0">
                <a:solidFill>
                  <a:srgbClr val="A6B3C4"/>
                </a:solidFill>
                <a:latin typeface="Segoe UI" panose="020B0502040204020203"/>
                <a:ea typeface="Segoe UI" panose="020B0502040204020203"/>
                <a:cs typeface="Segoe UI" panose="020B0502040204020203"/>
              </a:defRPr>
            </a:pPr>
            <a:r>
              <a:rPr sz="1125" b="0">
                <a:solidFill>
                  <a:srgbClr val="A6B3C4"/>
                </a:solidFill>
                <a:latin typeface="Segoe UI" panose="020B0502040204020203"/>
                <a:ea typeface="Segoe UI" panose="020B0502040204020203"/>
                <a:cs typeface="Segoe UI" panose="020B0502040204020203"/>
              </a:rPr>
              <a:t>Thấy trạng thái đã xếp hàng và tiếp tục thao tác; không chờ request AI.</a:t>
            </a:r>
            <a:endParaRPr sz="1125" b="0">
              <a:solidFill>
                <a:srgbClr val="A6B3C4"/>
              </a:solidFill>
              <a:latin typeface="Segoe UI" panose="020B0502040204020203"/>
              <a:ea typeface="Segoe UI" panose="020B0502040204020203"/>
              <a:cs typeface="Segoe UI" panose="020B0502040204020203"/>
            </a:endParaRPr>
          </a:p>
        </p:txBody>
      </p:sp>
      <p:sp>
        <p:nvSpPr>
          <p:cNvPr id="34" name="S2_OutputHuman"/>
          <p:cNvSpPr>
            <a:spLocks noGrp="1"/>
          </p:cNvSpPr>
          <p:nvPr/>
        </p:nvSpPr>
        <p:spPr>
          <a:xfrm>
            <a:off x="8362950" y="4171950"/>
            <a:ext cx="3105150" cy="1352550"/>
          </a:xfrm>
          <a:prstGeom prst="roundRect">
            <a:avLst>
              <a:gd name="adj" fmla="val 4225"/>
            </a:avLst>
          </a:prstGeom>
          <a:solidFill>
            <a:srgbClr val="162A42"/>
          </a:solidFill>
          <a:ln w="9525">
            <a:solidFill>
              <a:srgbClr val="4FAF91"/>
            </a:solidFill>
            <a:prstDash val="solid"/>
          </a:ln>
        </p:spPr>
      </p:sp>
      <p:sp>
        <p:nvSpPr>
          <p:cNvPr id="35" name="S2_Gate9"/>
          <p:cNvSpPr>
            <a:spLocks noGrp="1"/>
          </p:cNvSpPr>
          <p:nvPr/>
        </p:nvSpPr>
        <p:spPr>
          <a:xfrm>
            <a:off x="8534400" y="4324350"/>
            <a:ext cx="781050" cy="266700"/>
          </a:xfrm>
          <a:prstGeom prst="roundRect">
            <a:avLst>
              <a:gd name="adj" fmla="val 21429"/>
            </a:avLst>
          </a:prstGeom>
          <a:solidFill>
            <a:srgbClr val="4FAF91"/>
          </a:solidFill>
          <a:ln w="9525">
            <a:solidFill>
              <a:srgbClr val="4FAF91"/>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GATE 9</a:t>
            </a:r>
            <a:endParaRPr sz="900" b="1">
              <a:solidFill>
                <a:srgbClr val="091522"/>
              </a:solidFill>
              <a:latin typeface="Segoe UI" panose="020B0502040204020203"/>
              <a:ea typeface="Segoe UI" panose="020B0502040204020203"/>
              <a:cs typeface="Segoe UI" panose="020B0502040204020203"/>
            </a:endParaRPr>
          </a:p>
        </p:txBody>
      </p:sp>
      <p:sp>
        <p:nvSpPr>
          <p:cNvPr id="36" name="S2_OutputHumanDetail"/>
          <p:cNvSpPr>
            <a:spLocks noGrp="1"/>
          </p:cNvSpPr>
          <p:nvPr/>
        </p:nvSpPr>
        <p:spPr>
          <a:xfrm>
            <a:off x="8534400" y="4610100"/>
            <a:ext cx="2011045" cy="838200"/>
          </a:xfrm>
          <a:prstGeom prst="rect">
            <a:avLst/>
          </a:prstGeom>
          <a:noFill/>
          <a:ln w="0">
            <a:noFill/>
          </a:ln>
        </p:spPr>
        <p:txBody>
          <a:bodyPr lIns="0" tIns="0" rIns="0" bIns="0" anchor="ctr">
            <a:noAutofit/>
          </a:bodyPr>
          <a:lstStyle>
            <a:defPPr algn="l">
              <a:defRPr sz="1125" b="1">
                <a:solidFill>
                  <a:srgbClr val="F4F7FB"/>
                </a:solidFill>
                <a:latin typeface="Segoe UI" panose="020B0502040204020203"/>
                <a:ea typeface="Segoe UI" panose="020B0502040204020203"/>
                <a:cs typeface="Segoe UI" panose="020B0502040204020203"/>
              </a:defRPr>
            </a:defPPr>
          </a:lstStyle>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Nhân viên chuyển tiếp</a:t>
            </a:r>
            <a:endParaRPr sz="1125" b="1">
              <a:solidFill>
                <a:srgbClr val="F4F7FB"/>
              </a:solidFill>
              <a:latin typeface="Segoe UI" panose="020B0502040204020203"/>
              <a:ea typeface="Segoe UI" panose="020B0502040204020203"/>
              <a:cs typeface="Segoe UI" panose="020B0502040204020203"/>
            </a:endParaRPr>
          </a:p>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Quản lý trả lời CÓ / KHÔNG</a:t>
            </a:r>
            <a:endParaRPr sz="1125" b="1">
              <a:solidFill>
                <a:srgbClr val="F4F7FB"/>
              </a:solidFill>
              <a:latin typeface="Segoe UI" panose="020B0502040204020203"/>
              <a:ea typeface="Segoe UI" panose="020B0502040204020203"/>
              <a:cs typeface="Segoe UI" panose="020B0502040204020203"/>
            </a:endParaRPr>
          </a:p>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Undo ghi thêm event mới</a:t>
            </a:r>
            <a:endParaRPr sz="1125" b="1">
              <a:solidFill>
                <a:srgbClr val="F4F7FB"/>
              </a:solidFill>
              <a:latin typeface="Segoe UI" panose="020B0502040204020203"/>
              <a:ea typeface="Segoe UI" panose="020B0502040204020203"/>
              <a:cs typeface="Segoe UI" panose="020B0502040204020203"/>
            </a:endParaRPr>
          </a:p>
        </p:txBody>
      </p:sp>
      <p:sp>
        <p:nvSpPr>
          <p:cNvPr id="37" name="S2_AuthorityBand"/>
          <p:cNvSpPr>
            <a:spLocks noGrp="1"/>
          </p:cNvSpPr>
          <p:nvPr/>
        </p:nvSpPr>
        <p:spPr>
          <a:xfrm>
            <a:off x="552450" y="5772150"/>
            <a:ext cx="11087100" cy="457200"/>
          </a:xfrm>
          <a:prstGeom prst="roundRect">
            <a:avLst>
              <a:gd name="adj" fmla="val 12500"/>
            </a:avLst>
          </a:prstGeom>
          <a:solidFill>
            <a:srgbClr val="162A42"/>
          </a:solidFill>
          <a:ln w="9525">
            <a:solidFill>
              <a:srgbClr val="31445C"/>
            </a:solidFill>
            <a:prstDash val="solid"/>
          </a:ln>
        </p:spPr>
      </p:sp>
      <p:sp>
        <p:nvSpPr>
          <p:cNvPr id="38" name="S2_AuthorityAI"/>
          <p:cNvSpPr>
            <a:spLocks noGrp="1"/>
          </p:cNvSpPr>
          <p:nvPr/>
        </p:nvSpPr>
        <p:spPr>
          <a:xfrm>
            <a:off x="742950" y="5895975"/>
            <a:ext cx="2857500" cy="209550"/>
          </a:xfrm>
          <a:prstGeom prst="rect">
            <a:avLst/>
          </a:prstGeom>
          <a:noFill/>
          <a:ln w="0">
            <a:noFill/>
          </a:ln>
        </p:spPr>
        <p:txBody>
          <a:bodyPr lIns="0" tIns="0" rIns="0" bIns="0" anchor="t">
            <a:noAutofit/>
          </a:bodyPr>
          <a:lstStyle>
            <a:defPPr algn="ctr">
              <a:defRPr sz="1200" b="1">
                <a:solidFill>
                  <a:srgbClr val="5F8FD8"/>
                </a:solidFill>
                <a:latin typeface="Segoe UI" panose="020B0502040204020203"/>
                <a:ea typeface="Segoe UI" panose="020B0502040204020203"/>
                <a:cs typeface="Segoe UI" panose="020B0502040204020203"/>
              </a:defRPr>
            </a:defPPr>
          </a:lstStyle>
          <a:p>
            <a:pPr algn="ctr">
              <a:defRPr sz="1200" b="1">
                <a:solidFill>
                  <a:srgbClr val="5F8FD8"/>
                </a:solidFill>
                <a:latin typeface="Segoe UI" panose="020B0502040204020203"/>
                <a:ea typeface="Segoe UI" panose="020B0502040204020203"/>
                <a:cs typeface="Segoe UI" panose="020B0502040204020203"/>
              </a:defRPr>
            </a:pPr>
            <a:r>
              <a:rPr sz="1200" b="1">
                <a:solidFill>
                  <a:srgbClr val="5F8FD8"/>
                </a:solidFill>
                <a:latin typeface="Segoe UI" panose="020B0502040204020203"/>
                <a:ea typeface="Segoe UI" panose="020B0502040204020203"/>
                <a:cs typeface="Segoe UI" panose="020B0502040204020203"/>
              </a:rPr>
              <a:t>AI: FACT</a:t>
            </a:r>
            <a:endParaRPr sz="1200" b="1">
              <a:solidFill>
                <a:srgbClr val="5F8FD8"/>
              </a:solidFill>
              <a:latin typeface="Segoe UI" panose="020B0502040204020203"/>
              <a:ea typeface="Segoe UI" panose="020B0502040204020203"/>
              <a:cs typeface="Segoe UI" panose="020B0502040204020203"/>
            </a:endParaRPr>
          </a:p>
        </p:txBody>
      </p:sp>
      <p:sp>
        <p:nvSpPr>
          <p:cNvPr id="39" name="S2_AuthorityPolicy"/>
          <p:cNvSpPr>
            <a:spLocks noGrp="1"/>
          </p:cNvSpPr>
          <p:nvPr/>
        </p:nvSpPr>
        <p:spPr>
          <a:xfrm>
            <a:off x="4667250" y="5895975"/>
            <a:ext cx="2857500" cy="209550"/>
          </a:xfrm>
          <a:prstGeom prst="rect">
            <a:avLst/>
          </a:prstGeom>
          <a:noFill/>
          <a:ln w="0">
            <a:noFill/>
          </a:ln>
        </p:spPr>
        <p:txBody>
          <a:bodyPr lIns="0" tIns="0" rIns="0" bIns="0" anchor="t">
            <a:noAutofit/>
          </a:bodyPr>
          <a:lstStyle>
            <a:defPPr algn="ctr">
              <a:defRPr sz="1200" b="1">
                <a:solidFill>
                  <a:srgbClr val="C59A4A"/>
                </a:solidFill>
                <a:latin typeface="Segoe UI" panose="020B0502040204020203"/>
                <a:ea typeface="Segoe UI" panose="020B0502040204020203"/>
                <a:cs typeface="Segoe UI" panose="020B0502040204020203"/>
              </a:defRPr>
            </a:defPPr>
          </a:lstStyle>
          <a:p>
            <a:pPr algn="ctr">
              <a:defRPr sz="1200" b="1">
                <a:solidFill>
                  <a:srgbClr val="C59A4A"/>
                </a:solidFill>
                <a:latin typeface="Segoe UI" panose="020B0502040204020203"/>
                <a:ea typeface="Segoe UI" panose="020B0502040204020203"/>
                <a:cs typeface="Segoe UI" panose="020B0502040204020203"/>
              </a:defRPr>
            </a:pPr>
            <a:r>
              <a:rPr sz="1200" b="1">
                <a:solidFill>
                  <a:srgbClr val="C59A4A"/>
                </a:solidFill>
                <a:latin typeface="Segoe UI" panose="020B0502040204020203"/>
                <a:ea typeface="Segoe UI" panose="020B0502040204020203"/>
                <a:cs typeface="Segoe UI" panose="020B0502040204020203"/>
              </a:rPr>
              <a:t>C# ENGINE: POLICY</a:t>
            </a:r>
            <a:endParaRPr sz="1200" b="1">
              <a:solidFill>
                <a:srgbClr val="C59A4A"/>
              </a:solidFill>
              <a:latin typeface="Segoe UI" panose="020B0502040204020203"/>
              <a:ea typeface="Segoe UI" panose="020B0502040204020203"/>
              <a:cs typeface="Segoe UI" panose="020B0502040204020203"/>
            </a:endParaRPr>
          </a:p>
        </p:txBody>
      </p:sp>
      <p:sp>
        <p:nvSpPr>
          <p:cNvPr id="40" name="S2_AuthorityHuman"/>
          <p:cNvSpPr>
            <a:spLocks noGrp="1"/>
          </p:cNvSpPr>
          <p:nvPr/>
        </p:nvSpPr>
        <p:spPr>
          <a:xfrm>
            <a:off x="8248650" y="5895975"/>
            <a:ext cx="3200400" cy="209550"/>
          </a:xfrm>
          <a:prstGeom prst="rect">
            <a:avLst/>
          </a:prstGeom>
          <a:noFill/>
          <a:ln w="0">
            <a:noFill/>
          </a:ln>
        </p:spPr>
        <p:txBody>
          <a:bodyPr lIns="0" tIns="0" rIns="0" bIns="0" anchor="t">
            <a:noAutofit/>
          </a:bodyPr>
          <a:lstStyle>
            <a:defPPr algn="ctr">
              <a:defRPr sz="1200" b="1">
                <a:solidFill>
                  <a:srgbClr val="4FAF91"/>
                </a:solidFill>
                <a:latin typeface="Segoe UI" panose="020B0502040204020203"/>
                <a:ea typeface="Segoe UI" panose="020B0502040204020203"/>
                <a:cs typeface="Segoe UI" panose="020B0502040204020203"/>
              </a:defRPr>
            </a:defPPr>
          </a:lstStyle>
          <a:p>
            <a:pPr algn="ctr">
              <a:defRPr sz="1200" b="1">
                <a:solidFill>
                  <a:srgbClr val="4FAF91"/>
                </a:solidFill>
                <a:latin typeface="Segoe UI" panose="020B0502040204020203"/>
                <a:ea typeface="Segoe UI" panose="020B0502040204020203"/>
                <a:cs typeface="Segoe UI" panose="020B0502040204020203"/>
              </a:defRPr>
            </a:pPr>
            <a:r>
              <a:rPr sz="1200" b="1">
                <a:solidFill>
                  <a:srgbClr val="4FAF91"/>
                </a:solidFill>
                <a:latin typeface="Segoe UI" panose="020B0502040204020203"/>
                <a:ea typeface="Segoe UI" panose="020B0502040204020203"/>
                <a:cs typeface="Segoe UI" panose="020B0502040204020203"/>
              </a:rPr>
              <a:t>NHÂN VIÊN / QUẢN LÝ: AUTHORITY</a:t>
            </a:r>
            <a:endParaRPr sz="1200" b="1">
              <a:solidFill>
                <a:srgbClr val="4FAF91"/>
              </a:solidFill>
              <a:latin typeface="Segoe UI" panose="020B0502040204020203"/>
              <a:ea typeface="Segoe UI" panose="020B0502040204020203"/>
              <a:cs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522"/>
        </a:solidFill>
        <a:effectLst/>
      </p:bgPr>
    </p:bg>
    <p:spTree>
      <p:nvGrpSpPr>
        <p:cNvPr id="1" name=""/>
        <p:cNvGrpSpPr/>
        <p:nvPr/>
      </p:nvGrpSpPr>
      <p:grpSpPr/>
      <p:sp>
        <p:nvSpPr>
          <p:cNvPr id="11" name="Slide_Title"/>
          <p:cNvSpPr>
            <a:spLocks noGrp="1"/>
          </p:cNvSpPr>
          <p:nvPr/>
        </p:nvSpPr>
        <p:spPr>
          <a:xfrm>
            <a:off x="552450" y="266700"/>
            <a:ext cx="11087100" cy="400050"/>
          </a:xfrm>
          <a:prstGeom prst="rect">
            <a:avLst/>
          </a:prstGeom>
          <a:noFill/>
          <a:ln w="0">
            <a:noFill/>
          </a:ln>
        </p:spPr>
        <p:txBody>
          <a:bodyPr lIns="0" tIns="0" rIns="0" bIns="0" anchor="t">
            <a:noAutofit/>
          </a:bodyPr>
          <a:lstStyle>
            <a:defPPr algn="l">
              <a:defRPr sz="2400" b="1">
                <a:solidFill>
                  <a:srgbClr val="F4F7FB"/>
                </a:solidFill>
                <a:latin typeface="Segoe UI" panose="020B0502040204020203"/>
                <a:ea typeface="Segoe UI" panose="020B0502040204020203"/>
                <a:cs typeface="Segoe UI" panose="020B0502040204020203"/>
              </a:defRPr>
            </a:defPPr>
          </a:lstStyle>
          <a:p>
            <a:pPr algn="l">
              <a:defRPr sz="2400" b="1">
                <a:solidFill>
                  <a:srgbClr val="F4F7FB"/>
                </a:solidFill>
                <a:latin typeface="Segoe UI" panose="020B0502040204020203"/>
                <a:ea typeface="Segoe UI" panose="020B0502040204020203"/>
                <a:cs typeface="Segoe UI" panose="020B0502040204020203"/>
              </a:defRPr>
            </a:pPr>
            <a:r>
              <a:rPr sz="2400" b="1">
                <a:solidFill>
                  <a:srgbClr val="F4F7FB"/>
                </a:solidFill>
                <a:latin typeface="Segoe UI" panose="020B0502040204020203"/>
                <a:ea typeface="Segoe UI" panose="020B0502040204020203"/>
                <a:cs typeface="Segoe UI" panose="020B0502040204020203"/>
              </a:rPr>
              <a:t>Đối chiếu trước và sau: phương pháp đã khóa, kết quả còn PENDING</a:t>
            </a:r>
            <a:endParaRPr sz="2400" b="1">
              <a:solidFill>
                <a:srgbClr val="F4F7FB"/>
              </a:solidFill>
              <a:latin typeface="Segoe UI" panose="020B0502040204020203"/>
              <a:ea typeface="Segoe UI" panose="020B0502040204020203"/>
              <a:cs typeface="Segoe UI" panose="020B0502040204020203"/>
            </a:endParaRPr>
          </a:p>
        </p:txBody>
      </p:sp>
      <p:sp>
        <p:nvSpPr>
          <p:cNvPr id="2" name="Slide_Subtitle"/>
          <p:cNvSpPr>
            <a:spLocks noGrp="1"/>
          </p:cNvSpPr>
          <p:nvPr/>
        </p:nvSpPr>
        <p:spPr>
          <a:xfrm>
            <a:off x="552450" y="723900"/>
            <a:ext cx="11087100" cy="266700"/>
          </a:xfrm>
          <a:prstGeom prst="rect">
            <a:avLst/>
          </a:prstGeom>
          <a:noFill/>
          <a:ln w="0">
            <a:noFill/>
          </a:ln>
        </p:spPr>
        <p:txBody>
          <a:bodyPr lIns="0" tIns="0" rIns="0" bIns="0" anchor="t">
            <a:noAutofit/>
          </a:bodyPr>
          <a:lstStyle>
            <a:defPPr algn="l">
              <a:defRPr sz="1275" b="0">
                <a:solidFill>
                  <a:srgbClr val="A6B3C4"/>
                </a:solidFill>
                <a:latin typeface="Segoe UI" panose="020B0502040204020203"/>
                <a:ea typeface="Segoe UI" panose="020B0502040204020203"/>
                <a:cs typeface="Segoe UI" panose="020B0502040204020203"/>
              </a:defRPr>
            </a:defPPr>
          </a:lstStyle>
          <a:p>
            <a:pPr algn="l">
              <a:defRPr sz="1275" b="0">
                <a:solidFill>
                  <a:srgbClr val="A6B3C4"/>
                </a:solidFill>
                <a:latin typeface="Segoe UI" panose="020B0502040204020203"/>
                <a:ea typeface="Segoe UI" panose="020B0502040204020203"/>
                <a:cs typeface="Segoe UI" panose="020B0502040204020203"/>
              </a:defRPr>
            </a:pPr>
            <a:r>
              <a:rPr sz="1275" b="0">
                <a:solidFill>
                  <a:srgbClr val="A6B3C4"/>
                </a:solidFill>
                <a:latin typeface="Segoe UI" panose="020B0502040204020203"/>
                <a:ea typeface="Segoe UI" panose="020B0502040204020203"/>
                <a:cs typeface="Segoe UI" panose="020B0502040204020203"/>
              </a:rPr>
              <a:t>Không suy tác động từ fixture; chỉ kết luận khi hai phía dùng cùng nhiệm vụ và tiêu chí.</a:t>
            </a:r>
            <a:endParaRPr sz="1275" b="0">
              <a:solidFill>
                <a:srgbClr val="A6B3C4"/>
              </a:solidFill>
              <a:latin typeface="Segoe UI" panose="020B0502040204020203"/>
              <a:ea typeface="Segoe UI" panose="020B0502040204020203"/>
              <a:cs typeface="Segoe UI" panose="020B0502040204020203"/>
            </a:endParaRPr>
          </a:p>
        </p:txBody>
      </p:sp>
      <p:graphicFrame>
        <p:nvGraphicFramePr>
          <p:cNvPr id="3" name="S3_BeforeAfterTable"/>
          <p:cNvGraphicFramePr/>
          <p:nvPr/>
        </p:nvGraphicFramePr>
        <p:xfrm>
          <a:off x="552450" y="1409700"/>
          <a:ext cx="11087100" cy="2895600"/>
        </p:xfrm>
        <a:graphic>
          <a:graphicData uri="http://schemas.openxmlformats.org/drawingml/2006/table">
            <a:tbl>
              <a:tblPr/>
              <a:tblGrid>
                <a:gridCol w="1809750"/>
                <a:gridCol w="2686050"/>
                <a:gridCol w="1905000"/>
                <a:gridCol w="1809750"/>
                <a:gridCol w="2876550"/>
              </a:tblGrid>
              <a:tr h="400050">
                <a:tc>
                  <a:txBody>
                    <a:bodyPr/>
                    <a:lstStyle/>
                    <a:p>
                      <a:r>
                        <a:rPr sz="900" b="1">
                          <a:solidFill>
                            <a:srgbClr val="A6B3C4"/>
                          </a:solidFill>
                          <a:latin typeface="Segoe UI" panose="020B0502040204020203"/>
                          <a:ea typeface="Segoe UI" panose="020B0502040204020203"/>
                          <a:cs typeface="Segoe UI" panose="020B0502040204020203"/>
                        </a:rPr>
                        <a:t>CHỈ SỐ</a:t>
                      </a:r>
                      <a:endParaRPr sz="900" b="1">
                        <a:solidFill>
                          <a:srgbClr val="A6B3C4"/>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CÁCH ĐO GIỐNG NHAU</a:t>
                      </a:r>
                      <a:endParaRPr sz="900" b="1">
                        <a:solidFill>
                          <a:srgbClr val="A6B3C4"/>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TRƯỚC: THỦ CÔNG</a:t>
                      </a:r>
                      <a:endParaRPr sz="900" b="1">
                        <a:solidFill>
                          <a:srgbClr val="A6B3C4"/>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SAU: AURA</a:t>
                      </a:r>
                      <a:endParaRPr sz="900" b="1">
                        <a:solidFill>
                          <a:srgbClr val="A6B3C4"/>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TRẠNG THÁI</a:t>
                      </a:r>
                      <a:endParaRPr sz="900" b="1">
                        <a:solidFill>
                          <a:srgbClr val="A6B3C4"/>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495300">
                <a:tc>
                  <a:txBody>
                    <a:bodyPr/>
                    <a:lstStyle/>
                    <a:p>
                      <a:r>
                        <a:rPr sz="975" b="1">
                          <a:solidFill>
                            <a:srgbClr val="F4F7FB"/>
                          </a:solidFill>
                          <a:latin typeface="Segoe UI" panose="020B0502040204020203"/>
                          <a:ea typeface="Segoe UI" panose="020B0502040204020203"/>
                          <a:cs typeface="Segoe UI" panose="020B0502040204020203"/>
                        </a:rPr>
                        <a:t>ΔT</a:t>
                      </a:r>
                      <a:endParaRPr sz="975" b="1">
                        <a:solidFill>
                          <a:srgbClr val="F4F7FB"/>
                        </a:solidFill>
                        <a:latin typeface="Segoe UI" panose="020B0502040204020203"/>
                        <a:ea typeface="Segoe UI" panose="020B0502040204020203"/>
                        <a:cs typeface="Segoe UI" panose="020B0502040204020203"/>
                      </a:endParaRPr>
                    </a:p>
                    <a:p>
                      <a:r>
                        <a:rPr sz="975" b="1">
                          <a:solidFill>
                            <a:srgbClr val="F4F7FB"/>
                          </a:solidFill>
                          <a:latin typeface="Segoe UI" panose="020B0502040204020203"/>
                          <a:ea typeface="Segoe UI" panose="020B0502040204020203"/>
                          <a:cs typeface="Segoe UI" panose="020B0502040204020203"/>
                        </a:rPr>
                        <a:t>Thời gian đến kết quả cuối</a:t>
                      </a:r>
                      <a:endParaRPr sz="975" b="1">
                        <a:solidFill>
                          <a:srgbClr val="F4F7FB"/>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panose="020B0502040204020203"/>
                          <a:ea typeface="Segoe UI" panose="020B0502040204020203"/>
                          <a:cs typeface="Segoe UI" panose="020B0502040204020203"/>
                        </a:rPr>
                        <a:t>Timestamp; lấy median</a:t>
                      </a:r>
                      <a:endParaRPr sz="975">
                        <a:solidFill>
                          <a:srgbClr val="F4F7FB"/>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panose="020B0502040204020203"/>
                          <a:ea typeface="Segoe UI" panose="020B0502040204020203"/>
                          <a:cs typeface="Segoe UI" panose="020B0502040204020203"/>
                        </a:rPr>
                        <a:t>Chưa đo</a:t>
                      </a:r>
                      <a:endParaRPr sz="975"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panose="020B0502040204020203"/>
                          <a:ea typeface="Segoe UI" panose="020B0502040204020203"/>
                          <a:cs typeface="Segoe UI" panose="020B0502040204020203"/>
                        </a:rPr>
                        <a:t>Chưa đo</a:t>
                      </a:r>
                      <a:endParaRPr sz="1050" b="1">
                        <a:solidFill>
                          <a:srgbClr val="4FAF91"/>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panose="020B0502040204020203"/>
                          <a:ea typeface="Segoe UI" panose="020B0502040204020203"/>
                          <a:cs typeface="Segoe UI" panose="020B0502040204020203"/>
                        </a:rPr>
                        <a:t>PENDING</a:t>
                      </a:r>
                      <a:endParaRPr sz="900"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panose="020B0502040204020203"/>
                          <a:ea typeface="Segoe UI" panose="020B0502040204020203"/>
                          <a:cs typeface="Segoe UI" panose="020B0502040204020203"/>
                        </a:rPr>
                        <a:t>ΔH</a:t>
                      </a:r>
                      <a:endParaRPr sz="975" b="1">
                        <a:solidFill>
                          <a:srgbClr val="F4F7FB"/>
                        </a:solidFill>
                        <a:latin typeface="Segoe UI" panose="020B0502040204020203"/>
                        <a:ea typeface="Segoe UI" panose="020B0502040204020203"/>
                        <a:cs typeface="Segoe UI" panose="020B0502040204020203"/>
                      </a:endParaRPr>
                    </a:p>
                    <a:p>
                      <a:r>
                        <a:rPr sz="975" b="1">
                          <a:solidFill>
                            <a:srgbClr val="F4F7FB"/>
                          </a:solidFill>
                          <a:latin typeface="Segoe UI" panose="020B0502040204020203"/>
                          <a:ea typeface="Segoe UI" panose="020B0502040204020203"/>
                          <a:cs typeface="Segoe UI" panose="020B0502040204020203"/>
                        </a:rPr>
                        <a:t>Số lần chạm</a:t>
                      </a:r>
                      <a:endParaRPr sz="975" b="1">
                        <a:solidFill>
                          <a:srgbClr val="F4F7FB"/>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panose="020B0502040204020203"/>
                          <a:ea typeface="Segoe UI" panose="020B0502040204020203"/>
                          <a:cs typeface="Segoe UI" panose="020B0502040204020203"/>
                        </a:rPr>
                        <a:t>Đếm thao tác mỗi hồ sơ</a:t>
                      </a:r>
                      <a:endParaRPr sz="975">
                        <a:solidFill>
                          <a:srgbClr val="F4F7FB"/>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panose="020B0502040204020203"/>
                          <a:ea typeface="Segoe UI" panose="020B0502040204020203"/>
                          <a:cs typeface="Segoe UI" panose="020B0502040204020203"/>
                        </a:rPr>
                        <a:t>Chưa đo</a:t>
                      </a:r>
                      <a:endParaRPr sz="975"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panose="020B0502040204020203"/>
                          <a:ea typeface="Segoe UI" panose="020B0502040204020203"/>
                          <a:cs typeface="Segoe UI" panose="020B0502040204020203"/>
                        </a:rPr>
                        <a:t>Chưa đo</a:t>
                      </a:r>
                      <a:endParaRPr sz="1050" b="1">
                        <a:solidFill>
                          <a:srgbClr val="4FAF91"/>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panose="020B0502040204020203"/>
                          <a:ea typeface="Segoe UI" panose="020B0502040204020203"/>
                          <a:cs typeface="Segoe UI" panose="020B0502040204020203"/>
                        </a:rPr>
                        <a:t>PENDING</a:t>
                      </a:r>
                      <a:endParaRPr sz="900"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panose="020B0502040204020203"/>
                          <a:ea typeface="Segoe UI" panose="020B0502040204020203"/>
                          <a:cs typeface="Segoe UI" panose="020B0502040204020203"/>
                        </a:rPr>
                        <a:t>E_missed</a:t>
                      </a:r>
                      <a:endParaRPr sz="975" b="1">
                        <a:solidFill>
                          <a:srgbClr val="F4F7FB"/>
                        </a:solidFill>
                        <a:latin typeface="Segoe UI" panose="020B0502040204020203"/>
                        <a:ea typeface="Segoe UI" panose="020B0502040204020203"/>
                        <a:cs typeface="Segoe UI" panose="020B0502040204020203"/>
                      </a:endParaRPr>
                    </a:p>
                    <a:p>
                      <a:r>
                        <a:rPr sz="975" b="1">
                          <a:solidFill>
                            <a:srgbClr val="F4F7FB"/>
                          </a:solidFill>
                          <a:latin typeface="Segoe UI" panose="020B0502040204020203"/>
                          <a:ea typeface="Segoe UI" panose="020B0502040204020203"/>
                          <a:cs typeface="Segoe UI" panose="020B0502040204020203"/>
                        </a:rPr>
                        <a:t>Bỏ sót ca cần chuyển</a:t>
                      </a:r>
                      <a:endParaRPr sz="975" b="1">
                        <a:solidFill>
                          <a:srgbClr val="F4F7FB"/>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panose="020B0502040204020203"/>
                          <a:ea typeface="Segoe UI" panose="020B0502040204020203"/>
                          <a:cs typeface="Segoe UI" panose="020B0502040204020203"/>
                        </a:rPr>
                        <a:t>So với đáp án chuẩn</a:t>
                      </a:r>
                      <a:endParaRPr sz="975">
                        <a:solidFill>
                          <a:srgbClr val="F4F7FB"/>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panose="020B0502040204020203"/>
                          <a:ea typeface="Segoe UI" panose="020B0502040204020203"/>
                          <a:cs typeface="Segoe UI" panose="020B0502040204020203"/>
                        </a:rPr>
                        <a:t>Chưa đo</a:t>
                      </a:r>
                      <a:endParaRPr sz="975"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panose="020B0502040204020203"/>
                          <a:ea typeface="Segoe UI" panose="020B0502040204020203"/>
                          <a:cs typeface="Segoe UI" panose="020B0502040204020203"/>
                        </a:rPr>
                        <a:t>0/10</a:t>
                      </a:r>
                      <a:endParaRPr sz="1050" b="1">
                        <a:solidFill>
                          <a:srgbClr val="4FAF91"/>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panose="020B0502040204020203"/>
                          <a:ea typeface="Segoe UI" panose="020B0502040204020203"/>
                          <a:cs typeface="Segoe UI" panose="020B0502040204020203"/>
                        </a:rPr>
                        <a:t>Thiếu baseline</a:t>
                      </a:r>
                      <a:endParaRPr sz="900"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panose="020B0502040204020203"/>
                          <a:ea typeface="Segoe UI" panose="020B0502040204020203"/>
                          <a:cs typeface="Segoe UI" panose="020B0502040204020203"/>
                        </a:rPr>
                        <a:t>E_over</a:t>
                      </a:r>
                      <a:endParaRPr sz="975" b="1">
                        <a:solidFill>
                          <a:srgbClr val="F4F7FB"/>
                        </a:solidFill>
                        <a:latin typeface="Segoe UI" panose="020B0502040204020203"/>
                        <a:ea typeface="Segoe UI" panose="020B0502040204020203"/>
                        <a:cs typeface="Segoe UI" panose="020B0502040204020203"/>
                      </a:endParaRPr>
                    </a:p>
                    <a:p>
                      <a:r>
                        <a:rPr sz="975" b="1">
                          <a:solidFill>
                            <a:srgbClr val="F4F7FB"/>
                          </a:solidFill>
                          <a:latin typeface="Segoe UI" panose="020B0502040204020203"/>
                          <a:ea typeface="Segoe UI" panose="020B0502040204020203"/>
                          <a:cs typeface="Segoe UI" panose="020B0502040204020203"/>
                        </a:rPr>
                        <a:t>Chuyển thừa</a:t>
                      </a:r>
                      <a:endParaRPr sz="975" b="1">
                        <a:solidFill>
                          <a:srgbClr val="F4F7FB"/>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panose="020B0502040204020203"/>
                          <a:ea typeface="Segoe UI" panose="020B0502040204020203"/>
                          <a:cs typeface="Segoe UI" panose="020B0502040204020203"/>
                        </a:rPr>
                        <a:t>So với đáp án chuẩn</a:t>
                      </a:r>
                      <a:endParaRPr sz="975">
                        <a:solidFill>
                          <a:srgbClr val="F4F7FB"/>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panose="020B0502040204020203"/>
                          <a:ea typeface="Segoe UI" panose="020B0502040204020203"/>
                          <a:cs typeface="Segoe UI" panose="020B0502040204020203"/>
                        </a:rPr>
                        <a:t>Chưa đo</a:t>
                      </a:r>
                      <a:endParaRPr sz="975"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panose="020B0502040204020203"/>
                          <a:ea typeface="Segoe UI" panose="020B0502040204020203"/>
                          <a:cs typeface="Segoe UI" panose="020B0502040204020203"/>
                        </a:rPr>
                        <a:t>2/10</a:t>
                      </a:r>
                      <a:endParaRPr sz="1050" b="1">
                        <a:solidFill>
                          <a:srgbClr val="4FAF91"/>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panose="020B0502040204020203"/>
                          <a:ea typeface="Segoe UI" panose="020B0502040204020203"/>
                          <a:cs typeface="Segoe UI" panose="020B0502040204020203"/>
                        </a:rPr>
                        <a:t>Thiếu baseline</a:t>
                      </a:r>
                      <a:endParaRPr sz="900"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r>
              <a:tr h="495300">
                <a:tc>
                  <a:txBody>
                    <a:bodyPr/>
                    <a:lstStyle/>
                    <a:p>
                      <a:r>
                        <a:rPr sz="975" b="1">
                          <a:solidFill>
                            <a:srgbClr val="F4F7FB"/>
                          </a:solidFill>
                          <a:latin typeface="Segoe UI" panose="020B0502040204020203"/>
                          <a:ea typeface="Segoe UI" panose="020B0502040204020203"/>
                          <a:cs typeface="Segoe UI" panose="020B0502040204020203"/>
                        </a:rPr>
                        <a:t>A_trace</a:t>
                      </a:r>
                      <a:endParaRPr sz="975" b="1">
                        <a:solidFill>
                          <a:srgbClr val="F4F7FB"/>
                        </a:solidFill>
                        <a:latin typeface="Segoe UI" panose="020B0502040204020203"/>
                        <a:ea typeface="Segoe UI" panose="020B0502040204020203"/>
                        <a:cs typeface="Segoe UI" panose="020B0502040204020203"/>
                      </a:endParaRPr>
                    </a:p>
                    <a:p>
                      <a:r>
                        <a:rPr sz="975" b="1">
                          <a:solidFill>
                            <a:srgbClr val="F4F7FB"/>
                          </a:solidFill>
                          <a:latin typeface="Segoe UI" panose="020B0502040204020203"/>
                          <a:ea typeface="Segoe UI" panose="020B0502040204020203"/>
                          <a:cs typeface="Segoe UI" panose="020B0502040204020203"/>
                        </a:rPr>
                        <a:t>Đủ dấu vết</a:t>
                      </a:r>
                      <a:endParaRPr sz="975" b="1">
                        <a:solidFill>
                          <a:srgbClr val="F4F7FB"/>
                        </a:solidFill>
                        <a:latin typeface="Segoe UI" panose="020B0502040204020203"/>
                        <a:ea typeface="Segoe UI" panose="020B0502040204020203"/>
                        <a:cs typeface="Segoe UI" panose="020B0502040204020203"/>
                      </a:endParaRPr>
                    </a:p>
                  </a:txBody>
                  <a:tcPr marL="95250" marR="95250"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75">
                          <a:solidFill>
                            <a:srgbClr val="F4F7FB"/>
                          </a:solidFill>
                          <a:latin typeface="Segoe UI" panose="020B0502040204020203"/>
                          <a:ea typeface="Segoe UI" panose="020B0502040204020203"/>
                          <a:cs typeface="Segoe UI" panose="020B0502040204020203"/>
                        </a:rPr>
                        <a:t>Kiểm tra audit timeline</a:t>
                      </a:r>
                      <a:endParaRPr sz="975">
                        <a:solidFill>
                          <a:srgbClr val="F4F7FB"/>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75" b="1">
                          <a:solidFill>
                            <a:srgbClr val="C59A4A"/>
                          </a:solidFill>
                          <a:latin typeface="Segoe UI" panose="020B0502040204020203"/>
                          <a:ea typeface="Segoe UI" panose="020B0502040204020203"/>
                          <a:cs typeface="Segoe UI" panose="020B0502040204020203"/>
                        </a:rPr>
                        <a:t>Chưa đo</a:t>
                      </a:r>
                      <a:endParaRPr sz="975"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1050" b="1">
                          <a:solidFill>
                            <a:srgbClr val="4FAF91"/>
                          </a:solidFill>
                          <a:latin typeface="Segoe UI" panose="020B0502040204020203"/>
                          <a:ea typeface="Segoe UI" panose="020B0502040204020203"/>
                          <a:cs typeface="Segoe UI" panose="020B0502040204020203"/>
                        </a:rPr>
                        <a:t>Có timeline</a:t>
                      </a:r>
                      <a:endParaRPr sz="1050" b="1">
                        <a:solidFill>
                          <a:srgbClr val="4FAF91"/>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c>
                  <a:txBody>
                    <a:bodyPr/>
                    <a:lstStyle/>
                    <a:p>
                      <a:r>
                        <a:rPr sz="900" b="1">
                          <a:solidFill>
                            <a:srgbClr val="C59A4A"/>
                          </a:solidFill>
                          <a:latin typeface="Segoe UI" panose="020B0502040204020203"/>
                          <a:ea typeface="Segoe UI" panose="020B0502040204020203"/>
                          <a:cs typeface="Segoe UI" panose="020B0502040204020203"/>
                        </a:rPr>
                        <a:t>Thiếu baseline</a:t>
                      </a:r>
                      <a:endParaRPr sz="900" b="1">
                        <a:solidFill>
                          <a:srgbClr val="C59A4A"/>
                        </a:solidFill>
                        <a:latin typeface="Segoe UI" panose="020B0502040204020203"/>
                        <a:ea typeface="Segoe UI" panose="020B0502040204020203"/>
                        <a:cs typeface="Segoe UI" panose="020B0502040204020203"/>
                      </a:endParaRPr>
                    </a:p>
                  </a:txBody>
                  <a:tcPr marL="95250" marR="95250" marT="66675" marB="66675">
                    <a:lnR w="9525">
                      <a:solidFill>
                        <a:srgbClr val="31445C"/>
                      </a:solidFill>
                      <a:prstDash val="solid"/>
                    </a:lnR>
                    <a:lnB w="9525">
                      <a:solidFill>
                        <a:srgbClr val="31445C"/>
                      </a:solidFill>
                      <a:prstDash val="solid"/>
                    </a:lnB>
                    <a:solidFill>
                      <a:srgbClr val="112338"/>
                    </a:solidFill>
                  </a:tcPr>
                </a:tc>
              </a:tr>
            </a:tbl>
          </a:graphicData>
        </a:graphic>
      </p:graphicFrame>
      <p:sp>
        <p:nvSpPr>
          <p:cNvPr id="4" name="S3_ProtocolBand"/>
          <p:cNvSpPr>
            <a:spLocks noGrp="1"/>
          </p:cNvSpPr>
          <p:nvPr/>
        </p:nvSpPr>
        <p:spPr>
          <a:xfrm>
            <a:off x="552450" y="4495800"/>
            <a:ext cx="11087100" cy="990600"/>
          </a:xfrm>
          <a:prstGeom prst="roundRect">
            <a:avLst>
              <a:gd name="adj" fmla="val 5769"/>
            </a:avLst>
          </a:prstGeom>
          <a:solidFill>
            <a:srgbClr val="162A42"/>
          </a:solidFill>
          <a:ln w="9525">
            <a:solidFill>
              <a:srgbClr val="31445C"/>
            </a:solidFill>
            <a:prstDash val="solid"/>
          </a:ln>
        </p:spPr>
      </p:sp>
      <p:sp>
        <p:nvSpPr>
          <p:cNvPr id="5" name="S3_ProtocolLabel"/>
          <p:cNvSpPr>
            <a:spLocks noGrp="1"/>
          </p:cNvSpPr>
          <p:nvPr/>
        </p:nvSpPr>
        <p:spPr>
          <a:xfrm>
            <a:off x="723900" y="4629150"/>
            <a:ext cx="2476500" cy="190500"/>
          </a:xfrm>
          <a:prstGeom prst="rect">
            <a:avLst/>
          </a:prstGeom>
          <a:noFill/>
          <a:ln w="0">
            <a:noFill/>
          </a:ln>
        </p:spPr>
        <p:txBody>
          <a:bodyPr lIns="0" tIns="0" rIns="0" bIns="0" anchor="t">
            <a:noAutofit/>
          </a:bodyPr>
          <a:lstStyle>
            <a:defPPr algn="l">
              <a:defRPr sz="975" b="1">
                <a:solidFill>
                  <a:srgbClr val="4FAF91"/>
                </a:solidFill>
                <a:latin typeface="Segoe UI" panose="020B0502040204020203"/>
                <a:ea typeface="Segoe UI" panose="020B0502040204020203"/>
                <a:cs typeface="Segoe UI" panose="020B0502040204020203"/>
              </a:defRPr>
            </a:defPPr>
          </a:lstStyle>
          <a:p>
            <a:pPr algn="l">
              <a:defRPr sz="975" b="1">
                <a:solidFill>
                  <a:srgbClr val="4FAF91"/>
                </a:solidFill>
                <a:latin typeface="Segoe UI" panose="020B0502040204020203"/>
                <a:ea typeface="Segoe UI" panose="020B0502040204020203"/>
                <a:cs typeface="Segoe UI" panose="020B0502040204020203"/>
              </a:defRPr>
            </a:pPr>
            <a:r>
              <a:rPr sz="975" b="1">
                <a:solidFill>
                  <a:srgbClr val="4FAF91"/>
                </a:solidFill>
                <a:latin typeface="Segoe UI" panose="020B0502040204020203"/>
                <a:ea typeface="Segoe UI" panose="020B0502040204020203"/>
                <a:cs typeface="Segoe UI" panose="020B0502040204020203"/>
              </a:rPr>
              <a:t>GIAO THỨC ĐO TÁC ĐỘNG</a:t>
            </a:r>
            <a:endParaRPr sz="975" b="1">
              <a:solidFill>
                <a:srgbClr val="4FAF91"/>
              </a:solidFill>
              <a:latin typeface="Segoe UI" panose="020B0502040204020203"/>
              <a:ea typeface="Segoe UI" panose="020B0502040204020203"/>
              <a:cs typeface="Segoe UI" panose="020B0502040204020203"/>
            </a:endParaRPr>
          </a:p>
        </p:txBody>
      </p:sp>
      <p:sp>
        <p:nvSpPr>
          <p:cNvPr id="6" name="S3_ProtocolLine1"/>
          <p:cNvSpPr>
            <a:spLocks noGrp="1"/>
          </p:cNvSpPr>
          <p:nvPr/>
        </p:nvSpPr>
        <p:spPr>
          <a:xfrm>
            <a:off x="723900" y="4914900"/>
            <a:ext cx="10744200" cy="247650"/>
          </a:xfrm>
          <a:prstGeom prst="rect">
            <a:avLst/>
          </a:prstGeom>
          <a:noFill/>
          <a:ln w="0">
            <a:noFill/>
          </a:ln>
        </p:spPr>
        <p:txBody>
          <a:bodyPr lIns="0" tIns="0" rIns="0" bIns="0" anchor="t">
            <a:noAutofit/>
          </a:bodyPr>
          <a:lstStyle>
            <a:defPPr algn="l">
              <a:defRPr sz="1200" b="1">
                <a:solidFill>
                  <a:srgbClr val="F4F7FB"/>
                </a:solidFill>
                <a:latin typeface="Segoe UI" panose="020B0502040204020203"/>
                <a:ea typeface="Segoe UI" panose="020B0502040204020203"/>
                <a:cs typeface="Segoe UI" panose="020B0502040204020203"/>
              </a:defRPr>
            </a:defPPr>
          </a:lstStyle>
          <a:p>
            <a:pPr algn="l">
              <a:defRPr sz="1200" b="1">
                <a:solidFill>
                  <a:srgbClr val="F4F7FB"/>
                </a:solidFill>
                <a:latin typeface="Segoe UI" panose="020B0502040204020203"/>
                <a:ea typeface="Segoe UI" panose="020B0502040204020203"/>
                <a:cs typeface="Segoe UI" panose="020B0502040204020203"/>
              </a:defRPr>
            </a:pPr>
            <a:r>
              <a:rPr sz="1200" b="1">
                <a:solidFill>
                  <a:srgbClr val="F4F7FB"/>
                </a:solidFill>
                <a:latin typeface="Segoe UI" panose="020B0502040204020203"/>
                <a:ea typeface="Segoe UI" panose="020B0502040204020203"/>
                <a:cs typeface="Segoe UI" panose="020B0502040204020203"/>
              </a:rPr>
              <a:t>3 người dùng × cùng 3 nhiệm vụ × cùng bộ hóa đơn; so median trước và sau; giữ cả phản hồi tiêu cực.</a:t>
            </a:r>
            <a:endParaRPr sz="1200" b="1">
              <a:solidFill>
                <a:srgbClr val="F4F7FB"/>
              </a:solidFill>
              <a:latin typeface="Segoe UI" panose="020B0502040204020203"/>
              <a:ea typeface="Segoe UI" panose="020B0502040204020203"/>
              <a:cs typeface="Segoe UI" panose="020B0502040204020203"/>
            </a:endParaRPr>
          </a:p>
        </p:txBody>
      </p:sp>
      <p:sp>
        <p:nvSpPr>
          <p:cNvPr id="7" name="S3_ProtocolLine2"/>
          <p:cNvSpPr>
            <a:spLocks noGrp="1"/>
          </p:cNvSpPr>
          <p:nvPr/>
        </p:nvSpPr>
        <p:spPr>
          <a:xfrm>
            <a:off x="723900" y="5219700"/>
            <a:ext cx="10744200" cy="190500"/>
          </a:xfrm>
          <a:prstGeom prst="rect">
            <a:avLst/>
          </a:prstGeom>
          <a:noFill/>
          <a:ln w="0">
            <a:noFill/>
          </a:ln>
        </p:spPr>
        <p:txBody>
          <a:bodyPr lIns="0" tIns="0" rIns="0" bIns="0" anchor="t">
            <a:noAutofit/>
          </a:bodyPr>
          <a:lstStyle>
            <a:defPPr algn="l">
              <a:defRPr sz="1050" b="1">
                <a:solidFill>
                  <a:srgbClr val="C59A4A"/>
                </a:solidFill>
                <a:latin typeface="Segoe UI" panose="020B0502040204020203"/>
                <a:ea typeface="Segoe UI" panose="020B0502040204020203"/>
                <a:cs typeface="Segoe UI" panose="020B0502040204020203"/>
              </a:defRPr>
            </a:defPPr>
          </a:lstStyle>
          <a:p>
            <a:pPr algn="l">
              <a:defRPr sz="1050" b="1">
                <a:solidFill>
                  <a:srgbClr val="C59A4A"/>
                </a:solidFill>
                <a:latin typeface="Segoe UI" panose="020B0502040204020203"/>
                <a:ea typeface="Segoe UI" panose="020B0502040204020203"/>
                <a:cs typeface="Segoe UI" panose="020B0502040204020203"/>
              </a:defRPr>
            </a:pPr>
            <a:r>
              <a:rPr sz="1050" b="1">
                <a:solidFill>
                  <a:srgbClr val="C59A4A"/>
                </a:solidFill>
                <a:latin typeface="Segoe UI" panose="020B0502040204020203"/>
                <a:ea typeface="Segoe UI" panose="020B0502040204020203"/>
                <a:cs typeface="Segoe UI" panose="020B0502040204020203"/>
              </a:rPr>
              <a:t>Ngưỡng đạt / không đạt sẽ được khóa trước khi mở kết quả. Hiện chưa có record người dùng thật.</a:t>
            </a:r>
            <a:endParaRPr sz="1050" b="1">
              <a:solidFill>
                <a:srgbClr val="C59A4A"/>
              </a:solidFill>
              <a:latin typeface="Segoe UI" panose="020B0502040204020203"/>
              <a:ea typeface="Segoe UI" panose="020B0502040204020203"/>
              <a:cs typeface="Segoe UI" panose="020B0502040204020203"/>
            </a:endParaRPr>
          </a:p>
        </p:txBody>
      </p:sp>
      <p:sp>
        <p:nvSpPr>
          <p:cNvPr id="8" name="S3_TechnicalStrip"/>
          <p:cNvSpPr>
            <a:spLocks noGrp="1"/>
          </p:cNvSpPr>
          <p:nvPr/>
        </p:nvSpPr>
        <p:spPr>
          <a:xfrm>
            <a:off x="552450" y="5676900"/>
            <a:ext cx="11087100" cy="495300"/>
          </a:xfrm>
          <a:prstGeom prst="roundRect">
            <a:avLst>
              <a:gd name="adj" fmla="val 11538"/>
            </a:avLst>
          </a:prstGeom>
          <a:solidFill>
            <a:srgbClr val="112338"/>
          </a:solidFill>
          <a:ln w="9525">
            <a:solidFill>
              <a:srgbClr val="31445C"/>
            </a:solidFill>
            <a:prstDash val="solid"/>
          </a:ln>
        </p:spPr>
      </p:sp>
      <p:sp>
        <p:nvSpPr>
          <p:cNvPr id="9" name="S3_TechnicalLabel"/>
          <p:cNvSpPr>
            <a:spLocks noGrp="1"/>
          </p:cNvSpPr>
          <p:nvPr/>
        </p:nvSpPr>
        <p:spPr>
          <a:xfrm>
            <a:off x="704850" y="5819775"/>
            <a:ext cx="3714750" cy="190500"/>
          </a:xfrm>
          <a:prstGeom prst="rect">
            <a:avLst/>
          </a:prstGeom>
          <a:noFill/>
          <a:ln w="0">
            <a:noFill/>
          </a:ln>
        </p:spPr>
        <p:txBody>
          <a:bodyPr lIns="0" tIns="0" rIns="0" bIns="0" anchor="t">
            <a:noAutofit/>
          </a:bodyPr>
          <a:lstStyle>
            <a:defPPr algn="l">
              <a:defRPr sz="900" b="1">
                <a:solidFill>
                  <a:srgbClr val="A6B3C4"/>
                </a:solidFill>
                <a:latin typeface="Segoe UI" panose="020B0502040204020203"/>
                <a:ea typeface="Segoe UI" panose="020B0502040204020203"/>
                <a:cs typeface="Segoe UI" panose="020B0502040204020203"/>
              </a:defRPr>
            </a:defPPr>
          </a:lstStyle>
          <a:p>
            <a:pPr algn="l">
              <a:defRPr sz="900" b="1">
                <a:solidFill>
                  <a:srgbClr val="A6B3C4"/>
                </a:solidFill>
                <a:latin typeface="Segoe UI" panose="020B0502040204020203"/>
                <a:ea typeface="Segoe UI" panose="020B0502040204020203"/>
                <a:cs typeface="Segoe UI" panose="020B0502040204020203"/>
              </a:defRPr>
            </a:pPr>
            <a:r>
              <a:rPr sz="900" b="1">
                <a:solidFill>
                  <a:srgbClr val="A6B3C4"/>
                </a:solidFill>
                <a:latin typeface="Segoe UI" panose="020B0502040204020203"/>
                <a:ea typeface="Segoe UI" panose="020B0502040204020203"/>
                <a:cs typeface="Segoe UI" panose="020B0502040204020203"/>
              </a:rPr>
              <a:t>BẰNG CHỨNG KỸ THUẬT, KHÔNG PHẢI TÁC ĐỘNG</a:t>
            </a:r>
            <a:endParaRPr sz="900" b="1">
              <a:solidFill>
                <a:srgbClr val="A6B3C4"/>
              </a:solidFill>
              <a:latin typeface="Segoe UI" panose="020B0502040204020203"/>
              <a:ea typeface="Segoe UI" panose="020B0502040204020203"/>
              <a:cs typeface="Segoe UI" panose="020B0502040204020203"/>
            </a:endParaRPr>
          </a:p>
        </p:txBody>
      </p:sp>
      <p:sp>
        <p:nvSpPr>
          <p:cNvPr id="10" name="S3_TechnicalValues"/>
          <p:cNvSpPr>
            <a:spLocks noGrp="1"/>
          </p:cNvSpPr>
          <p:nvPr/>
        </p:nvSpPr>
        <p:spPr>
          <a:xfrm>
            <a:off x="4648200" y="5791200"/>
            <a:ext cx="6838950" cy="247650"/>
          </a:xfrm>
          <a:prstGeom prst="rect">
            <a:avLst/>
          </a:prstGeom>
          <a:noFill/>
          <a:ln w="0">
            <a:noFill/>
          </a:ln>
        </p:spPr>
        <p:txBody>
          <a:bodyPr lIns="0" tIns="0" rIns="0" bIns="0" anchor="t">
            <a:noAutofit/>
          </a:bodyPr>
          <a:lstStyle>
            <a:defPPr algn="r">
              <a:defRPr sz="1200" b="1">
                <a:solidFill>
                  <a:srgbClr val="45A9BE"/>
                </a:solidFill>
                <a:latin typeface="Segoe UI" panose="020B0502040204020203"/>
                <a:ea typeface="Segoe UI" panose="020B0502040204020203"/>
                <a:cs typeface="Segoe UI" panose="020B0502040204020203"/>
              </a:defRPr>
            </a:defPPr>
          </a:lstStyle>
          <a:p>
            <a:pPr algn="r">
              <a:defRPr sz="1200" b="1">
                <a:solidFill>
                  <a:srgbClr val="45A9BE"/>
                </a:solidFill>
                <a:latin typeface="Segoe UI" panose="020B0502040204020203"/>
                <a:ea typeface="Segoe UI" panose="020B0502040204020203"/>
                <a:cs typeface="Segoe UI" panose="020B0502040204020203"/>
              </a:defRPr>
            </a:pPr>
            <a:r>
              <a:rPr sz="1200" b="1">
                <a:solidFill>
                  <a:srgbClr val="45A9BE"/>
                </a:solidFill>
                <a:latin typeface="Segoe UI" panose="020B0502040204020203"/>
                <a:ea typeface="Segoe UI" panose="020B0502040204020203"/>
                <a:cs typeface="Segoe UI" panose="020B0502040204020203"/>
              </a:rPr>
              <a:t>163/163 offline tests    5/5 Verify live    65.004s</a:t>
            </a:r>
            <a:endParaRPr sz="1200" b="1">
              <a:solidFill>
                <a:srgbClr val="45A9BE"/>
              </a:solidFill>
              <a:latin typeface="Segoe UI" panose="020B0502040204020203"/>
              <a:ea typeface="Segoe UI" panose="020B0502040204020203"/>
              <a:cs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522"/>
        </a:solidFill>
        <a:effectLst/>
      </p:bgPr>
    </p:bg>
    <p:spTree>
      <p:nvGrpSpPr>
        <p:cNvPr id="1" name=""/>
        <p:cNvGrpSpPr/>
        <p:nvPr/>
      </p:nvGrpSpPr>
      <p:grpSpPr/>
      <p:sp>
        <p:nvSpPr>
          <p:cNvPr id="40" name="Slide_Title"/>
          <p:cNvSpPr>
            <a:spLocks noGrp="1"/>
          </p:cNvSpPr>
          <p:nvPr/>
        </p:nvSpPr>
        <p:spPr>
          <a:xfrm>
            <a:off x="552450" y="266700"/>
            <a:ext cx="11087100" cy="400050"/>
          </a:xfrm>
          <a:prstGeom prst="rect">
            <a:avLst/>
          </a:prstGeom>
          <a:noFill/>
          <a:ln w="0">
            <a:noFill/>
          </a:ln>
        </p:spPr>
        <p:txBody>
          <a:bodyPr lIns="0" tIns="0" rIns="0" bIns="0" anchor="t">
            <a:noAutofit/>
          </a:bodyPr>
          <a:lstStyle>
            <a:defPPr algn="l">
              <a:defRPr sz="2400" b="1">
                <a:solidFill>
                  <a:srgbClr val="F4F7FB"/>
                </a:solidFill>
                <a:latin typeface="Segoe UI" panose="020B0502040204020203"/>
                <a:ea typeface="Segoe UI" panose="020B0502040204020203"/>
                <a:cs typeface="Segoe UI" panose="020B0502040204020203"/>
              </a:defRPr>
            </a:defPPr>
          </a:lstStyle>
          <a:p>
            <a:pPr algn="l">
              <a:defRPr sz="2400" b="1">
                <a:solidFill>
                  <a:srgbClr val="F4F7FB"/>
                </a:solidFill>
                <a:latin typeface="Segoe UI" panose="020B0502040204020203"/>
                <a:ea typeface="Segoe UI" panose="020B0502040204020203"/>
                <a:cs typeface="Segoe UI" panose="020B0502040204020203"/>
              </a:defRPr>
            </a:pPr>
            <a:r>
              <a:rPr sz="2400" b="1">
                <a:solidFill>
                  <a:srgbClr val="F4F7FB"/>
                </a:solidFill>
                <a:latin typeface="Segoe UI" panose="020B0502040204020203"/>
                <a:ea typeface="Segoe UI" panose="020B0502040204020203"/>
                <a:cs typeface="Segoe UI" panose="020B0502040204020203"/>
              </a:rPr>
              <a:t>Kiến trúc, ranh giới thực thi và phạm vi evidence</a:t>
            </a:r>
            <a:endParaRPr sz="2400" b="1">
              <a:solidFill>
                <a:srgbClr val="F4F7FB"/>
              </a:solidFill>
              <a:latin typeface="Segoe UI" panose="020B0502040204020203"/>
              <a:ea typeface="Segoe UI" panose="020B0502040204020203"/>
              <a:cs typeface="Segoe UI" panose="020B0502040204020203"/>
            </a:endParaRPr>
          </a:p>
        </p:txBody>
      </p:sp>
      <p:sp>
        <p:nvSpPr>
          <p:cNvPr id="2" name="Slide_Subtitle"/>
          <p:cNvSpPr>
            <a:spLocks noGrp="1"/>
          </p:cNvSpPr>
          <p:nvPr/>
        </p:nvSpPr>
        <p:spPr>
          <a:xfrm>
            <a:off x="552450" y="723900"/>
            <a:ext cx="11087100" cy="266700"/>
          </a:xfrm>
          <a:prstGeom prst="rect">
            <a:avLst/>
          </a:prstGeom>
          <a:noFill/>
          <a:ln w="0">
            <a:noFill/>
          </a:ln>
        </p:spPr>
        <p:txBody>
          <a:bodyPr lIns="0" tIns="0" rIns="0" bIns="0" anchor="t">
            <a:noAutofit/>
          </a:bodyPr>
          <a:lstStyle>
            <a:defPPr algn="l">
              <a:defRPr sz="1275" b="0">
                <a:solidFill>
                  <a:srgbClr val="A6B3C4"/>
                </a:solidFill>
                <a:latin typeface="Segoe UI" panose="020B0502040204020203"/>
                <a:ea typeface="Segoe UI" panose="020B0502040204020203"/>
                <a:cs typeface="Segoe UI" panose="020B0502040204020203"/>
              </a:defRPr>
            </a:defPPr>
          </a:lstStyle>
          <a:p>
            <a:pPr algn="l">
              <a:defRPr sz="1275" b="0">
                <a:solidFill>
                  <a:srgbClr val="A6B3C4"/>
                </a:solidFill>
                <a:latin typeface="Segoe UI" panose="020B0502040204020203"/>
                <a:ea typeface="Segoe UI" panose="020B0502040204020203"/>
                <a:cs typeface="Segoe UI" panose="020B0502040204020203"/>
              </a:defRPr>
            </a:pPr>
            <a:r>
              <a:rPr sz="1275" b="0">
                <a:solidFill>
                  <a:srgbClr val="A6B3C4"/>
                </a:solidFill>
                <a:latin typeface="Segoe UI" panose="020B0502040204020203"/>
                <a:ea typeface="Segoe UI" panose="020B0502040204020203"/>
                <a:cs typeface="Segoe UI" panose="020B0502040204020203"/>
              </a:rPr>
              <a:t>Mỗi khối ghi rõ phần đang chạy, quyền của model và phần còn mô phỏng / test.</a:t>
            </a:r>
            <a:endParaRPr sz="1275" b="0">
              <a:solidFill>
                <a:srgbClr val="A6B3C4"/>
              </a:solidFill>
              <a:latin typeface="Segoe UI" panose="020B0502040204020203"/>
              <a:ea typeface="Segoe UI" panose="020B0502040204020203"/>
              <a:cs typeface="Segoe UI" panose="020B0502040204020203"/>
            </a:endParaRPr>
          </a:p>
        </p:txBody>
      </p:sp>
      <p:sp>
        <p:nvSpPr>
          <p:cNvPr id="3" name="S4_Layer_1"/>
          <p:cNvSpPr>
            <a:spLocks noGrp="1"/>
          </p:cNvSpPr>
          <p:nvPr/>
        </p:nvSpPr>
        <p:spPr>
          <a:xfrm>
            <a:off x="552450" y="1428750"/>
            <a:ext cx="7334250" cy="704850"/>
          </a:xfrm>
          <a:prstGeom prst="roundRect">
            <a:avLst>
              <a:gd name="adj" fmla="val 8108"/>
            </a:avLst>
          </a:prstGeom>
          <a:solidFill>
            <a:srgbClr val="112338"/>
          </a:solidFill>
          <a:ln w="9525">
            <a:solidFill>
              <a:srgbClr val="31445C"/>
            </a:solidFill>
            <a:prstDash val="solid"/>
          </a:ln>
        </p:spPr>
      </p:sp>
      <p:sp>
        <p:nvSpPr>
          <p:cNvPr id="4" name="S4_LiveBadge_1"/>
          <p:cNvSpPr>
            <a:spLocks noGrp="1"/>
          </p:cNvSpPr>
          <p:nvPr/>
        </p:nvSpPr>
        <p:spPr>
          <a:xfrm>
            <a:off x="704850" y="1524000"/>
            <a:ext cx="1047750" cy="266700"/>
          </a:xfrm>
          <a:prstGeom prst="roundRect">
            <a:avLst>
              <a:gd name="adj" fmla="val 21429"/>
            </a:avLst>
          </a:prstGeom>
          <a:solidFill>
            <a:srgbClr val="4FAF91"/>
          </a:solidFill>
          <a:ln w="9525">
            <a:solidFill>
              <a:srgbClr val="4FAF91"/>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CHẠY THẬT</a:t>
            </a:r>
            <a:endParaRPr sz="900" b="1">
              <a:solidFill>
                <a:srgbClr val="091522"/>
              </a:solidFill>
              <a:latin typeface="Segoe UI" panose="020B0502040204020203"/>
              <a:ea typeface="Segoe UI" panose="020B0502040204020203"/>
              <a:cs typeface="Segoe UI" panose="020B0502040204020203"/>
            </a:endParaRPr>
          </a:p>
        </p:txBody>
      </p:sp>
      <p:sp>
        <p:nvSpPr>
          <p:cNvPr id="5" name="S4_LayerLabel_1"/>
          <p:cNvSpPr>
            <a:spLocks noGrp="1"/>
          </p:cNvSpPr>
          <p:nvPr/>
        </p:nvSpPr>
        <p:spPr>
          <a:xfrm>
            <a:off x="1962150" y="1543050"/>
            <a:ext cx="2000250" cy="228600"/>
          </a:xfrm>
          <a:prstGeom prst="rect">
            <a:avLst/>
          </a:prstGeom>
          <a:noFill/>
          <a:ln w="0">
            <a:noFill/>
          </a:ln>
        </p:spPr>
        <p:txBody>
          <a:bodyPr lIns="0" tIns="0" rIns="0" bIns="0" anchor="ctr">
            <a:noAutofit/>
          </a:bodyPr>
          <a:lstStyle>
            <a:defPPr algn="l">
              <a:defRPr sz="1125" b="1">
                <a:solidFill>
                  <a:srgbClr val="45A9BE"/>
                </a:solidFill>
                <a:latin typeface="Segoe UI" panose="020B0502040204020203"/>
                <a:ea typeface="Segoe UI" panose="020B0502040204020203"/>
                <a:cs typeface="Segoe UI" panose="020B0502040204020203"/>
              </a:defRPr>
            </a:defPPr>
          </a:lstStyle>
          <a:p>
            <a:pPr algn="l">
              <a:defRPr sz="1125" b="1">
                <a:solidFill>
                  <a:srgbClr val="45A9BE"/>
                </a:solidFill>
                <a:latin typeface="Segoe UI" panose="020B0502040204020203"/>
                <a:ea typeface="Segoe UI" panose="020B0502040204020203"/>
                <a:cs typeface="Segoe UI" panose="020B0502040204020203"/>
              </a:defRPr>
            </a:pPr>
            <a:r>
              <a:rPr sz="1125" b="1">
                <a:solidFill>
                  <a:srgbClr val="45A9BE"/>
                </a:solidFill>
                <a:latin typeface="Segoe UI" panose="020B0502040204020203"/>
                <a:ea typeface="Segoe UI" panose="020B0502040204020203"/>
                <a:cs typeface="Segoe UI" panose="020B0502040204020203"/>
              </a:rPr>
              <a:t>GIAO DIỆN</a:t>
            </a:r>
            <a:endParaRPr sz="1125" b="1">
              <a:solidFill>
                <a:srgbClr val="45A9BE"/>
              </a:solidFill>
              <a:latin typeface="Segoe UI" panose="020B0502040204020203"/>
              <a:ea typeface="Segoe UI" panose="020B0502040204020203"/>
              <a:cs typeface="Segoe UI" panose="020B0502040204020203"/>
            </a:endParaRPr>
          </a:p>
        </p:txBody>
      </p:sp>
      <p:sp>
        <p:nvSpPr>
          <p:cNvPr id="6" name="S4_LayerText_1"/>
          <p:cNvSpPr>
            <a:spLocks noGrp="1"/>
          </p:cNvSpPr>
          <p:nvPr/>
        </p:nvSpPr>
        <p:spPr>
          <a:xfrm>
            <a:off x="1962150" y="1762125"/>
            <a:ext cx="5715000" cy="32385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Razor MVC • HTTP 202 • polling trạng thái</a:t>
            </a:r>
            <a:endParaRPr sz="1050" b="1">
              <a:solidFill>
                <a:srgbClr val="F4F7FB"/>
              </a:solidFill>
              <a:latin typeface="Segoe UI" panose="020B0502040204020203"/>
              <a:ea typeface="Segoe UI" panose="020B0502040204020203"/>
              <a:cs typeface="Segoe UI" panose="020B0502040204020203"/>
            </a:endParaRPr>
          </a:p>
        </p:txBody>
      </p:sp>
      <p:sp>
        <p:nvSpPr>
          <p:cNvPr id="7" name="S4_LayerConnector_1"/>
          <p:cNvSpPr>
            <a:spLocks noGrp="1"/>
          </p:cNvSpPr>
          <p:nvPr/>
        </p:nvSpPr>
        <p:spPr>
          <a:xfrm>
            <a:off x="4219575" y="2133600"/>
            <a:ext cx="0" cy="171450"/>
          </a:xfrm>
          <a:prstGeom prst="line">
            <a:avLst/>
          </a:prstGeom>
          <a:noFill/>
          <a:ln w="14288">
            <a:solidFill>
              <a:srgbClr val="31445C"/>
            </a:solidFill>
            <a:prstDash val="solid"/>
          </a:ln>
        </p:spPr>
      </p:sp>
      <p:sp>
        <p:nvSpPr>
          <p:cNvPr id="8" name="S4_Layer_2"/>
          <p:cNvSpPr>
            <a:spLocks noGrp="1"/>
          </p:cNvSpPr>
          <p:nvPr/>
        </p:nvSpPr>
        <p:spPr>
          <a:xfrm>
            <a:off x="552450" y="2305050"/>
            <a:ext cx="7334250" cy="704850"/>
          </a:xfrm>
          <a:prstGeom prst="roundRect">
            <a:avLst>
              <a:gd name="adj" fmla="val 8108"/>
            </a:avLst>
          </a:prstGeom>
          <a:solidFill>
            <a:srgbClr val="112338"/>
          </a:solidFill>
          <a:ln w="9525">
            <a:solidFill>
              <a:srgbClr val="31445C"/>
            </a:solidFill>
            <a:prstDash val="solid"/>
          </a:ln>
        </p:spPr>
      </p:sp>
      <p:sp>
        <p:nvSpPr>
          <p:cNvPr id="9" name="S4_LiveBadge_2"/>
          <p:cNvSpPr>
            <a:spLocks noGrp="1"/>
          </p:cNvSpPr>
          <p:nvPr/>
        </p:nvSpPr>
        <p:spPr>
          <a:xfrm>
            <a:off x="704850" y="2400300"/>
            <a:ext cx="1047750" cy="266700"/>
          </a:xfrm>
          <a:prstGeom prst="roundRect">
            <a:avLst>
              <a:gd name="adj" fmla="val 21429"/>
            </a:avLst>
          </a:prstGeom>
          <a:solidFill>
            <a:srgbClr val="4FAF91"/>
          </a:solidFill>
          <a:ln w="9525">
            <a:solidFill>
              <a:srgbClr val="4FAF91"/>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CHẠY THẬT</a:t>
            </a:r>
            <a:endParaRPr sz="900" b="1">
              <a:solidFill>
                <a:srgbClr val="091522"/>
              </a:solidFill>
              <a:latin typeface="Segoe UI" panose="020B0502040204020203"/>
              <a:ea typeface="Segoe UI" panose="020B0502040204020203"/>
              <a:cs typeface="Segoe UI" panose="020B0502040204020203"/>
            </a:endParaRPr>
          </a:p>
        </p:txBody>
      </p:sp>
      <p:sp>
        <p:nvSpPr>
          <p:cNvPr id="10" name="S4_LayerLabel_2"/>
          <p:cNvSpPr>
            <a:spLocks noGrp="1"/>
          </p:cNvSpPr>
          <p:nvPr/>
        </p:nvSpPr>
        <p:spPr>
          <a:xfrm>
            <a:off x="1962150" y="2419350"/>
            <a:ext cx="2000250" cy="228600"/>
          </a:xfrm>
          <a:prstGeom prst="rect">
            <a:avLst/>
          </a:prstGeom>
          <a:noFill/>
          <a:ln w="0">
            <a:noFill/>
          </a:ln>
        </p:spPr>
        <p:txBody>
          <a:bodyPr lIns="0" tIns="0" rIns="0" bIns="0" anchor="ctr">
            <a:noAutofit/>
          </a:bodyPr>
          <a:lstStyle>
            <a:defPPr algn="l">
              <a:defRPr sz="1125" b="1">
                <a:solidFill>
                  <a:srgbClr val="45A9BE"/>
                </a:solidFill>
                <a:latin typeface="Segoe UI" panose="020B0502040204020203"/>
                <a:ea typeface="Segoe UI" panose="020B0502040204020203"/>
                <a:cs typeface="Segoe UI" panose="020B0502040204020203"/>
              </a:defRPr>
            </a:defPPr>
          </a:lstStyle>
          <a:p>
            <a:pPr algn="l">
              <a:defRPr sz="1125" b="1">
                <a:solidFill>
                  <a:srgbClr val="45A9BE"/>
                </a:solidFill>
                <a:latin typeface="Segoe UI" panose="020B0502040204020203"/>
                <a:ea typeface="Segoe UI" panose="020B0502040204020203"/>
                <a:cs typeface="Segoe UI" panose="020B0502040204020203"/>
              </a:defRPr>
            </a:pPr>
            <a:r>
              <a:rPr sz="1125" b="1">
                <a:solidFill>
                  <a:srgbClr val="45A9BE"/>
                </a:solidFill>
                <a:latin typeface="Segoe UI" panose="020B0502040204020203"/>
                <a:ea typeface="Segoe UI" panose="020B0502040204020203"/>
                <a:cs typeface="Segoe UI" panose="020B0502040204020203"/>
              </a:rPr>
              <a:t>QUEUE / WORKER</a:t>
            </a:r>
            <a:endParaRPr sz="1125" b="1">
              <a:solidFill>
                <a:srgbClr val="45A9BE"/>
              </a:solidFill>
              <a:latin typeface="Segoe UI" panose="020B0502040204020203"/>
              <a:ea typeface="Segoe UI" panose="020B0502040204020203"/>
              <a:cs typeface="Segoe UI" panose="020B0502040204020203"/>
            </a:endParaRPr>
          </a:p>
        </p:txBody>
      </p:sp>
      <p:sp>
        <p:nvSpPr>
          <p:cNvPr id="11" name="S4_LayerText_2"/>
          <p:cNvSpPr>
            <a:spLocks noGrp="1"/>
          </p:cNvSpPr>
          <p:nvPr/>
        </p:nvSpPr>
        <p:spPr>
          <a:xfrm>
            <a:off x="1962150" y="2638425"/>
            <a:ext cx="5715000" cy="32385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SQL job • lease 600s • retry / circuit</a:t>
            </a:r>
            <a:endParaRPr sz="1050" b="1">
              <a:solidFill>
                <a:srgbClr val="F4F7FB"/>
              </a:solidFill>
              <a:latin typeface="Segoe UI" panose="020B0502040204020203"/>
              <a:ea typeface="Segoe UI" panose="020B0502040204020203"/>
              <a:cs typeface="Segoe UI" panose="020B0502040204020203"/>
            </a:endParaRPr>
          </a:p>
        </p:txBody>
      </p:sp>
      <p:sp>
        <p:nvSpPr>
          <p:cNvPr id="12" name="S4_LayerConnector_2"/>
          <p:cNvSpPr>
            <a:spLocks noGrp="1"/>
          </p:cNvSpPr>
          <p:nvPr/>
        </p:nvSpPr>
        <p:spPr>
          <a:xfrm>
            <a:off x="4219575" y="3009900"/>
            <a:ext cx="0" cy="171450"/>
          </a:xfrm>
          <a:prstGeom prst="line">
            <a:avLst/>
          </a:prstGeom>
          <a:noFill/>
          <a:ln w="14288">
            <a:solidFill>
              <a:srgbClr val="31445C"/>
            </a:solidFill>
            <a:prstDash val="solid"/>
          </a:ln>
        </p:spPr>
      </p:sp>
      <p:sp>
        <p:nvSpPr>
          <p:cNvPr id="13" name="S4_Layer_3"/>
          <p:cNvSpPr>
            <a:spLocks noGrp="1"/>
          </p:cNvSpPr>
          <p:nvPr/>
        </p:nvSpPr>
        <p:spPr>
          <a:xfrm>
            <a:off x="552450" y="3181350"/>
            <a:ext cx="7334250" cy="704850"/>
          </a:xfrm>
          <a:prstGeom prst="roundRect">
            <a:avLst>
              <a:gd name="adj" fmla="val 8108"/>
            </a:avLst>
          </a:prstGeom>
          <a:solidFill>
            <a:srgbClr val="112338"/>
          </a:solidFill>
          <a:ln w="9525">
            <a:solidFill>
              <a:srgbClr val="31445C"/>
            </a:solidFill>
            <a:prstDash val="solid"/>
          </a:ln>
        </p:spPr>
      </p:sp>
      <p:sp>
        <p:nvSpPr>
          <p:cNvPr id="14" name="S4_LiveBadge_3"/>
          <p:cNvSpPr>
            <a:spLocks noGrp="1"/>
          </p:cNvSpPr>
          <p:nvPr/>
        </p:nvSpPr>
        <p:spPr>
          <a:xfrm>
            <a:off x="704850" y="3276600"/>
            <a:ext cx="1047750" cy="266700"/>
          </a:xfrm>
          <a:prstGeom prst="roundRect">
            <a:avLst>
              <a:gd name="adj" fmla="val 21429"/>
            </a:avLst>
          </a:prstGeom>
          <a:solidFill>
            <a:srgbClr val="4FAF91"/>
          </a:solidFill>
          <a:ln w="9525">
            <a:solidFill>
              <a:srgbClr val="4FAF91"/>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CHẠY THẬT</a:t>
            </a:r>
            <a:endParaRPr sz="900" b="1">
              <a:solidFill>
                <a:srgbClr val="091522"/>
              </a:solidFill>
              <a:latin typeface="Segoe UI" panose="020B0502040204020203"/>
              <a:ea typeface="Segoe UI" panose="020B0502040204020203"/>
              <a:cs typeface="Segoe UI" panose="020B0502040204020203"/>
            </a:endParaRPr>
          </a:p>
        </p:txBody>
      </p:sp>
      <p:sp>
        <p:nvSpPr>
          <p:cNvPr id="15" name="S4_LayerLabel_3"/>
          <p:cNvSpPr>
            <a:spLocks noGrp="1"/>
          </p:cNvSpPr>
          <p:nvPr/>
        </p:nvSpPr>
        <p:spPr>
          <a:xfrm>
            <a:off x="1962150" y="3295650"/>
            <a:ext cx="2000250" cy="228600"/>
          </a:xfrm>
          <a:prstGeom prst="rect">
            <a:avLst/>
          </a:prstGeom>
          <a:noFill/>
          <a:ln w="0">
            <a:noFill/>
          </a:ln>
        </p:spPr>
        <p:txBody>
          <a:bodyPr lIns="0" tIns="0" rIns="0" bIns="0" anchor="ctr">
            <a:noAutofit/>
          </a:bodyPr>
          <a:lstStyle>
            <a:defPPr algn="l">
              <a:defRPr sz="1125" b="1">
                <a:solidFill>
                  <a:srgbClr val="5F8FD8"/>
                </a:solidFill>
                <a:latin typeface="Segoe UI" panose="020B0502040204020203"/>
                <a:ea typeface="Segoe UI" panose="020B0502040204020203"/>
                <a:cs typeface="Segoe UI" panose="020B0502040204020203"/>
              </a:defRPr>
            </a:defPPr>
          </a:lstStyle>
          <a:p>
            <a:pPr algn="l">
              <a:defRPr sz="1125" b="1">
                <a:solidFill>
                  <a:srgbClr val="5F8FD8"/>
                </a:solidFill>
                <a:latin typeface="Segoe UI" panose="020B0502040204020203"/>
                <a:ea typeface="Segoe UI" panose="020B0502040204020203"/>
                <a:cs typeface="Segoe UI" panose="020B0502040204020203"/>
              </a:defRPr>
            </a:pPr>
            <a:r>
              <a:rPr sz="1125" b="1">
                <a:solidFill>
                  <a:srgbClr val="5F8FD8"/>
                </a:solidFill>
                <a:latin typeface="Segoe UI" panose="020B0502040204020203"/>
                <a:ea typeface="Segoe UI" panose="020B0502040204020203"/>
                <a:cs typeface="Segoe UI" panose="020B0502040204020203"/>
              </a:rPr>
              <a:t>AI ADAPTER + CONTRACT</a:t>
            </a:r>
            <a:endParaRPr sz="1125" b="1">
              <a:solidFill>
                <a:srgbClr val="5F8FD8"/>
              </a:solidFill>
              <a:latin typeface="Segoe UI" panose="020B0502040204020203"/>
              <a:ea typeface="Segoe UI" panose="020B0502040204020203"/>
              <a:cs typeface="Segoe UI" panose="020B0502040204020203"/>
            </a:endParaRPr>
          </a:p>
        </p:txBody>
      </p:sp>
      <p:sp>
        <p:nvSpPr>
          <p:cNvPr id="16" name="S4_LayerText_3"/>
          <p:cNvSpPr>
            <a:spLocks noGrp="1"/>
          </p:cNvSpPr>
          <p:nvPr/>
        </p:nvSpPr>
        <p:spPr>
          <a:xfrm>
            <a:off x="1962150" y="3514725"/>
            <a:ext cx="5715000" cy="323850"/>
          </a:xfrm>
          <a:prstGeom prst="rect">
            <a:avLst/>
          </a:prstGeom>
          <a:noFill/>
          <a:ln w="0">
            <a:noFill/>
          </a:ln>
        </p:spPr>
        <p:txBody>
          <a:bodyPr lIns="0" tIns="0" rIns="0" bIns="0" anchor="ctr">
            <a:noAutofit/>
          </a:bodyPr>
          <a:lstStyle>
            <a:defPPr algn="l">
              <a:defRPr sz="900" b="1">
                <a:solidFill>
                  <a:srgbClr val="F4F7FB"/>
                </a:solidFill>
                <a:latin typeface="Segoe UI" panose="020B0502040204020203"/>
                <a:ea typeface="Segoe UI" panose="020B0502040204020203"/>
                <a:cs typeface="Segoe UI" panose="020B0502040204020203"/>
              </a:defRPr>
            </a:defPPr>
          </a:lstStyle>
          <a:p>
            <a:pPr algn="l">
              <a:defRPr sz="90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OpenRouter • Qwen3.8 Flash • image → DTO • không tool / DB write</a:t>
            </a:r>
            <a:endParaRPr sz="1050" b="1">
              <a:solidFill>
                <a:srgbClr val="F4F7FB"/>
              </a:solidFill>
              <a:latin typeface="Segoe UI" panose="020B0502040204020203"/>
              <a:ea typeface="Segoe UI" panose="020B0502040204020203"/>
              <a:cs typeface="Segoe UI" panose="020B0502040204020203"/>
            </a:endParaRPr>
          </a:p>
          <a:p>
            <a:pPr algn="l">
              <a:defRPr sz="90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Schema • semantic validation • repair ≤ 1</a:t>
            </a:r>
            <a:endParaRPr sz="1050" b="1">
              <a:solidFill>
                <a:srgbClr val="F4F7FB"/>
              </a:solidFill>
              <a:latin typeface="Segoe UI" panose="020B0502040204020203"/>
              <a:ea typeface="Segoe UI" panose="020B0502040204020203"/>
              <a:cs typeface="Segoe UI" panose="020B0502040204020203"/>
            </a:endParaRPr>
          </a:p>
        </p:txBody>
      </p:sp>
      <p:sp>
        <p:nvSpPr>
          <p:cNvPr id="17" name="S4_LayerConnector_3"/>
          <p:cNvSpPr>
            <a:spLocks noGrp="1"/>
          </p:cNvSpPr>
          <p:nvPr/>
        </p:nvSpPr>
        <p:spPr>
          <a:xfrm>
            <a:off x="4219575" y="3886200"/>
            <a:ext cx="0" cy="171450"/>
          </a:xfrm>
          <a:prstGeom prst="line">
            <a:avLst/>
          </a:prstGeom>
          <a:noFill/>
          <a:ln w="14288">
            <a:solidFill>
              <a:srgbClr val="31445C"/>
            </a:solidFill>
            <a:prstDash val="solid"/>
          </a:ln>
        </p:spPr>
      </p:sp>
      <p:sp>
        <p:nvSpPr>
          <p:cNvPr id="18" name="S4_Layer_4"/>
          <p:cNvSpPr>
            <a:spLocks noGrp="1"/>
          </p:cNvSpPr>
          <p:nvPr/>
        </p:nvSpPr>
        <p:spPr>
          <a:xfrm>
            <a:off x="552450" y="4057650"/>
            <a:ext cx="7334250" cy="704850"/>
          </a:xfrm>
          <a:prstGeom prst="roundRect">
            <a:avLst>
              <a:gd name="adj" fmla="val 8108"/>
            </a:avLst>
          </a:prstGeom>
          <a:solidFill>
            <a:srgbClr val="112338"/>
          </a:solidFill>
          <a:ln w="9525">
            <a:solidFill>
              <a:srgbClr val="31445C"/>
            </a:solidFill>
            <a:prstDash val="solid"/>
          </a:ln>
        </p:spPr>
      </p:sp>
      <p:sp>
        <p:nvSpPr>
          <p:cNvPr id="19" name="S4_LiveBadge_4"/>
          <p:cNvSpPr>
            <a:spLocks noGrp="1"/>
          </p:cNvSpPr>
          <p:nvPr/>
        </p:nvSpPr>
        <p:spPr>
          <a:xfrm>
            <a:off x="704850" y="4152900"/>
            <a:ext cx="1047750" cy="266700"/>
          </a:xfrm>
          <a:prstGeom prst="roundRect">
            <a:avLst>
              <a:gd name="adj" fmla="val 21429"/>
            </a:avLst>
          </a:prstGeom>
          <a:solidFill>
            <a:srgbClr val="4FAF91"/>
          </a:solidFill>
          <a:ln w="9525">
            <a:solidFill>
              <a:srgbClr val="4FAF91"/>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CHẠY THẬT</a:t>
            </a:r>
            <a:endParaRPr sz="900" b="1">
              <a:solidFill>
                <a:srgbClr val="091522"/>
              </a:solidFill>
              <a:latin typeface="Segoe UI" panose="020B0502040204020203"/>
              <a:ea typeface="Segoe UI" panose="020B0502040204020203"/>
              <a:cs typeface="Segoe UI" panose="020B0502040204020203"/>
            </a:endParaRPr>
          </a:p>
        </p:txBody>
      </p:sp>
      <p:sp>
        <p:nvSpPr>
          <p:cNvPr id="20" name="S4_LayerLabel_4"/>
          <p:cNvSpPr>
            <a:spLocks noGrp="1"/>
          </p:cNvSpPr>
          <p:nvPr/>
        </p:nvSpPr>
        <p:spPr>
          <a:xfrm>
            <a:off x="1962150" y="4171950"/>
            <a:ext cx="2000250" cy="228600"/>
          </a:xfrm>
          <a:prstGeom prst="rect">
            <a:avLst/>
          </a:prstGeom>
          <a:noFill/>
          <a:ln w="0">
            <a:noFill/>
          </a:ln>
        </p:spPr>
        <p:txBody>
          <a:bodyPr lIns="0" tIns="0" rIns="0" bIns="0" anchor="ctr">
            <a:noAutofit/>
          </a:bodyPr>
          <a:lstStyle>
            <a:defPPr algn="l">
              <a:defRPr sz="1125" b="1">
                <a:solidFill>
                  <a:srgbClr val="C59A4A"/>
                </a:solidFill>
                <a:latin typeface="Segoe UI" panose="020B0502040204020203"/>
                <a:ea typeface="Segoe UI" panose="020B0502040204020203"/>
                <a:cs typeface="Segoe UI" panose="020B0502040204020203"/>
              </a:defRPr>
            </a:defPPr>
          </a:lstStyle>
          <a:p>
            <a:pPr algn="l">
              <a:defRPr sz="1125" b="1">
                <a:solidFill>
                  <a:srgbClr val="C59A4A"/>
                </a:solidFill>
                <a:latin typeface="Segoe UI" panose="020B0502040204020203"/>
                <a:ea typeface="Segoe UI" panose="020B0502040204020203"/>
                <a:cs typeface="Segoe UI" panose="020B0502040204020203"/>
              </a:defRPr>
            </a:pPr>
            <a:r>
              <a:rPr sz="1125" b="1">
                <a:solidFill>
                  <a:srgbClr val="C59A4A"/>
                </a:solidFill>
                <a:latin typeface="Segoe UI" panose="020B0502040204020203"/>
                <a:ea typeface="Segoe UI" panose="020B0502040204020203"/>
                <a:cs typeface="Segoe UI" panose="020B0502040204020203"/>
              </a:rPr>
              <a:t>POLICY + DỮ LIỆU</a:t>
            </a:r>
            <a:endParaRPr sz="1125" b="1">
              <a:solidFill>
                <a:srgbClr val="C59A4A"/>
              </a:solidFill>
              <a:latin typeface="Segoe UI" panose="020B0502040204020203"/>
              <a:ea typeface="Segoe UI" panose="020B0502040204020203"/>
              <a:cs typeface="Segoe UI" panose="020B0502040204020203"/>
            </a:endParaRPr>
          </a:p>
        </p:txBody>
      </p:sp>
      <p:sp>
        <p:nvSpPr>
          <p:cNvPr id="21" name="S4_LayerText_4"/>
          <p:cNvSpPr>
            <a:spLocks noGrp="1"/>
          </p:cNvSpPr>
          <p:nvPr/>
        </p:nvSpPr>
        <p:spPr>
          <a:xfrm>
            <a:off x="1962150" y="4391025"/>
            <a:ext cx="5715000" cy="32385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PolicyDecisionEngine C# • EF Core • SQL Server • private storage • Undo event</a:t>
            </a:r>
            <a:endParaRPr sz="1050" b="1">
              <a:solidFill>
                <a:srgbClr val="F4F7FB"/>
              </a:solidFill>
              <a:latin typeface="Segoe UI" panose="020B0502040204020203"/>
              <a:ea typeface="Segoe UI" panose="020B0502040204020203"/>
              <a:cs typeface="Segoe UI" panose="020B0502040204020203"/>
            </a:endParaRPr>
          </a:p>
        </p:txBody>
      </p:sp>
      <p:sp>
        <p:nvSpPr>
          <p:cNvPr id="22" name="S4_TestBoundary"/>
          <p:cNvSpPr>
            <a:spLocks noGrp="1"/>
          </p:cNvSpPr>
          <p:nvPr/>
        </p:nvSpPr>
        <p:spPr>
          <a:xfrm>
            <a:off x="8153400" y="1428750"/>
            <a:ext cx="3486150" cy="3333750"/>
          </a:xfrm>
          <a:prstGeom prst="roundRect">
            <a:avLst>
              <a:gd name="adj" fmla="val 1714"/>
            </a:avLst>
          </a:prstGeom>
          <a:solidFill>
            <a:srgbClr val="162A42"/>
          </a:solidFill>
          <a:ln w="9525">
            <a:solidFill>
              <a:srgbClr val="C59A4A"/>
            </a:solidFill>
            <a:prstDash val="solid"/>
          </a:ln>
        </p:spPr>
      </p:sp>
      <p:sp>
        <p:nvSpPr>
          <p:cNvPr id="23" name="S4_TestTitle"/>
          <p:cNvSpPr>
            <a:spLocks noGrp="1"/>
          </p:cNvSpPr>
          <p:nvPr/>
        </p:nvSpPr>
        <p:spPr>
          <a:xfrm>
            <a:off x="8343900" y="1600200"/>
            <a:ext cx="3105150" cy="228600"/>
          </a:xfrm>
          <a:prstGeom prst="rect">
            <a:avLst/>
          </a:prstGeom>
          <a:noFill/>
          <a:ln w="0">
            <a:noFill/>
          </a:ln>
        </p:spPr>
        <p:txBody>
          <a:bodyPr lIns="0" tIns="0" rIns="0" bIns="0" anchor="t">
            <a:noAutofit/>
          </a:bodyPr>
          <a:lstStyle>
            <a:defPPr algn="l">
              <a:defRPr sz="1125" b="1">
                <a:solidFill>
                  <a:srgbClr val="C59A4A"/>
                </a:solidFill>
                <a:latin typeface="Segoe UI" panose="020B0502040204020203"/>
                <a:ea typeface="Segoe UI" panose="020B0502040204020203"/>
                <a:cs typeface="Segoe UI" panose="020B0502040204020203"/>
              </a:defRPr>
            </a:defPPr>
          </a:lstStyle>
          <a:p>
            <a:pPr algn="l">
              <a:defRPr sz="1125" b="1">
                <a:solidFill>
                  <a:srgbClr val="C59A4A"/>
                </a:solidFill>
                <a:latin typeface="Segoe UI" panose="020B0502040204020203"/>
                <a:ea typeface="Segoe UI" panose="020B0502040204020203"/>
                <a:cs typeface="Segoe UI" panose="020B0502040204020203"/>
              </a:defRPr>
            </a:pPr>
            <a:r>
              <a:rPr sz="1125" b="1">
                <a:solidFill>
                  <a:srgbClr val="C59A4A"/>
                </a:solidFill>
                <a:latin typeface="Segoe UI" panose="020B0502040204020203"/>
                <a:ea typeface="Segoe UI" panose="020B0502040204020203"/>
                <a:cs typeface="Segoe UI" panose="020B0502040204020203"/>
              </a:rPr>
              <a:t>DỮ LIỆU VÀ PROTOTYPE</a:t>
            </a:r>
            <a:endParaRPr sz="1125" b="1">
              <a:solidFill>
                <a:srgbClr val="C59A4A"/>
              </a:solidFill>
              <a:latin typeface="Segoe UI" panose="020B0502040204020203"/>
              <a:ea typeface="Segoe UI" panose="020B0502040204020203"/>
              <a:cs typeface="Segoe UI" panose="020B0502040204020203"/>
            </a:endParaRPr>
          </a:p>
        </p:txBody>
      </p:sp>
      <p:sp>
        <p:nvSpPr>
          <p:cNvPr id="24" name="S4_TestItem_1"/>
          <p:cNvSpPr>
            <a:spLocks noGrp="1"/>
          </p:cNvSpPr>
          <p:nvPr/>
        </p:nvSpPr>
        <p:spPr>
          <a:xfrm>
            <a:off x="8343900" y="2000250"/>
            <a:ext cx="3105150" cy="666750"/>
          </a:xfrm>
          <a:prstGeom prst="roundRect">
            <a:avLst>
              <a:gd name="adj" fmla="val 8571"/>
            </a:avLst>
          </a:prstGeom>
          <a:solidFill>
            <a:srgbClr val="112338"/>
          </a:solidFill>
          <a:ln w="9525">
            <a:solidFill>
              <a:srgbClr val="31445C"/>
            </a:solidFill>
            <a:prstDash val="solid"/>
          </a:ln>
        </p:spPr>
      </p:sp>
      <p:sp>
        <p:nvSpPr>
          <p:cNvPr id="25" name="S4_TestBadge_1"/>
          <p:cNvSpPr>
            <a:spLocks noGrp="1"/>
          </p:cNvSpPr>
          <p:nvPr/>
        </p:nvSpPr>
        <p:spPr>
          <a:xfrm>
            <a:off x="8458200" y="2095500"/>
            <a:ext cx="1409700" cy="266700"/>
          </a:xfrm>
          <a:prstGeom prst="roundRect">
            <a:avLst>
              <a:gd name="adj" fmla="val 21429"/>
            </a:avLst>
          </a:prstGeom>
          <a:solidFill>
            <a:srgbClr val="C59A4A"/>
          </a:solidFill>
          <a:ln w="9525">
            <a:solidFill>
              <a:srgbClr val="C59A4A"/>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MÔ PHỎNG / TEST</a:t>
            </a:r>
            <a:endParaRPr sz="900" b="1">
              <a:solidFill>
                <a:srgbClr val="091522"/>
              </a:solidFill>
              <a:latin typeface="Segoe UI" panose="020B0502040204020203"/>
              <a:ea typeface="Segoe UI" panose="020B0502040204020203"/>
              <a:cs typeface="Segoe UI" panose="020B0502040204020203"/>
            </a:endParaRPr>
          </a:p>
        </p:txBody>
      </p:sp>
      <p:sp>
        <p:nvSpPr>
          <p:cNvPr id="26" name="S4_TestLabel_1"/>
          <p:cNvSpPr>
            <a:spLocks noGrp="1"/>
          </p:cNvSpPr>
          <p:nvPr/>
        </p:nvSpPr>
        <p:spPr>
          <a:xfrm>
            <a:off x="10001250" y="2095500"/>
            <a:ext cx="1314450" cy="22860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30 ảnh tổng hợp</a:t>
            </a:r>
            <a:endParaRPr sz="1050" b="1">
              <a:solidFill>
                <a:srgbClr val="F4F7FB"/>
              </a:solidFill>
              <a:latin typeface="Segoe UI" panose="020B0502040204020203"/>
              <a:ea typeface="Segoe UI" panose="020B0502040204020203"/>
              <a:cs typeface="Segoe UI" panose="020B0502040204020203"/>
            </a:endParaRPr>
          </a:p>
        </p:txBody>
      </p:sp>
      <p:sp>
        <p:nvSpPr>
          <p:cNvPr id="27" name="S4_TestDetail_1"/>
          <p:cNvSpPr>
            <a:spLocks noGrp="1"/>
          </p:cNvSpPr>
          <p:nvPr/>
        </p:nvSpPr>
        <p:spPr>
          <a:xfrm>
            <a:off x="8458200" y="2400300"/>
            <a:ext cx="2762250" cy="190500"/>
          </a:xfrm>
          <a:prstGeom prst="rect">
            <a:avLst/>
          </a:prstGeom>
          <a:noFill/>
          <a:ln w="0">
            <a:noFill/>
          </a:ln>
        </p:spPr>
        <p:txBody>
          <a:bodyPr lIns="0" tIns="0" rIns="0" bIns="0" anchor="ctr">
            <a:noAutofit/>
          </a:bodyPr>
          <a:lstStyle>
            <a:defPPr algn="l">
              <a:defRPr sz="975" b="0">
                <a:solidFill>
                  <a:srgbClr val="A6B3C4"/>
                </a:solidFill>
                <a:latin typeface="Segoe UI" panose="020B0502040204020203"/>
                <a:ea typeface="Segoe UI" panose="020B0502040204020203"/>
                <a:cs typeface="Segoe UI" panose="020B0502040204020203"/>
              </a:defRPr>
            </a:defPPr>
          </a:lstStyle>
          <a:p>
            <a:pPr algn="l">
              <a:defRPr sz="975" b="0">
                <a:solidFill>
                  <a:srgbClr val="A6B3C4"/>
                </a:solidFill>
                <a:latin typeface="Segoe UI" panose="020B0502040204020203"/>
                <a:ea typeface="Segoe UI" panose="020B0502040204020203"/>
                <a:cs typeface="Segoe UI" panose="020B0502040204020203"/>
              </a:defRPr>
            </a:pPr>
            <a:r>
              <a:rPr sz="975" b="0">
                <a:solidFill>
                  <a:srgbClr val="A6B3C4"/>
                </a:solidFill>
                <a:latin typeface="Segoe UI" panose="020B0502040204020203"/>
                <a:ea typeface="Segoe UI" panose="020B0502040204020203"/>
                <a:cs typeface="Segoe UI" panose="020B0502040204020203"/>
              </a:rPr>
              <a:t>Dữ liệu synthetic dùng cho test</a:t>
            </a:r>
            <a:endParaRPr sz="975" b="0">
              <a:solidFill>
                <a:srgbClr val="A6B3C4"/>
              </a:solidFill>
              <a:latin typeface="Segoe UI" panose="020B0502040204020203"/>
              <a:ea typeface="Segoe UI" panose="020B0502040204020203"/>
              <a:cs typeface="Segoe UI" panose="020B0502040204020203"/>
            </a:endParaRPr>
          </a:p>
        </p:txBody>
      </p:sp>
      <p:sp>
        <p:nvSpPr>
          <p:cNvPr id="28" name="S4_TestItem_2"/>
          <p:cNvSpPr>
            <a:spLocks noGrp="1"/>
          </p:cNvSpPr>
          <p:nvPr/>
        </p:nvSpPr>
        <p:spPr>
          <a:xfrm>
            <a:off x="8343900" y="2838450"/>
            <a:ext cx="3105150" cy="666750"/>
          </a:xfrm>
          <a:prstGeom prst="roundRect">
            <a:avLst>
              <a:gd name="adj" fmla="val 8571"/>
            </a:avLst>
          </a:prstGeom>
          <a:solidFill>
            <a:srgbClr val="112338"/>
          </a:solidFill>
          <a:ln w="9525">
            <a:solidFill>
              <a:srgbClr val="31445C"/>
            </a:solidFill>
            <a:prstDash val="solid"/>
          </a:ln>
        </p:spPr>
      </p:sp>
      <p:sp>
        <p:nvSpPr>
          <p:cNvPr id="29" name="S4_TestBadge_2"/>
          <p:cNvSpPr>
            <a:spLocks noGrp="1"/>
          </p:cNvSpPr>
          <p:nvPr/>
        </p:nvSpPr>
        <p:spPr>
          <a:xfrm>
            <a:off x="8458200" y="2933700"/>
            <a:ext cx="1409700" cy="266700"/>
          </a:xfrm>
          <a:prstGeom prst="roundRect">
            <a:avLst>
              <a:gd name="adj" fmla="val 21429"/>
            </a:avLst>
          </a:prstGeom>
          <a:solidFill>
            <a:srgbClr val="C59A4A"/>
          </a:solidFill>
          <a:ln w="9525">
            <a:solidFill>
              <a:srgbClr val="C59A4A"/>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MÔ PHỎNG / TEST</a:t>
            </a:r>
            <a:endParaRPr sz="900" b="1">
              <a:solidFill>
                <a:srgbClr val="091522"/>
              </a:solidFill>
              <a:latin typeface="Segoe UI" panose="020B0502040204020203"/>
              <a:ea typeface="Segoe UI" panose="020B0502040204020203"/>
              <a:cs typeface="Segoe UI" panose="020B0502040204020203"/>
            </a:endParaRPr>
          </a:p>
        </p:txBody>
      </p:sp>
      <p:sp>
        <p:nvSpPr>
          <p:cNvPr id="30" name="S4_TestLabel_2"/>
          <p:cNvSpPr>
            <a:spLocks noGrp="1"/>
          </p:cNvSpPr>
          <p:nvPr/>
        </p:nvSpPr>
        <p:spPr>
          <a:xfrm>
            <a:off x="10001250" y="2933700"/>
            <a:ext cx="1314450" cy="22860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5 fixture Verify</a:t>
            </a:r>
            <a:endParaRPr sz="1050" b="1">
              <a:solidFill>
                <a:srgbClr val="F4F7FB"/>
              </a:solidFill>
              <a:latin typeface="Segoe UI" panose="020B0502040204020203"/>
              <a:ea typeface="Segoe UI" panose="020B0502040204020203"/>
              <a:cs typeface="Segoe UI" panose="020B0502040204020203"/>
            </a:endParaRPr>
          </a:p>
        </p:txBody>
      </p:sp>
      <p:sp>
        <p:nvSpPr>
          <p:cNvPr id="31" name="S4_TestDetail_2"/>
          <p:cNvSpPr>
            <a:spLocks noGrp="1"/>
          </p:cNvSpPr>
          <p:nvPr/>
        </p:nvSpPr>
        <p:spPr>
          <a:xfrm>
            <a:off x="8458200" y="3238500"/>
            <a:ext cx="2762250" cy="190500"/>
          </a:xfrm>
          <a:prstGeom prst="rect">
            <a:avLst/>
          </a:prstGeom>
          <a:noFill/>
          <a:ln w="0">
            <a:noFill/>
          </a:ln>
        </p:spPr>
        <p:txBody>
          <a:bodyPr lIns="0" tIns="0" rIns="0" bIns="0" anchor="ctr">
            <a:noAutofit/>
          </a:bodyPr>
          <a:lstStyle>
            <a:defPPr algn="l">
              <a:defRPr sz="975" b="0">
                <a:solidFill>
                  <a:srgbClr val="A6B3C4"/>
                </a:solidFill>
                <a:latin typeface="Segoe UI" panose="020B0502040204020203"/>
                <a:ea typeface="Segoe UI" panose="020B0502040204020203"/>
                <a:cs typeface="Segoe UI" panose="020B0502040204020203"/>
              </a:defRPr>
            </a:defPPr>
          </a:lstStyle>
          <a:p>
            <a:pPr algn="l">
              <a:defRPr sz="975" b="0">
                <a:solidFill>
                  <a:srgbClr val="A6B3C4"/>
                </a:solidFill>
                <a:latin typeface="Segoe UI" panose="020B0502040204020203"/>
                <a:ea typeface="Segoe UI" panose="020B0502040204020203"/>
                <a:cs typeface="Segoe UI" panose="020B0502040204020203"/>
              </a:defRPr>
            </a:pPr>
            <a:r>
              <a:rPr sz="975" b="0">
                <a:solidFill>
                  <a:srgbClr val="A6B3C4"/>
                </a:solidFill>
                <a:latin typeface="Segoe UI" panose="020B0502040204020203"/>
                <a:ea typeface="Segoe UI" panose="020B0502040204020203"/>
                <a:cs typeface="Segoe UI" panose="020B0502040204020203"/>
              </a:rPr>
              <a:t>Bộ minh họa chạy trên UI</a:t>
            </a:r>
            <a:endParaRPr sz="975" b="0">
              <a:solidFill>
                <a:srgbClr val="A6B3C4"/>
              </a:solidFill>
              <a:latin typeface="Segoe UI" panose="020B0502040204020203"/>
              <a:ea typeface="Segoe UI" panose="020B0502040204020203"/>
              <a:cs typeface="Segoe UI" panose="020B0502040204020203"/>
            </a:endParaRPr>
          </a:p>
        </p:txBody>
      </p:sp>
      <p:sp>
        <p:nvSpPr>
          <p:cNvPr id="32" name="S4_TestItem_3"/>
          <p:cNvSpPr>
            <a:spLocks noGrp="1"/>
          </p:cNvSpPr>
          <p:nvPr/>
        </p:nvSpPr>
        <p:spPr>
          <a:xfrm>
            <a:off x="8343900" y="3676650"/>
            <a:ext cx="3105150" cy="666750"/>
          </a:xfrm>
          <a:prstGeom prst="roundRect">
            <a:avLst>
              <a:gd name="adj" fmla="val 8571"/>
            </a:avLst>
          </a:prstGeom>
          <a:solidFill>
            <a:srgbClr val="112338"/>
          </a:solidFill>
          <a:ln w="9525">
            <a:solidFill>
              <a:srgbClr val="31445C"/>
            </a:solidFill>
            <a:prstDash val="solid"/>
          </a:ln>
        </p:spPr>
      </p:sp>
      <p:sp>
        <p:nvSpPr>
          <p:cNvPr id="33" name="S4_TestBadge_3"/>
          <p:cNvSpPr>
            <a:spLocks noGrp="1"/>
          </p:cNvSpPr>
          <p:nvPr/>
        </p:nvSpPr>
        <p:spPr>
          <a:xfrm>
            <a:off x="8458200" y="3771900"/>
            <a:ext cx="1409700" cy="266700"/>
          </a:xfrm>
          <a:prstGeom prst="roundRect">
            <a:avLst>
              <a:gd name="adj" fmla="val 21429"/>
            </a:avLst>
          </a:prstGeom>
          <a:solidFill>
            <a:srgbClr val="C59A4A"/>
          </a:solidFill>
          <a:ln w="9525">
            <a:solidFill>
              <a:srgbClr val="C59A4A"/>
            </a:solidFill>
            <a:prstDash val="solid"/>
          </a:ln>
        </p:spPr>
        <p:txBody>
          <a:bodyPr lIns="47625" tIns="0" rIns="47625" bIns="0" anchor="ctr">
            <a:noAutofit/>
          </a:bodyPr>
          <a:lstStyle>
            <a:defPPr algn="ctr">
              <a:defRPr sz="900" b="1">
                <a:solidFill>
                  <a:srgbClr val="091522"/>
                </a:solidFill>
                <a:latin typeface="Segoe UI" panose="020B0502040204020203"/>
                <a:ea typeface="Segoe UI" panose="020B0502040204020203"/>
                <a:cs typeface="Segoe UI" panose="020B0502040204020203"/>
              </a:defRPr>
            </a:defPPr>
          </a:lstStyle>
          <a:p>
            <a:pPr algn="ctr">
              <a:defRPr sz="900" b="1">
                <a:solidFill>
                  <a:srgbClr val="091522"/>
                </a:solidFill>
                <a:latin typeface="Segoe UI" panose="020B0502040204020203"/>
                <a:ea typeface="Segoe UI" panose="020B0502040204020203"/>
                <a:cs typeface="Segoe UI" panose="020B0502040204020203"/>
              </a:defRPr>
            </a:pPr>
            <a:r>
              <a:rPr sz="900" b="1">
                <a:solidFill>
                  <a:srgbClr val="091522"/>
                </a:solidFill>
                <a:latin typeface="Segoe UI" panose="020B0502040204020203"/>
                <a:ea typeface="Segoe UI" panose="020B0502040204020203"/>
                <a:cs typeface="Segoe UI" panose="020B0502040204020203"/>
              </a:rPr>
              <a:t>MÔ PHỎNG / TEST</a:t>
            </a:r>
            <a:endParaRPr sz="900" b="1">
              <a:solidFill>
                <a:srgbClr val="091522"/>
              </a:solidFill>
              <a:latin typeface="Segoe UI" panose="020B0502040204020203"/>
              <a:ea typeface="Segoe UI" panose="020B0502040204020203"/>
              <a:cs typeface="Segoe UI" panose="020B0502040204020203"/>
            </a:endParaRPr>
          </a:p>
        </p:txBody>
      </p:sp>
      <p:sp>
        <p:nvSpPr>
          <p:cNvPr id="34" name="S4_TestLabel_3"/>
          <p:cNvSpPr>
            <a:spLocks noGrp="1"/>
          </p:cNvSpPr>
          <p:nvPr/>
        </p:nvSpPr>
        <p:spPr>
          <a:xfrm>
            <a:off x="10001250" y="3771900"/>
            <a:ext cx="1314450" cy="228600"/>
          </a:xfrm>
          <a:prstGeom prst="rect">
            <a:avLst/>
          </a:prstGeom>
          <a:noFill/>
          <a:ln w="0">
            <a:noFill/>
          </a:ln>
        </p:spPr>
        <p:txBody>
          <a:bodyPr lIns="0" tIns="0" rIns="0" bIns="0" anchor="ctr">
            <a:noAutofit/>
          </a:bodyPr>
          <a:lstStyle>
            <a:defPPr algn="l">
              <a:defRPr sz="1050" b="1">
                <a:solidFill>
                  <a:srgbClr val="F4F7FB"/>
                </a:solidFill>
                <a:latin typeface="Segoe UI" panose="020B0502040204020203"/>
                <a:ea typeface="Segoe UI" panose="020B0502040204020203"/>
                <a:cs typeface="Segoe UI" panose="020B0502040204020203"/>
              </a:defRPr>
            </a:defPPr>
          </a:lstStyle>
          <a:p>
            <a:pPr algn="l">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Evidence overlay</a:t>
            </a:r>
            <a:endParaRPr sz="1050" b="1">
              <a:solidFill>
                <a:srgbClr val="F4F7FB"/>
              </a:solidFill>
              <a:latin typeface="Segoe UI" panose="020B0502040204020203"/>
              <a:ea typeface="Segoe UI" panose="020B0502040204020203"/>
              <a:cs typeface="Segoe UI" panose="020B0502040204020203"/>
            </a:endParaRPr>
          </a:p>
        </p:txBody>
      </p:sp>
      <p:sp>
        <p:nvSpPr>
          <p:cNvPr id="35" name="S4_TestDetail_3"/>
          <p:cNvSpPr>
            <a:spLocks noGrp="1"/>
          </p:cNvSpPr>
          <p:nvPr/>
        </p:nvSpPr>
        <p:spPr>
          <a:xfrm>
            <a:off x="8458200" y="4076700"/>
            <a:ext cx="2762250" cy="190500"/>
          </a:xfrm>
          <a:prstGeom prst="rect">
            <a:avLst/>
          </a:prstGeom>
          <a:noFill/>
          <a:ln w="0">
            <a:noFill/>
          </a:ln>
        </p:spPr>
        <p:txBody>
          <a:bodyPr lIns="0" tIns="0" rIns="0" bIns="0" anchor="ctr">
            <a:noAutofit/>
          </a:bodyPr>
          <a:lstStyle>
            <a:defPPr algn="l">
              <a:defRPr sz="975" b="0">
                <a:solidFill>
                  <a:srgbClr val="A6B3C4"/>
                </a:solidFill>
                <a:latin typeface="Segoe UI" panose="020B0502040204020203"/>
                <a:ea typeface="Segoe UI" panose="020B0502040204020203"/>
                <a:cs typeface="Segoe UI" panose="020B0502040204020203"/>
              </a:defRPr>
            </a:defPPr>
          </a:lstStyle>
          <a:p>
            <a:pPr algn="l">
              <a:defRPr sz="975" b="0">
                <a:solidFill>
                  <a:srgbClr val="A6B3C4"/>
                </a:solidFill>
                <a:latin typeface="Segoe UI" panose="020B0502040204020203"/>
                <a:ea typeface="Segoe UI" panose="020B0502040204020203"/>
                <a:cs typeface="Segoe UI" panose="020B0502040204020203"/>
              </a:defRPr>
            </a:pPr>
            <a:r>
              <a:rPr sz="975" b="0">
                <a:solidFill>
                  <a:srgbClr val="A6B3C4"/>
                </a:solidFill>
                <a:latin typeface="Segoe UI" panose="020B0502040204020203"/>
                <a:ea typeface="Segoe UI" panose="020B0502040204020203"/>
                <a:cs typeface="Segoe UI" panose="020B0502040204020203"/>
              </a:rPr>
              <a:t>Prototype gắn hash; chưa nối extraction</a:t>
            </a:r>
            <a:endParaRPr sz="975" b="0">
              <a:solidFill>
                <a:srgbClr val="A6B3C4"/>
              </a:solidFill>
              <a:latin typeface="Segoe UI" panose="020B0502040204020203"/>
              <a:ea typeface="Segoe UI" panose="020B0502040204020203"/>
              <a:cs typeface="Segoe UI" panose="020B0502040204020203"/>
            </a:endParaRPr>
          </a:p>
        </p:txBody>
      </p:sp>
      <p:sp>
        <p:nvSpPr>
          <p:cNvPr id="36" name="S4_DeploymentBand"/>
          <p:cNvSpPr>
            <a:spLocks noGrp="1"/>
          </p:cNvSpPr>
          <p:nvPr/>
        </p:nvSpPr>
        <p:spPr>
          <a:xfrm>
            <a:off x="552450" y="5105400"/>
            <a:ext cx="11087100" cy="914400"/>
          </a:xfrm>
          <a:prstGeom prst="roundRect">
            <a:avLst>
              <a:gd name="adj" fmla="val 6250"/>
            </a:avLst>
          </a:prstGeom>
          <a:solidFill>
            <a:srgbClr val="162A42"/>
          </a:solidFill>
          <a:ln w="9525">
            <a:solidFill>
              <a:srgbClr val="31445C"/>
            </a:solidFill>
            <a:prstDash val="solid"/>
          </a:ln>
        </p:spPr>
      </p:sp>
      <p:sp>
        <p:nvSpPr>
          <p:cNvPr id="37" name="S4_DeploymentLabel"/>
          <p:cNvSpPr>
            <a:spLocks noGrp="1"/>
          </p:cNvSpPr>
          <p:nvPr/>
        </p:nvSpPr>
        <p:spPr>
          <a:xfrm>
            <a:off x="742950" y="5238750"/>
            <a:ext cx="4000500" cy="190500"/>
          </a:xfrm>
          <a:prstGeom prst="rect">
            <a:avLst/>
          </a:prstGeom>
          <a:noFill/>
          <a:ln w="0">
            <a:noFill/>
          </a:ln>
        </p:spPr>
        <p:txBody>
          <a:bodyPr lIns="0" tIns="0" rIns="0" bIns="0" anchor="t">
            <a:noAutofit/>
          </a:bodyPr>
          <a:lstStyle>
            <a:defPPr algn="l">
              <a:defRPr sz="975" b="1">
                <a:solidFill>
                  <a:srgbClr val="A6B3C4"/>
                </a:solidFill>
                <a:latin typeface="Segoe UI" panose="020B0502040204020203"/>
                <a:ea typeface="Segoe UI" panose="020B0502040204020203"/>
                <a:cs typeface="Segoe UI" panose="020B0502040204020203"/>
              </a:defRPr>
            </a:defPPr>
          </a:lstStyle>
          <a:p>
            <a:pPr algn="l">
              <a:defRPr sz="975" b="1">
                <a:solidFill>
                  <a:srgbClr val="A6B3C4"/>
                </a:solidFill>
                <a:latin typeface="Segoe UI" panose="020B0502040204020203"/>
                <a:ea typeface="Segoe UI" panose="020B0502040204020203"/>
                <a:cs typeface="Segoe UI" panose="020B0502040204020203"/>
              </a:defRPr>
            </a:pPr>
            <a:r>
              <a:rPr sz="975" b="1">
                <a:solidFill>
                  <a:srgbClr val="A6B3C4"/>
                </a:solidFill>
                <a:latin typeface="Segoe UI" panose="020B0502040204020203"/>
                <a:ea typeface="Segoe UI" panose="020B0502040204020203"/>
                <a:cs typeface="Segoe UI" panose="020B0502040204020203"/>
              </a:rPr>
              <a:t>MÔ HÌNH HIỆN TẠI VÀ RANH GIỚI BẢO MẬT</a:t>
            </a:r>
            <a:endParaRPr sz="975" b="1">
              <a:solidFill>
                <a:srgbClr val="A6B3C4"/>
              </a:solidFill>
              <a:latin typeface="Segoe UI" panose="020B0502040204020203"/>
              <a:ea typeface="Segoe UI" panose="020B0502040204020203"/>
              <a:cs typeface="Segoe UI" panose="020B0502040204020203"/>
            </a:endParaRPr>
          </a:p>
        </p:txBody>
      </p:sp>
      <p:sp>
        <p:nvSpPr>
          <p:cNvPr id="38" name="S4_DeploymentText"/>
          <p:cNvSpPr>
            <a:spLocks noGrp="1"/>
          </p:cNvSpPr>
          <p:nvPr/>
        </p:nvSpPr>
        <p:spPr>
          <a:xfrm>
            <a:off x="742950" y="5486400"/>
            <a:ext cx="10706100" cy="190500"/>
          </a:xfrm>
          <a:prstGeom prst="rect">
            <a:avLst/>
          </a:prstGeom>
          <a:noFill/>
          <a:ln w="0">
            <a:noFill/>
          </a:ln>
        </p:spPr>
        <p:txBody>
          <a:bodyPr lIns="0" tIns="0" rIns="0" bIns="0" anchor="ctr">
            <a:noAutofit/>
          </a:bodyPr>
          <a:lstStyle>
            <a:defPPr algn="l">
              <a:defRPr sz="1125" b="1">
                <a:solidFill>
                  <a:srgbClr val="F4F7FB"/>
                </a:solidFill>
                <a:latin typeface="Segoe UI" panose="020B0502040204020203"/>
                <a:ea typeface="Segoe UI" panose="020B0502040204020203"/>
                <a:cs typeface="Segoe UI" panose="020B0502040204020203"/>
              </a:defRPr>
            </a:defPPr>
          </a:lstStyle>
          <a:p>
            <a:pPr algn="l">
              <a:defRPr sz="1125" b="1">
                <a:solidFill>
                  <a:srgbClr val="F4F7FB"/>
                </a:solidFill>
                <a:latin typeface="Segoe UI" panose="020B0502040204020203"/>
                <a:ea typeface="Segoe UI" panose="020B0502040204020203"/>
                <a:cs typeface="Segoe UI" panose="020B0502040204020203"/>
              </a:defRPr>
            </a:pPr>
            <a:r>
              <a:rPr sz="1125" b="1">
                <a:solidFill>
                  <a:srgbClr val="F4F7FB"/>
                </a:solidFill>
                <a:latin typeface="Segoe UI" panose="020B0502040204020203"/>
                <a:ea typeface="Segoe UI" panose="020B0502040204020203"/>
                <a:cs typeface="Segoe UI" panose="020B0502040204020203"/>
              </a:rPr>
              <a:t>localhost • một process • OpenRouter / Alibaba • fallback Ollama tắt</a:t>
            </a:r>
            <a:endParaRPr sz="1125" b="1">
              <a:solidFill>
                <a:srgbClr val="F4F7FB"/>
              </a:solidFill>
              <a:latin typeface="Segoe UI" panose="020B0502040204020203"/>
              <a:ea typeface="Segoe UI" panose="020B0502040204020203"/>
              <a:cs typeface="Segoe UI" panose="020B0502040204020203"/>
            </a:endParaRPr>
          </a:p>
        </p:txBody>
      </p:sp>
      <p:sp>
        <p:nvSpPr>
          <p:cNvPr id="39" name="S4_SecurityBoundaryText"/>
          <p:cNvSpPr>
            <a:spLocks noGrp="1"/>
          </p:cNvSpPr>
          <p:nvPr/>
        </p:nvSpPr>
        <p:spPr>
          <a:xfrm>
            <a:off x="742950" y="5734050"/>
            <a:ext cx="10706100" cy="171450"/>
          </a:xfrm>
          <a:prstGeom prst="rect">
            <a:avLst/>
          </a:prstGeom>
          <a:noFill/>
          <a:ln w="0">
            <a:noFill/>
          </a:ln>
        </p:spPr>
        <p:txBody>
          <a:bodyPr lIns="0" tIns="0" rIns="0" bIns="0" anchor="ctr">
            <a:noAutofit/>
          </a:bodyPr>
          <a:lstStyle>
            <a:defPPr algn="l">
              <a:defRPr sz="1050" b="1">
                <a:solidFill>
                  <a:srgbClr val="A6B3C4"/>
                </a:solidFill>
                <a:latin typeface="Segoe UI" panose="020B0502040204020203"/>
                <a:ea typeface="Segoe UI" panose="020B0502040204020203"/>
                <a:cs typeface="Segoe UI" panose="020B0502040204020203"/>
              </a:defRPr>
            </a:defPPr>
          </a:lstStyle>
          <a:p>
            <a:pPr algn="l">
              <a:defRPr sz="1050" b="1">
                <a:solidFill>
                  <a:srgbClr val="A6B3C4"/>
                </a:solidFill>
                <a:latin typeface="Segoe UI" panose="020B0502040204020203"/>
                <a:ea typeface="Segoe UI" panose="020B0502040204020203"/>
                <a:cs typeface="Segoe UI" panose="020B0502040204020203"/>
              </a:defRPr>
            </a:pPr>
            <a:r>
              <a:rPr sz="1050" b="1">
                <a:solidFill>
                  <a:srgbClr val="A6B3C4"/>
                </a:solidFill>
                <a:latin typeface="Segoe UI" panose="020B0502040204020203"/>
                <a:ea typeface="Segoe UI" panose="020B0502040204020203"/>
                <a:cs typeface="Segoe UI" panose="020B0502040204020203"/>
              </a:rPr>
              <a:t>Identity chỉ là metadata demo • chưa production RBAC • chưa sandbox file parser</a:t>
            </a:r>
            <a:endParaRPr sz="1050" b="1">
              <a:solidFill>
                <a:srgbClr val="A6B3C4"/>
              </a:solidFill>
              <a:latin typeface="Segoe UI" panose="020B0502040204020203"/>
              <a:ea typeface="Segoe UI" panose="020B0502040204020203"/>
              <a:cs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522"/>
        </a:solidFill>
        <a:effectLst/>
      </p:bgPr>
    </p:bg>
    <p:spTree>
      <p:nvGrpSpPr>
        <p:cNvPr id="1" name=""/>
        <p:cNvGrpSpPr/>
        <p:nvPr/>
      </p:nvGrpSpPr>
      <p:grpSpPr/>
      <p:sp>
        <p:nvSpPr>
          <p:cNvPr id="9" name="Slide_Title"/>
          <p:cNvSpPr>
            <a:spLocks noGrp="1"/>
          </p:cNvSpPr>
          <p:nvPr/>
        </p:nvSpPr>
        <p:spPr>
          <a:xfrm>
            <a:off x="552450" y="266700"/>
            <a:ext cx="11087100" cy="400050"/>
          </a:xfrm>
          <a:prstGeom prst="rect">
            <a:avLst/>
          </a:prstGeom>
          <a:noFill/>
          <a:ln w="0">
            <a:noFill/>
          </a:ln>
        </p:spPr>
        <p:txBody>
          <a:bodyPr lIns="0" tIns="0" rIns="0" bIns="0" anchor="t">
            <a:noAutofit/>
          </a:bodyPr>
          <a:lstStyle>
            <a:defPPr algn="l">
              <a:defRPr sz="2400" b="1">
                <a:solidFill>
                  <a:srgbClr val="F4F7FB"/>
                </a:solidFill>
                <a:latin typeface="Segoe UI" panose="020B0502040204020203"/>
                <a:ea typeface="Segoe UI" panose="020B0502040204020203"/>
                <a:cs typeface="Segoe UI" panose="020B0502040204020203"/>
              </a:defRPr>
            </a:defPPr>
          </a:lstStyle>
          <a:p>
            <a:pPr algn="l">
              <a:defRPr sz="2400" b="1">
                <a:solidFill>
                  <a:srgbClr val="F4F7FB"/>
                </a:solidFill>
                <a:latin typeface="Segoe UI" panose="020B0502040204020203"/>
                <a:ea typeface="Segoe UI" panose="020B0502040204020203"/>
                <a:cs typeface="Segoe UI" panose="020B0502040204020203"/>
              </a:defRPr>
            </a:pPr>
            <a:r>
              <a:rPr sz="2400" b="1">
                <a:solidFill>
                  <a:srgbClr val="F4F7FB"/>
                </a:solidFill>
                <a:latin typeface="Segoe UI" panose="020B0502040204020203"/>
                <a:ea typeface="Segoe UI" panose="020B0502040204020203"/>
                <a:cs typeface="Segoe UI" panose="020B0502040204020203"/>
              </a:rPr>
              <a:t>Từ demo đến production: lỗi, hạn chế và security gates</a:t>
            </a:r>
            <a:endParaRPr sz="2400" b="1">
              <a:solidFill>
                <a:srgbClr val="F4F7FB"/>
              </a:solidFill>
              <a:latin typeface="Segoe UI" panose="020B0502040204020203"/>
              <a:ea typeface="Segoe UI" panose="020B0502040204020203"/>
              <a:cs typeface="Segoe UI" panose="020B0502040204020203"/>
            </a:endParaRPr>
          </a:p>
        </p:txBody>
      </p:sp>
      <p:sp>
        <p:nvSpPr>
          <p:cNvPr id="2" name="Slide_Subtitle"/>
          <p:cNvSpPr>
            <a:spLocks noGrp="1"/>
          </p:cNvSpPr>
          <p:nvPr/>
        </p:nvSpPr>
        <p:spPr>
          <a:xfrm>
            <a:off x="552450" y="723900"/>
            <a:ext cx="11087100" cy="266700"/>
          </a:xfrm>
          <a:prstGeom prst="rect">
            <a:avLst/>
          </a:prstGeom>
          <a:noFill/>
          <a:ln w="0">
            <a:noFill/>
          </a:ln>
        </p:spPr>
        <p:txBody>
          <a:bodyPr lIns="0" tIns="0" rIns="0" bIns="0" anchor="t">
            <a:noAutofit/>
          </a:bodyPr>
          <a:lstStyle>
            <a:defPPr algn="l">
              <a:defRPr sz="1275" b="0">
                <a:solidFill>
                  <a:srgbClr val="A6B3C4"/>
                </a:solidFill>
                <a:latin typeface="Segoe UI" panose="020B0502040204020203"/>
                <a:ea typeface="Segoe UI" panose="020B0502040204020203"/>
                <a:cs typeface="Segoe UI" panose="020B0502040204020203"/>
              </a:defRPr>
            </a:defPPr>
          </a:lstStyle>
          <a:p>
            <a:pPr algn="l">
              <a:defRPr sz="1275" b="0">
                <a:solidFill>
                  <a:srgbClr val="A6B3C4"/>
                </a:solidFill>
                <a:latin typeface="Segoe UI" panose="020B0502040204020203"/>
                <a:ea typeface="Segoe UI" panose="020B0502040204020203"/>
                <a:cs typeface="Segoe UI" panose="020B0502040204020203"/>
              </a:defRPr>
            </a:pPr>
            <a:r>
              <a:rPr sz="1275" b="0">
                <a:solidFill>
                  <a:srgbClr val="A6B3C4"/>
                </a:solidFill>
                <a:latin typeface="Segoe UI" panose="020B0502040204020203"/>
                <a:ea typeface="Segoe UI" panose="020B0502040204020203"/>
                <a:cs typeface="Segoe UI" panose="020B0502040204020203"/>
              </a:rPr>
              <a:t>Identity, least privilege, sandbox và scale đều cần gate xác nhận trước pilot.</a:t>
            </a:r>
            <a:endParaRPr sz="1275" b="0">
              <a:solidFill>
                <a:srgbClr val="A6B3C4"/>
              </a:solidFill>
              <a:latin typeface="Segoe UI" panose="020B0502040204020203"/>
              <a:ea typeface="Segoe UI" panose="020B0502040204020203"/>
              <a:cs typeface="Segoe UI" panose="020B0502040204020203"/>
            </a:endParaRPr>
          </a:p>
        </p:txBody>
      </p:sp>
      <p:sp>
        <p:nvSpPr>
          <p:cNvPr id="3" name="S5_ObservedHeading"/>
          <p:cNvSpPr>
            <a:spLocks noGrp="1"/>
          </p:cNvSpPr>
          <p:nvPr/>
        </p:nvSpPr>
        <p:spPr>
          <a:xfrm>
            <a:off x="552450" y="1314450"/>
            <a:ext cx="5334000" cy="228600"/>
          </a:xfrm>
          <a:prstGeom prst="rect">
            <a:avLst/>
          </a:prstGeom>
          <a:noFill/>
          <a:ln w="0">
            <a:noFill/>
          </a:ln>
        </p:spPr>
        <p:txBody>
          <a:bodyPr lIns="0" tIns="0" rIns="0" bIns="0" anchor="t">
            <a:noAutofit/>
          </a:bodyPr>
          <a:lstStyle>
            <a:defPPr algn="l">
              <a:defRPr sz="1125" b="1">
                <a:solidFill>
                  <a:srgbClr val="C59A4A"/>
                </a:solidFill>
                <a:latin typeface="Segoe UI" panose="020B0502040204020203"/>
                <a:ea typeface="Segoe UI" panose="020B0502040204020203"/>
                <a:cs typeface="Segoe UI" panose="020B0502040204020203"/>
              </a:defRPr>
            </a:defPPr>
          </a:lstStyle>
          <a:p>
            <a:pPr algn="l">
              <a:defRPr sz="1125" b="1">
                <a:solidFill>
                  <a:srgbClr val="C59A4A"/>
                </a:solidFill>
                <a:latin typeface="Segoe UI" panose="020B0502040204020203"/>
                <a:ea typeface="Segoe UI" panose="020B0502040204020203"/>
                <a:cs typeface="Segoe UI" panose="020B0502040204020203"/>
              </a:defRPr>
            </a:pPr>
            <a:r>
              <a:rPr sz="1125" b="1">
                <a:solidFill>
                  <a:srgbClr val="C59A4A"/>
                </a:solidFill>
                <a:latin typeface="Segoe UI" panose="020B0502040204020203"/>
                <a:ea typeface="Segoe UI" panose="020B0502040204020203"/>
                <a:cs typeface="Segoe UI" panose="020B0502040204020203"/>
              </a:rPr>
              <a:t>1. LỖI ĐÃ QUAN SÁT</a:t>
            </a:r>
            <a:endParaRPr sz="1125" b="1">
              <a:solidFill>
                <a:srgbClr val="C59A4A"/>
              </a:solidFill>
              <a:latin typeface="Segoe UI" panose="020B0502040204020203"/>
              <a:ea typeface="Segoe UI" panose="020B0502040204020203"/>
              <a:cs typeface="Segoe UI" panose="020B0502040204020203"/>
            </a:endParaRPr>
          </a:p>
        </p:txBody>
      </p:sp>
      <p:sp>
        <p:nvSpPr>
          <p:cNvPr id="4" name="S5_RoadmapHeading"/>
          <p:cNvSpPr>
            <a:spLocks noGrp="1"/>
          </p:cNvSpPr>
          <p:nvPr/>
        </p:nvSpPr>
        <p:spPr>
          <a:xfrm>
            <a:off x="6115050" y="1314450"/>
            <a:ext cx="5524500" cy="228600"/>
          </a:xfrm>
          <a:prstGeom prst="rect">
            <a:avLst/>
          </a:prstGeom>
          <a:noFill/>
          <a:ln w="0">
            <a:noFill/>
          </a:ln>
        </p:spPr>
        <p:txBody>
          <a:bodyPr lIns="0" tIns="0" rIns="0" bIns="0" anchor="t">
            <a:noAutofit/>
          </a:bodyPr>
          <a:lstStyle>
            <a:defPPr algn="l">
              <a:defRPr sz="1050" b="1">
                <a:solidFill>
                  <a:srgbClr val="4FAF91"/>
                </a:solidFill>
                <a:latin typeface="Segoe UI" panose="020B0502040204020203"/>
                <a:ea typeface="Segoe UI" panose="020B0502040204020203"/>
                <a:cs typeface="Segoe UI" panose="020B0502040204020203"/>
              </a:defRPr>
            </a:defPPr>
          </a:lstStyle>
          <a:p>
            <a:pPr algn="l">
              <a:defRPr sz="1050" b="1">
                <a:solidFill>
                  <a:srgbClr val="4FAF91"/>
                </a:solidFill>
                <a:latin typeface="Segoe UI" panose="020B0502040204020203"/>
                <a:ea typeface="Segoe UI" panose="020B0502040204020203"/>
                <a:cs typeface="Segoe UI" panose="020B0502040204020203"/>
              </a:defRPr>
            </a:pPr>
            <a:r>
              <a:rPr sz="1050" b="1">
                <a:solidFill>
                  <a:srgbClr val="4FAF91"/>
                </a:solidFill>
                <a:latin typeface="Segoe UI" panose="020B0502040204020203"/>
                <a:ea typeface="Segoe UI" panose="020B0502040204020203"/>
                <a:cs typeface="Segoe UI" panose="020B0502040204020203"/>
              </a:rPr>
              <a:t>2. HẠN CHẾ CÒN LẠI                         3. HƯỚNG XỬ LÝ TIẾP THEO</a:t>
            </a:r>
            <a:endParaRPr sz="1050" b="1">
              <a:solidFill>
                <a:srgbClr val="4FAF91"/>
              </a:solidFill>
              <a:latin typeface="Segoe UI" panose="020B0502040204020203"/>
              <a:ea typeface="Segoe UI" panose="020B0502040204020203"/>
              <a:cs typeface="Segoe UI" panose="020B0502040204020203"/>
            </a:endParaRPr>
          </a:p>
        </p:txBody>
      </p:sp>
      <p:graphicFrame>
        <p:nvGraphicFramePr>
          <p:cNvPr id="5" name="S5_ObservedErrorsTable"/>
          <p:cNvGraphicFramePr/>
          <p:nvPr/>
        </p:nvGraphicFramePr>
        <p:xfrm>
          <a:off x="552450" y="1619250"/>
          <a:ext cx="5334000" cy="4000500"/>
        </p:xfrm>
        <a:graphic>
          <a:graphicData uri="http://schemas.openxmlformats.org/drawingml/2006/table">
            <a:tbl>
              <a:tblPr/>
              <a:tblGrid>
                <a:gridCol w="1428750"/>
                <a:gridCol w="3905250"/>
              </a:tblGrid>
              <a:tr h="400050">
                <a:tc>
                  <a:txBody>
                    <a:bodyPr/>
                    <a:lstStyle/>
                    <a:p>
                      <a:r>
                        <a:rPr sz="900" b="1">
                          <a:solidFill>
                            <a:srgbClr val="A6B3C4"/>
                          </a:solidFill>
                          <a:latin typeface="Segoe UI" panose="020B0502040204020203"/>
                          <a:ea typeface="Segoe UI" panose="020B0502040204020203"/>
                          <a:cs typeface="Segoe UI" panose="020B0502040204020203"/>
                        </a:rPr>
                        <a:t>EVIDENCE</a:t>
                      </a:r>
                      <a:endParaRPr sz="900" b="1">
                        <a:solidFill>
                          <a:srgbClr val="A6B3C4"/>
                        </a:solidFill>
                        <a:latin typeface="Segoe UI" panose="020B0502040204020203"/>
                        <a:ea typeface="Segoe UI" panose="020B0502040204020203"/>
                        <a:cs typeface="Segoe UI" panose="020B0502040204020203"/>
                      </a:endParaRPr>
                    </a:p>
                  </a:txBody>
                  <a:tcPr marL="85725" marR="85725" marT="66675" marB="66675">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NGUYÊN NHÂN VÀ PHẢN ỨNG CỦA HỆ THỐNG</a:t>
                      </a:r>
                      <a:endParaRPr sz="900" b="1">
                        <a:solidFill>
                          <a:srgbClr val="A6B3C4"/>
                        </a:solidFill>
                        <a:latin typeface="Segoe UI" panose="020B0502040204020203"/>
                        <a:ea typeface="Segoe UI" panose="020B0502040204020203"/>
                        <a:cs typeface="Segoe UI" panose="020B0502040204020203"/>
                      </a:endParaRPr>
                    </a:p>
                  </a:txBody>
                  <a:tcPr marL="85725" marR="85725" marT="66675" marB="66675">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1200150">
                <a:tc>
                  <a:txBody>
                    <a:bodyPr/>
                    <a:lstStyle/>
                    <a:p>
                      <a:r>
                        <a:rPr sz="1050" b="1">
                          <a:solidFill>
                            <a:srgbClr val="C59A4A"/>
                          </a:solidFill>
                          <a:latin typeface="Segoe UI" panose="020B0502040204020203"/>
                          <a:ea typeface="Segoe UI" panose="020B0502040204020203"/>
                          <a:cs typeface="Segoe UI" panose="020B0502040204020203"/>
                        </a:rPr>
                        <a:t>2/10</a:t>
                      </a:r>
                      <a:endParaRPr sz="1050" b="1">
                        <a:solidFill>
                          <a:srgbClr val="C59A4A"/>
                        </a:solidFill>
                        <a:latin typeface="Segoe UI" panose="020B0502040204020203"/>
                        <a:ea typeface="Segoe UI" panose="020B0502040204020203"/>
                        <a:cs typeface="Segoe UI" panose="020B0502040204020203"/>
                      </a:endParaRPr>
                    </a:p>
                    <a:p>
                      <a:r>
                        <a:rPr sz="1050" b="1">
                          <a:solidFill>
                            <a:srgbClr val="C59A4A"/>
                          </a:solidFill>
                          <a:latin typeface="Segoe UI" panose="020B0502040204020203"/>
                          <a:ea typeface="Segoe UI" panose="020B0502040204020203"/>
                          <a:cs typeface="Segoe UI" panose="020B0502040204020203"/>
                        </a:rPr>
                        <a:t>over-escalation</a:t>
                      </a:r>
                      <a:endParaRPr sz="1050" b="1">
                        <a:solidFill>
                          <a:srgbClr val="C59A4A"/>
                        </a:solidFill>
                        <a:latin typeface="Segoe UI" panose="020B0502040204020203"/>
                        <a:ea typeface="Segoe UI" panose="020B0502040204020203"/>
                        <a:cs typeface="Segoe UI" panose="020B0502040204020203"/>
                      </a:endParaRP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FAHASA: nhãn ‘Thanh toán’ bị validator từ chối. GS25_2: model bỏ tên cửa hàng gần vùng che. AURA chuyển FACT để người duyệt kiểm tra; 0 missed, 0 lỗi provider.</a:t>
                      </a:r>
                      <a:endParaRPr sz="900">
                        <a:solidFill>
                          <a:srgbClr val="F4F7FB"/>
                        </a:solidFill>
                        <a:latin typeface="Segoe UI" panose="020B0502040204020203"/>
                        <a:ea typeface="Segoe UI" panose="020B0502040204020203"/>
                        <a:cs typeface="Segoe UI" panose="020B0502040204020203"/>
                      </a:endParaRPr>
                    </a:p>
                  </a:txBody>
                  <a:tcPr marL="85725" marR="85725" marT="66675" marB="66675">
                    <a:lnR w="9525">
                      <a:solidFill>
                        <a:srgbClr val="31445C"/>
                      </a:solidFill>
                      <a:prstDash val="solid"/>
                    </a:lnR>
                    <a:lnB w="9525">
                      <a:solidFill>
                        <a:srgbClr val="31445C"/>
                      </a:solidFill>
                      <a:prstDash val="solid"/>
                    </a:lnB>
                    <a:solidFill>
                      <a:srgbClr val="112338"/>
                    </a:solidFill>
                  </a:tcPr>
                </a:tc>
              </a:tr>
              <a:tr h="1200150">
                <a:tc>
                  <a:txBody>
                    <a:bodyPr/>
                    <a:lstStyle/>
                    <a:p>
                      <a:r>
                        <a:rPr sz="1050" b="1">
                          <a:solidFill>
                            <a:srgbClr val="C59A4A"/>
                          </a:solidFill>
                          <a:latin typeface="Segoe UI" panose="020B0502040204020203"/>
                          <a:ea typeface="Segoe UI" panose="020B0502040204020203"/>
                          <a:cs typeface="Segoe UI" panose="020B0502040204020203"/>
                        </a:rPr>
                        <a:t>2/30</a:t>
                      </a:r>
                      <a:endParaRPr sz="1050" b="1">
                        <a:solidFill>
                          <a:srgbClr val="C59A4A"/>
                        </a:solidFill>
                        <a:latin typeface="Segoe UI" panose="020B0502040204020203"/>
                        <a:ea typeface="Segoe UI" panose="020B0502040204020203"/>
                        <a:cs typeface="Segoe UI" panose="020B0502040204020203"/>
                      </a:endParaRPr>
                    </a:p>
                    <a:p>
                      <a:r>
                        <a:rPr sz="1050" b="1">
                          <a:solidFill>
                            <a:srgbClr val="C59A4A"/>
                          </a:solidFill>
                          <a:latin typeface="Segoe UI" panose="020B0502040204020203"/>
                          <a:ea typeface="Segoe UI" panose="020B0502040204020203"/>
                          <a:cs typeface="Segoe UI" panose="020B0502040204020203"/>
                        </a:rPr>
                        <a:t>field trọng yếu sai</a:t>
                      </a:r>
                      <a:endParaRPr sz="1050" b="1">
                        <a:solidFill>
                          <a:srgbClr val="C59A4A"/>
                        </a:solidFill>
                        <a:latin typeface="Segoe UI" panose="020B0502040204020203"/>
                        <a:ea typeface="Segoe UI" panose="020B0502040204020203"/>
                        <a:cs typeface="Segoe UI" panose="020B0502040204020203"/>
                      </a:endParaRP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Phương Nam: vùng che làm mất ngày và model suy diễn nhầm identifier. Quyết định vẫn FACT; evidence công bố rõ confounder, không ghi đè raw.</a:t>
                      </a:r>
                      <a:endParaRPr sz="900">
                        <a:solidFill>
                          <a:srgbClr val="F4F7FB"/>
                        </a:solidFill>
                        <a:latin typeface="Segoe UI" panose="020B0502040204020203"/>
                        <a:ea typeface="Segoe UI" panose="020B0502040204020203"/>
                        <a:cs typeface="Segoe UI" panose="020B0502040204020203"/>
                      </a:endParaRPr>
                    </a:p>
                  </a:txBody>
                  <a:tcPr marL="85725" marR="85725" marT="66675" marB="66675">
                    <a:lnR w="9525">
                      <a:solidFill>
                        <a:srgbClr val="31445C"/>
                      </a:solidFill>
                      <a:prstDash val="solid"/>
                    </a:lnR>
                    <a:lnB w="9525">
                      <a:solidFill>
                        <a:srgbClr val="31445C"/>
                      </a:solidFill>
                      <a:prstDash val="solid"/>
                    </a:lnB>
                    <a:solidFill>
                      <a:srgbClr val="112338"/>
                    </a:solidFill>
                  </a:tcPr>
                </a:tc>
              </a:tr>
              <a:tr h="1200150">
                <a:tc>
                  <a:txBody>
                    <a:bodyPr/>
                    <a:lstStyle/>
                    <a:p>
                      <a:r>
                        <a:rPr sz="1050" b="1">
                          <a:solidFill>
                            <a:srgbClr val="C59A4A"/>
                          </a:solidFill>
                          <a:latin typeface="Segoe UI" panose="020B0502040204020203"/>
                          <a:ea typeface="Segoe UI" panose="020B0502040204020203"/>
                          <a:cs typeface="Segoe UI" panose="020B0502040204020203"/>
                        </a:rPr>
                        <a:t>10/12</a:t>
                      </a:r>
                      <a:endParaRPr sz="1050" b="1">
                        <a:solidFill>
                          <a:srgbClr val="C59A4A"/>
                        </a:solidFill>
                        <a:latin typeface="Segoe UI" panose="020B0502040204020203"/>
                        <a:ea typeface="Segoe UI" panose="020B0502040204020203"/>
                        <a:cs typeface="Segoe UI" panose="020B0502040204020203"/>
                      </a:endParaRPr>
                    </a:p>
                    <a:p>
                      <a:r>
                        <a:rPr sz="1050" b="1">
                          <a:solidFill>
                            <a:srgbClr val="C59A4A"/>
                          </a:solidFill>
                          <a:latin typeface="Segoe UI" panose="020B0502040204020203"/>
                          <a:ea typeface="Segoe UI" panose="020B0502040204020203"/>
                          <a:cs typeface="Segoe UI" panose="020B0502040204020203"/>
                        </a:rPr>
                        <a:t>regression known data</a:t>
                      </a:r>
                      <a:endParaRPr sz="1050" b="1">
                        <a:solidFill>
                          <a:srgbClr val="C59A4A"/>
                        </a:solidFill>
                        <a:latin typeface="Segoe UI" panose="020B0502040204020203"/>
                        <a:ea typeface="Segoe UI" panose="020B0502040204020203"/>
                        <a:cs typeface="Segoe UI" panose="020B0502040204020203"/>
                      </a:endParaRPr>
                    </a:p>
                  </a:txBody>
                  <a:tcPr marL="85725" marR="85725" marT="66675" marB="66675">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Vẫn gặp hai failure mode trên. Lượt tuần tự 11/12 cho thấy extraction variance; không tune bằng chính 12 ảnh đã biết.</a:t>
                      </a:r>
                      <a:endParaRPr sz="900">
                        <a:solidFill>
                          <a:srgbClr val="F4F7FB"/>
                        </a:solidFill>
                        <a:latin typeface="Segoe UI" panose="020B0502040204020203"/>
                        <a:ea typeface="Segoe UI" panose="020B0502040204020203"/>
                        <a:cs typeface="Segoe UI" panose="020B0502040204020203"/>
                      </a:endParaRPr>
                    </a:p>
                  </a:txBody>
                  <a:tcPr marL="85725" marR="85725" marT="66675" marB="66675">
                    <a:lnR w="9525">
                      <a:solidFill>
                        <a:srgbClr val="31445C"/>
                      </a:solidFill>
                      <a:prstDash val="solid"/>
                    </a:lnR>
                    <a:lnB w="9525">
                      <a:solidFill>
                        <a:srgbClr val="31445C"/>
                      </a:solidFill>
                      <a:prstDash val="solid"/>
                    </a:lnB>
                    <a:solidFill>
                      <a:srgbClr val="112338"/>
                    </a:solidFill>
                  </a:tcPr>
                </a:tc>
              </a:tr>
            </a:tbl>
          </a:graphicData>
        </a:graphic>
      </p:graphicFrame>
      <p:graphicFrame>
        <p:nvGraphicFramePr>
          <p:cNvPr id="6" name="S5_RoadmapTable"/>
          <p:cNvGraphicFramePr/>
          <p:nvPr/>
        </p:nvGraphicFramePr>
        <p:xfrm>
          <a:off x="6115050" y="1619250"/>
          <a:ext cx="5524500" cy="4000500"/>
        </p:xfrm>
        <a:graphic>
          <a:graphicData uri="http://schemas.openxmlformats.org/drawingml/2006/table">
            <a:tbl>
              <a:tblPr/>
              <a:tblGrid>
                <a:gridCol w="1962150"/>
                <a:gridCol w="3562350"/>
              </a:tblGrid>
              <a:tr h="400050">
                <a:tc>
                  <a:txBody>
                    <a:bodyPr/>
                    <a:lstStyle/>
                    <a:p>
                      <a:r>
                        <a:rPr sz="900" b="1">
                          <a:solidFill>
                            <a:srgbClr val="A6B3C4"/>
                          </a:solidFill>
                          <a:latin typeface="Segoe UI" panose="020B0502040204020203"/>
                          <a:ea typeface="Segoe UI" panose="020B0502040204020203"/>
                          <a:cs typeface="Segoe UI" panose="020B0502040204020203"/>
                        </a:rPr>
                        <a:t>HẠN CHẾ</a:t>
                      </a:r>
                      <a:endParaRPr sz="900" b="1">
                        <a:solidFill>
                          <a:srgbClr val="A6B3C4"/>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c>
                  <a:txBody>
                    <a:bodyPr/>
                    <a:lstStyle/>
                    <a:p>
                      <a:r>
                        <a:rPr sz="900" b="1">
                          <a:solidFill>
                            <a:srgbClr val="A6B3C4"/>
                          </a:solidFill>
                          <a:latin typeface="Segoe UI" panose="020B0502040204020203"/>
                          <a:ea typeface="Segoe UI" panose="020B0502040204020203"/>
                          <a:cs typeface="Segoe UI" panose="020B0502040204020203"/>
                        </a:rPr>
                        <a:t>HƯỚNG XỬ LÝ VÀ GATE XÁC NHẬN</a:t>
                      </a:r>
                      <a:endParaRPr sz="900" b="1">
                        <a:solidFill>
                          <a:srgbClr val="A6B3C4"/>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T w="9525">
                      <a:solidFill>
                        <a:srgbClr val="31445C"/>
                      </a:solidFill>
                      <a:prstDash val="solid"/>
                    </a:lnT>
                    <a:lnB w="9525">
                      <a:solidFill>
                        <a:srgbClr val="31445C"/>
                      </a:solidFill>
                      <a:prstDash val="solid"/>
                    </a:lnB>
                    <a:solidFill>
                      <a:srgbClr val="162A42"/>
                    </a:solidFill>
                  </a:tcPr>
                </a:tc>
              </a:tr>
              <a:tr h="714375">
                <a:tc>
                  <a:txBody>
                    <a:bodyPr/>
                    <a:lstStyle/>
                    <a:p>
                      <a:r>
                        <a:rPr sz="900" b="1">
                          <a:solidFill>
                            <a:srgbClr val="C59A4A"/>
                          </a:solidFill>
                          <a:latin typeface="Segoe UI" panose="020B0502040204020203"/>
                          <a:ea typeface="Segoe UI" panose="020B0502040204020203"/>
                          <a:cs typeface="Segoe UI" panose="020B0502040204020203"/>
                        </a:rPr>
                        <a:t>Feedback 3 user còn PENDING</a:t>
                      </a:r>
                      <a:endParaRPr sz="900" b="1">
                        <a:solidFill>
                          <a:srgbClr val="C59A4A"/>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Chạy paired protocol; khóa ngưỡng trước kết quả. Gate: 3 record có consent và giữ feedback tiêu cực.</a:t>
                      </a:r>
                      <a:endParaRPr sz="900">
                        <a:solidFill>
                          <a:srgbClr val="F4F7FB"/>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panose="020B0502040204020203"/>
                          <a:ea typeface="Segoe UI" panose="020B0502040204020203"/>
                          <a:cs typeface="Segoe UI" panose="020B0502040204020203"/>
                        </a:rPr>
                        <a:t>Limiter / lock theo process</a:t>
                      </a:r>
                      <a:endParaRPr sz="900" b="1">
                        <a:solidFill>
                          <a:srgbClr val="C59A4A"/>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Đưa limiter, cooldown, circuit và Verify lock ra storage phân tán. Gate: test capacity multi-instance.</a:t>
                      </a:r>
                      <a:endParaRPr sz="900">
                        <a:solidFill>
                          <a:srgbClr val="F4F7FB"/>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panose="020B0502040204020203"/>
                          <a:ea typeface="Segoe UI" panose="020B0502040204020203"/>
                          <a:cs typeface="Segoe UI" panose="020B0502040204020203"/>
                        </a:rPr>
                        <a:t>Sandbox ingestion + storage</a:t>
                      </a:r>
                      <a:endParaRPr sz="900" b="1">
                        <a:solidFill>
                          <a:srgbClr val="C59A4A"/>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Quarantine; MIME + AV/CDR; parser ít quyền, giới hạn CPU/RAM/time/egress. Gate: malicious-file tests pass.</a:t>
                      </a:r>
                      <a:endParaRPr sz="900">
                        <a:solidFill>
                          <a:srgbClr val="F4F7FB"/>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panose="020B0502040204020203"/>
                          <a:ea typeface="Segoe UI" panose="020B0502040204020203"/>
                          <a:cs typeface="Segoe UI" panose="020B0502040204020203"/>
                        </a:rPr>
                        <a:t>Identity + least privilege</a:t>
                      </a:r>
                      <a:endParaRPr sz="900" b="1">
                        <a:solidFill>
                          <a:srgbClr val="C59A4A"/>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OIDC/SSO + service identity; deny-by-default role matrix. Gate: thao tác sai quyền bị chặn và có audit.</a:t>
                      </a:r>
                      <a:endParaRPr sz="900">
                        <a:solidFill>
                          <a:srgbClr val="F4F7FB"/>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B w="9525">
                      <a:solidFill>
                        <a:srgbClr val="31445C"/>
                      </a:solidFill>
                      <a:prstDash val="solid"/>
                    </a:lnB>
                    <a:solidFill>
                      <a:srgbClr val="112338"/>
                    </a:solidFill>
                  </a:tcPr>
                </a:tc>
              </a:tr>
              <a:tr h="714375">
                <a:tc>
                  <a:txBody>
                    <a:bodyPr/>
                    <a:lstStyle/>
                    <a:p>
                      <a:r>
                        <a:rPr sz="900" b="1">
                          <a:solidFill>
                            <a:srgbClr val="C59A4A"/>
                          </a:solidFill>
                          <a:latin typeface="Segoe UI" panose="020B0502040204020203"/>
                          <a:ea typeface="Segoe UI" panose="020B0502040204020203"/>
                          <a:cs typeface="Segoe UI" panose="020B0502040204020203"/>
                        </a:rPr>
                        <a:t>Overlay mới là prototype</a:t>
                      </a:r>
                      <a:endParaRPr sz="900" b="1">
                        <a:solidFill>
                          <a:srgbClr val="C59A4A"/>
                        </a:solidFill>
                        <a:latin typeface="Segoe UI" panose="020B0502040204020203"/>
                        <a:ea typeface="Segoe UI" panose="020B0502040204020203"/>
                        <a:cs typeface="Segoe UI" panose="020B0502040204020203"/>
                      </a:endParaRPr>
                    </a:p>
                  </a:txBody>
                  <a:tcPr marL="76200" marR="76200" marT="57150" marB="57150">
                    <a:lnL w="9525">
                      <a:solidFill>
                        <a:srgbClr val="31445C"/>
                      </a:solidFill>
                      <a:prstDash val="solid"/>
                    </a:lnL>
                    <a:lnR w="9525">
                      <a:solidFill>
                        <a:srgbClr val="31445C"/>
                      </a:solidFill>
                      <a:prstDash val="solid"/>
                    </a:lnR>
                    <a:lnB w="9525">
                      <a:solidFill>
                        <a:srgbClr val="31445C"/>
                      </a:solidFill>
                      <a:prstDash val="solid"/>
                    </a:lnB>
                    <a:solidFill>
                      <a:srgbClr val="112338"/>
                    </a:solidFill>
                  </a:tcPr>
                </a:tc>
                <a:tc>
                  <a:txBody>
                    <a:bodyPr/>
                    <a:lstStyle/>
                    <a:p>
                      <a:r>
                        <a:rPr sz="900">
                          <a:solidFill>
                            <a:srgbClr val="F4F7FB"/>
                          </a:solidFill>
                          <a:latin typeface="Segoe UI" panose="020B0502040204020203"/>
                          <a:ea typeface="Segoe UI" panose="020B0502040204020203"/>
                          <a:cs typeface="Segoe UI" panose="020B0502040204020203"/>
                        </a:rPr>
                        <a:t>Chuẩn hóa bounding box + fallback low-confidence. Gate: localization QA trên receipt unseen.</a:t>
                      </a:r>
                      <a:endParaRPr sz="900">
                        <a:solidFill>
                          <a:srgbClr val="F4F7FB"/>
                        </a:solidFill>
                        <a:latin typeface="Segoe UI" panose="020B0502040204020203"/>
                        <a:ea typeface="Segoe UI" panose="020B0502040204020203"/>
                        <a:cs typeface="Segoe UI" panose="020B0502040204020203"/>
                      </a:endParaRPr>
                    </a:p>
                  </a:txBody>
                  <a:tcPr marL="76200" marR="76200" marT="57150" marB="57150">
                    <a:lnR w="9525">
                      <a:solidFill>
                        <a:srgbClr val="31445C"/>
                      </a:solidFill>
                      <a:prstDash val="solid"/>
                    </a:lnR>
                    <a:lnB w="9525">
                      <a:solidFill>
                        <a:srgbClr val="31445C"/>
                      </a:solidFill>
                      <a:prstDash val="solid"/>
                    </a:lnB>
                    <a:solidFill>
                      <a:srgbClr val="112338"/>
                    </a:solidFill>
                  </a:tcPr>
                </a:tc>
              </a:tr>
            </a:tbl>
          </a:graphicData>
        </a:graphic>
      </p:graphicFrame>
      <p:sp>
        <p:nvSpPr>
          <p:cNvPr id="7" name="S5_PrincipleBand"/>
          <p:cNvSpPr>
            <a:spLocks noGrp="1"/>
          </p:cNvSpPr>
          <p:nvPr/>
        </p:nvSpPr>
        <p:spPr>
          <a:xfrm>
            <a:off x="552450" y="5810250"/>
            <a:ext cx="11087100" cy="419100"/>
          </a:xfrm>
          <a:prstGeom prst="roundRect">
            <a:avLst>
              <a:gd name="adj" fmla="val 13636"/>
            </a:avLst>
          </a:prstGeom>
          <a:solidFill>
            <a:srgbClr val="162A42"/>
          </a:solidFill>
          <a:ln w="9525">
            <a:solidFill>
              <a:srgbClr val="31445C"/>
            </a:solidFill>
            <a:prstDash val="solid"/>
          </a:ln>
        </p:spPr>
      </p:sp>
      <p:sp>
        <p:nvSpPr>
          <p:cNvPr id="8" name="S5_PrincipleText"/>
          <p:cNvSpPr>
            <a:spLocks noGrp="1"/>
          </p:cNvSpPr>
          <p:nvPr/>
        </p:nvSpPr>
        <p:spPr>
          <a:xfrm>
            <a:off x="704850" y="5924550"/>
            <a:ext cx="10782300" cy="190500"/>
          </a:xfrm>
          <a:prstGeom prst="rect">
            <a:avLst/>
          </a:prstGeom>
          <a:noFill/>
          <a:ln w="0">
            <a:noFill/>
          </a:ln>
        </p:spPr>
        <p:txBody>
          <a:bodyPr lIns="0" tIns="0" rIns="0" bIns="0" anchor="t">
            <a:noAutofit/>
          </a:bodyPr>
          <a:lstStyle>
            <a:defPPr algn="ctr">
              <a:defRPr sz="1050" b="1">
                <a:solidFill>
                  <a:srgbClr val="F4F7FB"/>
                </a:solidFill>
                <a:latin typeface="Segoe UI" panose="020B0502040204020203"/>
                <a:ea typeface="Segoe UI" panose="020B0502040204020203"/>
                <a:cs typeface="Segoe UI" panose="020B0502040204020203"/>
              </a:defRPr>
            </a:defPPr>
          </a:lstStyle>
          <a:p>
            <a:pPr algn="ctr">
              <a:defRPr sz="1050" b="1">
                <a:solidFill>
                  <a:srgbClr val="F4F7FB"/>
                </a:solidFill>
                <a:latin typeface="Segoe UI" panose="020B0502040204020203"/>
                <a:ea typeface="Segoe UI" panose="020B0502040204020203"/>
                <a:cs typeface="Segoe UI" panose="020B0502040204020203"/>
              </a:defRPr>
            </a:pPr>
            <a:r>
              <a:rPr sz="1050" b="1">
                <a:solidFill>
                  <a:srgbClr val="F4F7FB"/>
                </a:solidFill>
                <a:latin typeface="Segoe UI" panose="020B0502040204020203"/>
                <a:ea typeface="Segoe UI" panose="020B0502040204020203"/>
                <a:cs typeface="Segoe UI" panose="020B0502040204020203"/>
              </a:rPr>
              <a:t>Model không có quyền thực thi; giữ fail-safe, không tune bằng holdout; chỉ mở rộng khi security gate đạt.</a:t>
            </a:r>
            <a:endParaRPr sz="1050" b="1">
              <a:solidFill>
                <a:srgbClr val="F4F7FB"/>
              </a:solidFill>
              <a:latin typeface="Segoe UI" panose="020B0502040204020203"/>
              <a:ea typeface="Segoe UI" panose="020B0502040204020203"/>
              <a:cs typeface="Segoe UI" panose="020B0502040204020203"/>
            </a:endParaRPr>
          </a:p>
        </p:txBody>
      </p:sp>
    </p:spTree>
  </p:cSld>
  <p:clrMapOvr>
    <a:masterClrMapping/>
  </p:clrMapOvr>
</p:sld>
</file>

<file path=ppt/theme/theme1.xml><?xml version="1.0" encoding="utf-8"?>
<a:theme xmlns:a="http://schemas.openxmlformats.org/drawingml/2006/main" name="ChatGPT">
  <a:themeElements>
    <a:clrScheme name="AURA restrained navy">
      <a:dk1>
        <a:srgbClr val="091522"/>
      </a:dk1>
      <a:lt1>
        <a:srgbClr val="F4F7FB"/>
      </a:lt1>
      <a:dk2>
        <a:srgbClr val="162A42"/>
      </a:dk2>
      <a:lt2>
        <a:srgbClr val="A6B3C4"/>
      </a:lt2>
      <a:accent1>
        <a:srgbClr val="5F8FD8"/>
      </a:accent1>
      <a:accent2>
        <a:srgbClr val="45A9BE"/>
      </a:accent2>
      <a:accent3>
        <a:srgbClr val="C59A4A"/>
      </a:accent3>
      <a:accent4>
        <a:srgbClr val="4FAF91"/>
      </a:accent4>
      <a:accent5>
        <a:srgbClr val="162A42"/>
      </a:accent5>
      <a:accent6>
        <a:srgbClr val="31445C"/>
      </a:accent6>
      <a:hlink>
        <a:srgbClr val="5F8FD8"/>
      </a:hlink>
      <a:folHlink>
        <a:srgbClr val="45A9BE"/>
      </a:folHlink>
    </a:clrScheme>
    <a:fontScheme name="">
      <a:majorFont>
        <a:latin typeface="Segoe UI"/>
        <a:ea typeface=""/>
        <a:cs typeface=""/>
      </a:majorFont>
      <a:minorFont>
        <a:latin typeface="Segoe UI"/>
        <a:ea typeface=""/>
        <a:cs typeface=""/>
      </a:minorFont>
    </a:fontScheme>
    <a:fmtScheme name="AURA restrained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AURA restrained navy">
      <a:dk1>
        <a:srgbClr val="091522"/>
      </a:dk1>
      <a:lt1>
        <a:srgbClr val="F4F7FB"/>
      </a:lt1>
      <a:dk2>
        <a:srgbClr val="162A42"/>
      </a:dk2>
      <a:lt2>
        <a:srgbClr val="A6B3C4"/>
      </a:lt2>
      <a:accent1>
        <a:srgbClr val="5F8FD8"/>
      </a:accent1>
      <a:accent2>
        <a:srgbClr val="45A9BE"/>
      </a:accent2>
      <a:accent3>
        <a:srgbClr val="C59A4A"/>
      </a:accent3>
      <a:accent4>
        <a:srgbClr val="4FAF91"/>
      </a:accent4>
      <a:accent5>
        <a:srgbClr val="162A42"/>
      </a:accent5>
      <a:accent6>
        <a:srgbClr val="31445C"/>
      </a:accent6>
      <a:hlink>
        <a:srgbClr val="5F8FD8"/>
      </a:hlink>
      <a:folHlink>
        <a:srgbClr val="45A9BE"/>
      </a:folHlink>
    </a:clrScheme>
    <a:fontScheme name="">
      <a:majorFont>
        <a:latin typeface="Segoe UI"/>
        <a:ea typeface=""/>
        <a:cs typeface=""/>
      </a:majorFont>
      <a:minorFont>
        <a:latin typeface="Segoe UI"/>
        <a:ea typeface=""/>
        <a:cs typeface=""/>
      </a:minorFont>
    </a:fontScheme>
    <a:fmtScheme name="AURA restrained nav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4704</Words>
  <Application>WPS Presentation</Application>
  <PresentationFormat>Converted Presentation</PresentationFormat>
  <Paragraphs>293</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Arial</vt:lpstr>
      <vt:lpstr>SimSun</vt:lpstr>
      <vt:lpstr>Wingdings</vt:lpstr>
      <vt:lpstr>Segoe UI</vt:lpstr>
      <vt:lpstr>Microsoft YaHei</vt:lpstr>
      <vt:lpstr>Arial Unicode MS</vt:lpstr>
      <vt:lpstr>ChatGPT</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Bond Pham</cp:lastModifiedBy>
  <cp:revision>2</cp:revision>
  <dcterms:created xsi:type="dcterms:W3CDTF">2026-10-16T17:51:00Z</dcterms:created>
  <dcterms:modified xsi:type="dcterms:W3CDTF">2026-10-16T17:59:54Z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1033-12.1.0.24752</vt:lpwstr>
  </property>
  <property fmtid="{D5CDD505-2E9C-101B-9397-08002B2CF9AE}" pid="3" name="ICV">
    <vt:lpwstr>2E0B98DBBEB64553A9D20F6834EAAC2A_12</vt:lpwstr>
  </property>
</Properties>
</file>
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7d470fea0744adf" /><Relationship Type="http://schemas.openxmlformats.org/officeDocument/2006/relationships/extended-properties" Target="/docProps/app.xml" Id="R57f0eed4e0174175" /><Relationship Type="http://schemas.openxmlformats.org/officeDocument/2006/relationships/officeDocument" Target="/ppt/presentation.xml" Id="R10799512862c4b3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e8857434ebe43d3"/>
  </p:sldMasterIdLst>
  <p:notesMasterIdLst>
    <p:notesMasterId xmlns:r="http://schemas.openxmlformats.org/officeDocument/2006/relationships" r:id="Rf7af88e8f10d4203"/>
  </p:notesMasterIdLst>
  <p:sldIdLst>
    <p:sldId xmlns:r="http://schemas.openxmlformats.org/officeDocument/2006/relationships" id="256" r:id="R666a19a4b49a4f62"/>
    <p:sldId xmlns:r="http://schemas.openxmlformats.org/officeDocument/2006/relationships" id="257" r:id="R730c808ef316407f"/>
    <p:sldId xmlns:r="http://schemas.openxmlformats.org/officeDocument/2006/relationships" id="258" r:id="Rfb482910ca48473b"/>
    <p:sldId xmlns:r="http://schemas.openxmlformats.org/officeDocument/2006/relationships" id="259" r:id="R9468635f9937454f"/>
    <p:sldId xmlns:r="http://schemas.openxmlformats.org/officeDocument/2006/relationships" id="260" r:id="R0039ae6ddd8549a9"/>
  </p:sldIdLst>
  <p:sldSz cx="12192000" cy="685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35ac7ef2369433e" /><Relationship Type="http://schemas.openxmlformats.org/officeDocument/2006/relationships/slideMaster" Target="/ppt/slideMasters/slideMaster1.xml" Id="R2e8857434ebe43d3" /><Relationship Type="http://schemas.openxmlformats.org/officeDocument/2006/relationships/notesMaster" Target="/ppt/notesMasters/notesMaster1.xml" Id="Rf7af88e8f10d4203" /><Relationship Type="http://schemas.openxmlformats.org/officeDocument/2006/relationships/presProps" Target="/ppt/presProps.xml" Id="R89db3df727dc4dab" /><Relationship Type="http://schemas.openxmlformats.org/officeDocument/2006/relationships/viewProps" Target="/ppt/viewProps.xml" Id="Re528de98387c4c78" /><Relationship Type="http://schemas.openxmlformats.org/officeDocument/2006/relationships/tableStyles" Target="/ppt/tableStyles.xml" Id="R4cd67b13382945ec" /><Relationship Type="http://schemas.openxmlformats.org/officeDocument/2006/relationships/slide" Target="/ppt/slides/slide1.xml" Id="R666a19a4b49a4f62" /><Relationship Type="http://schemas.openxmlformats.org/officeDocument/2006/relationships/slide" Target="/ppt/slides/slide2.xml" Id="R730c808ef316407f" /><Relationship Type="http://schemas.openxmlformats.org/officeDocument/2006/relationships/slide" Target="/ppt/slides/slide3.xml" Id="Rfb482910ca48473b" /><Relationship Type="http://schemas.openxmlformats.org/officeDocument/2006/relationships/slide" Target="/ppt/slides/slide4.xml" Id="R9468635f9937454f" /><Relationship Type="http://schemas.openxmlformats.org/officeDocument/2006/relationships/slide" Target="/ppt/slides/slide5.xml" Id="R0039ae6ddd8549a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2306e646c0147b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9cc2da6ec5b432f" /><Relationship Type="http://schemas.openxmlformats.org/officeDocument/2006/relationships/notesMaster" Target="/ppt/notesMasters/notesMaster1.xml" Id="Reda472e3366f402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358488ac2ae48c8" /><Relationship Type="http://schemas.openxmlformats.org/officeDocument/2006/relationships/notesMaster" Target="/ppt/notesMasters/notesMaster1.xml" Id="R958f68a4bf5d474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921dd0bd0564f75" /><Relationship Type="http://schemas.openxmlformats.org/officeDocument/2006/relationships/notesMaster" Target="/ppt/notesMasters/notesMaster1.xml" Id="Re3ecfdb3d9c345b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630aafa9b3648e9" /><Relationship Type="http://schemas.openxmlformats.org/officeDocument/2006/relationships/notesMaster" Target="/ppt/notesMasters/notesMaster1.xml" Id="R17bc177bd9b4451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2caa2ab0f2744d8" /><Relationship Type="http://schemas.openxmlformats.org/officeDocument/2006/relationships/notesMaster" Target="/ppt/notesMasters/notesMaster1.xml" Id="Ra6fa53687f22489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Hiện trạng và nguyên tắc thiết kế của AURA; không dùng số liệu hiệu quả chưa đo.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Workflow chi tiết: submission/AURA_WORKFLOW_SPEC.md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hiện hành 14/10/2026: 163/163 test offline và Release build sạch. Candidate Qwen3.8 Flash qua OpenRouter/Alibaba, reasoning none. Prospective mini-holdout 10 hóa đơn mới đạt 8/10 quyết định đúng, 0 missed, 2 over fail-safe, 0 system/provider/429 error và 28/30 field trọng yếu; mẫu nhỏ và có redaction confounder, không phải production accuracy. Regression 12 ảnh byte gốc đạt 10/12; lượt chạy tuần tự lại trên dữ liệu đã biết đạt 11/12 và chỉ được dùng làm evidence ổn định. Burst 5 upload hoàn tất 5/5; AI concurrency vẫn là 1 nên queue wait tăng. Verify live đạt 5/5 trong 65.004 giây. Ollama chỉ là fallback local có giám sát. Ba user session vẫn là gate chưa hoàn tất.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 và hướng dẫn chạy localhost: https://github.com/BondPhuPhamzZ/AURA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kỹ thuật trong repo: ReceiptProcessingWorker.cs, ReceiptExtractionContract.cs, PolicyDecisionEngine.cs, VietnamTime.cs, tools/Invoke-ExtendedDatasetEvaluation.ps1, docs/CURRENT_PROJECT_STATUS.md và docs/EVALUATION_EVIDENCE.md. Fallback vẫn opt-in và mặc định tắt; Ollama chỉ bật local sau smoke. Qwen3.8 Flash qua OpenRouter/Alibaba, reasoning none, là primary candidate. Prospective holdout đạt 8/10 với 0 missed và 2 over; sequential repeat trên dữ liệu đã biết đạt 11/12; Verify live đạt 5/5 trong 65.004 giây. Burst 5 upload hoàn tất 5/5 nhưng phép đo một process không phải production SLA. Ba phiên người dùng thật, video chính thức và kiểm tra quyền Team Drive vẫn là gate mở.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0dd733c85a47f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cbe6fc42744c5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40bfa2e316492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2077499fc24e9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75e882e3a2481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e27993b257469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F9CCC7C-AA98-45CB-88A9-E8861D39F0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4D416AA-DE5F-4ACE-BD8B-A43744C4AC5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EF738FD-B803-4EB5-8E43-3BCB5EA8D9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3332589-4F92-48B0-814A-7397C6828AB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BB020F7-37D6-465E-8D71-E67033EA12B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2CA25B3-94A3-411F-9B61-072D4E8AB7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BE63FBD-5FE5-4C8F-A55C-6230CBD57FB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DAC54BD-EB46-432A-9CD4-C64D7EF964B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A4E3870-26CA-4106-A418-C2C3377815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F64F8CE-C267-435D-B92A-B1A87D75FA0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48aee63d6e7426e" /><Relationship Type="http://schemas.openxmlformats.org/officeDocument/2006/relationships/slideLayout" Target="/ppt/slideLayouts/slideLayout1.xml" Id="R241bc9808f7c45a5" /><Relationship Type="http://schemas.openxmlformats.org/officeDocument/2006/relationships/slideLayout" Target="/ppt/slideLayouts/slideLayout2.xml" Id="R5ea51425f4ba432c" /><Relationship Type="http://schemas.openxmlformats.org/officeDocument/2006/relationships/slideLayout" Target="/ppt/slideLayouts/slideLayout3.xml" Id="Re8fc2667a3ed4a4f" /><Relationship Type="http://schemas.openxmlformats.org/officeDocument/2006/relationships/slideLayout" Target="/ppt/slideLayouts/slideLayout4.xml" Id="R8ef40e0ab25f4aa7" /><Relationship Type="http://schemas.openxmlformats.org/officeDocument/2006/relationships/slideLayout" Target="/ppt/slideLayouts/slideLayout5.xml" Id="R76f8c4f7645a4a4e" /><Relationship Type="http://schemas.openxmlformats.org/officeDocument/2006/relationships/slideLayout" Target="/ppt/slideLayouts/slideLayout6.xml" Id="Rc4f4994670274b30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1bc9808f7c45a5"/>
    <p:sldLayoutId xmlns:r="http://schemas.openxmlformats.org/officeDocument/2006/relationships" id="2147483650" r:id="R5ea51425f4ba432c"/>
    <p:sldLayoutId xmlns:r="http://schemas.openxmlformats.org/officeDocument/2006/relationships" id="2147483651" r:id="Re8fc2667a3ed4a4f"/>
    <p:sldLayoutId xmlns:r="http://schemas.openxmlformats.org/officeDocument/2006/relationships" id="2147483652" r:id="R8ef40e0ab25f4aa7"/>
    <p:sldLayoutId xmlns:r="http://schemas.openxmlformats.org/officeDocument/2006/relationships" id="2147483653" r:id="R76f8c4f7645a4a4e"/>
    <p:sldLayoutId xmlns:r="http://schemas.openxmlformats.org/officeDocument/2006/relationships" id="2147483654" r:id="Rc4f4994670274b3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d4905b141a04e5a" /><Relationship Type="http://schemas.openxmlformats.org/officeDocument/2006/relationships/notesSlide" Target="/ppt/notesSlides/notesSlide1.xml" Id="Rce684e3afcf0468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07fa4a3d38a4df9" /><Relationship Type="http://schemas.openxmlformats.org/officeDocument/2006/relationships/notesSlide" Target="/ppt/notesSlides/notesSlide2.xml" Id="Rfddadf5b3b1141d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562e79076445ef" /><Relationship Type="http://schemas.openxmlformats.org/officeDocument/2006/relationships/notesSlide" Target="/ppt/notesSlides/notesSlide3.xml" Id="Re5af2e5cad13468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8dbbe9afbb4eeb" /><Relationship Type="http://schemas.openxmlformats.org/officeDocument/2006/relationships/notesSlide" Target="/ppt/notesSlides/notesSlide4.xml" Id="R98620da30939475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e1faa6188ef4170" /><Relationship Type="http://schemas.openxmlformats.org/officeDocument/2006/relationships/notesSlide" Target="/ppt/notesSlides/notesSlide5.xml" Id="Ra829d93b9a4c47b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Right Arrow 23">
            <a:extLst xmlns:a="http://schemas.openxmlformats.org/drawingml/2006/main">
              <a:ext uri="{FF2B5EF4-FFF2-40B4-BE49-F238E27FC236}">
                <a16:creationId xmlns:a16="http://schemas.microsoft.com/office/drawing/2014/main" id="{0568250D-2B6D-4149-8D9C-3B6328167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9" name="Right Arrow 18">
            <a:extLst xmlns:a="http://schemas.openxmlformats.org/drawingml/2006/main">
              <a:ext uri="{FF2B5EF4-FFF2-40B4-BE49-F238E27FC236}">
                <a16:creationId xmlns:a16="http://schemas.microsoft.com/office/drawing/2014/main" id="{73FD0631-F136-4208-86CA-EF94EBCC7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4" name="Right Arrow 13">
            <a:extLst xmlns:a="http://schemas.openxmlformats.org/drawingml/2006/main">
              <a:ext uri="{FF2B5EF4-FFF2-40B4-BE49-F238E27FC236}">
                <a16:creationId xmlns:a16="http://schemas.microsoft.com/office/drawing/2014/main" id="{0D8D201D-9D61-4310-869A-B0040B7A3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9" name="Right Arrow 8">
            <a:extLst xmlns:a="http://schemas.openxmlformats.org/drawingml/2006/main">
              <a:ext uri="{FF2B5EF4-FFF2-40B4-BE49-F238E27FC236}">
                <a16:creationId xmlns:a16="http://schemas.microsoft.com/office/drawing/2014/main" id="{413ECA39-18D8-49FF-BC40-1500C7D73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47" name="Rectangle 46">
            <a:extLst xmlns:a="http://schemas.openxmlformats.org/drawingml/2006/main">
              <a:ext uri="{FF2B5EF4-FFF2-40B4-BE49-F238E27FC236}">
                <a16:creationId xmlns:a16="http://schemas.microsoft.com/office/drawing/2014/main" id="{C9C47492-F888-488B-B6CC-21B8BC894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01</a:t>
            </a:r>
            <a:endParaRPr sz="1350" b="1">
              <a:solidFill>
                <a:srgbClr val="22D3EE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CB03087-8E4A-41AD-9614-CCD38CA95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Hoàn ứng hôm nay: nhiều điểm chờ, ít bằng chứng</a:t>
            </a:r>
            <a:endParaRPr sz="2550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5E2DC4B-E948-48AB-BB0D-BF3232FF8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biến ngoại lệ thành câu hỏi có thể quyết định — không giao quyền duyệt cho AI.</a:t>
            </a:r>
            <a:endParaRPr sz="1275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traight Connector 3">
            <a:extLst xmlns:a="http://schemas.openxmlformats.org/drawingml/2006/main">
              <a:ext uri="{FF2B5EF4-FFF2-40B4-BE49-F238E27FC236}">
                <a16:creationId xmlns:a16="http://schemas.microsoft.com/office/drawing/2014/main" id="{74DDB003-0F31-43FB-AD35-8128D3F88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D48E9C1A-65B1-4FBF-A976-B5D62E987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D0A911BB-6217-4421-8533-F28BCBCBD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01</a:t>
            </a:r>
            <a:endParaRPr sz="1050" b="1">
              <a:solidFill>
                <a:srgbClr val="0814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56E8630-083A-42B4-B043-97A76CB9E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Gửi hóa đơn</a:t>
            </a:r>
            <a:endParaRPr sz="1275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EA69D85-C346-4A92-947C-6DE793B4D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  <a:endParaRPr sz="900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C7089A6-35BE-4F27-83AC-0A780B1EC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408D716-13AE-4197-B1BD-7C9EB2CE7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02</a:t>
            </a:r>
            <a:endParaRPr sz="1050" b="1">
              <a:solidFill>
                <a:srgbClr val="0814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38AD591C-7DF3-4569-A3F4-B8EEF2F2F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thủ công</a:t>
            </a:r>
            <a:endParaRPr sz="1275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51FB0DE0-3A6D-4FD5-A074-4EE4AB9F9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Dễ sai định dạng</a:t>
            </a:r>
            <a:endParaRPr sz="900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14742493-D44F-4FFC-90D3-20B5F40C6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562439FA-DF25-4BCA-B090-9B9B47EC0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03</a:t>
            </a:r>
            <a:endParaRPr sz="1050" b="1">
              <a:solidFill>
                <a:srgbClr val="0814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038046C-E91B-4293-8C4F-5C86FE212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7809"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Đối chiếu policy</a:t>
            </a:r>
            <a:endParaRPr sz="1275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149D3B6D-6DF2-42EB-9BE2-38C027622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Phụ thuộc người xử lý</a:t>
            </a:r>
            <a:endParaRPr sz="900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EAA88422-8E6A-4553-B59E-D3A10230A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E43277CF-1391-41BB-96C2-E996998DF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04</a:t>
            </a:r>
            <a:endParaRPr sz="1050" b="1">
              <a:solidFill>
                <a:srgbClr val="0814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33F562CF-C25E-41F2-90CE-75623AF4F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Hỏi quản lý</a:t>
            </a:r>
            <a:endParaRPr sz="1275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F338E509-E204-4D8F-8735-03EBFEFF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Thiếu câu hỏi cụ thể</a:t>
            </a:r>
            <a:endParaRPr sz="900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0A3EBF74-09E3-400E-B074-EBF2C54C3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9C31DD90-0547-4526-A019-0D0CAE20D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FB1CA"/>
          </a:solidFill>
          <a:ln xmlns:a="http://schemas.openxmlformats.org/drawingml/2006/main" w="9525">
            <a:solidFill>
              <a:srgbClr val="9FB1C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05</a:t>
            </a:r>
            <a:endParaRPr sz="1050" b="1">
              <a:solidFill>
                <a:srgbClr val="0814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557B27FC-A43E-4FEA-B2D3-A92524831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Lưu lịch sử</a:t>
            </a:r>
            <a:endParaRPr sz="1275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D840F09F-7D82-4E80-8FD0-3A9F3BB05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Khó truy vết</a:t>
            </a:r>
            <a:endParaRPr sz="900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03FEBD7E-E72C-4A8B-AA93-6D81FF2C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00200"/>
            <a:ext cx="20383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02A3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7A852A1A-2740-408E-BAE4-059611F03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7907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nghẽn</a:t>
            </a:r>
            <a:endParaRPr sz="1125" b="1">
              <a:solidFill>
                <a:srgbClr val="22D3EE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32ACD523-188C-43D2-BAC7-FB86BF661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0595" y="2019300"/>
            <a:ext cx="172974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87186"/>
          </a:bodyPr>
          <a:lstStyle xmlns:a="http://schemas.openxmlformats.org/drawingml/2006/main">
            <a:def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Không phải OCR — mà là biết khi nào phải dừng và hỏi người.</a:t>
            </a:r>
            <a:endParaRPr sz="1350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7657689F-1BE6-41DD-877B-0ADF0F5F3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575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Thiết kế lại quy trình</a:t>
            </a:r>
            <a:endParaRPr sz="1800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3AE635E4-D26A-4013-B326-77113D9E9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4" name="Rounded Rectangle 33">
            <a:extLst xmlns:a="http://schemas.openxmlformats.org/drawingml/2006/main">
              <a:ext uri="{FF2B5EF4-FFF2-40B4-BE49-F238E27FC236}">
                <a16:creationId xmlns:a16="http://schemas.microsoft.com/office/drawing/2014/main" id="{6C4B2B3D-5D8B-48C2-B183-59AE58ED9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AI đọc</a:t>
            </a:r>
            <a:endParaRPr sz="1050" b="1">
              <a:solidFill>
                <a:srgbClr val="0814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74A0019C-EFD5-484A-BFD5-6FBDE91BA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Qwen trích dữ kiện có cấu trúc</a:t>
            </a:r>
            <a:endParaRPr sz="1575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C7C4AC34-1685-4D98-9AA5-E71B59599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suy đoán field không đọc chắc.</a:t>
            </a:r>
            <a:endParaRPr sz="1050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Rounded Rectangle 36">
            <a:extLst xmlns:a="http://schemas.openxmlformats.org/drawingml/2006/main">
              <a:ext uri="{FF2B5EF4-FFF2-40B4-BE49-F238E27FC236}">
                <a16:creationId xmlns:a16="http://schemas.microsoft.com/office/drawing/2014/main" id="{5D5127F8-4EF7-491F-B330-25666F05D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8" name="Rounded Rectangle 37">
            <a:extLst xmlns:a="http://schemas.openxmlformats.org/drawingml/2006/main">
              <a:ext uri="{FF2B5EF4-FFF2-40B4-BE49-F238E27FC236}">
                <a16:creationId xmlns:a16="http://schemas.microsoft.com/office/drawing/2014/main" id="{02215065-12BB-4AF9-AE4D-128D7D474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96282"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Policy quyết định</a:t>
            </a:r>
            <a:endParaRPr sz="1050" b="1">
              <a:solidFill>
                <a:srgbClr val="0814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9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138F386E-0E23-42DD-A769-E5B1A4A51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C# tất định: FACT → POLICY → AUTHORITY</a:t>
            </a:r>
            <a:endParaRPr sz="1575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" name="Rectangle 39">
            <a:extLst xmlns:a="http://schemas.openxmlformats.org/drawingml/2006/main">
              <a:ext uri="{FF2B5EF4-FFF2-40B4-BE49-F238E27FC236}">
                <a16:creationId xmlns:a16="http://schemas.microsoft.com/office/drawing/2014/main" id="{1048CF89-8E93-4BA7-8C26-10ABF6567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Đầu vào nghi vấn không bao giờ auto-approve.</a:t>
            </a:r>
            <a:endParaRPr sz="1050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1" name="Rounded Rectangle 40">
            <a:extLst xmlns:a="http://schemas.openxmlformats.org/drawingml/2006/main">
              <a:ext uri="{FF2B5EF4-FFF2-40B4-BE49-F238E27FC236}">
                <a16:creationId xmlns:a16="http://schemas.microsoft.com/office/drawing/2014/main" id="{B65C07F1-3F03-4601-9C0B-5C4B238C2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42" name="Rounded Rectangle 41">
            <a:extLst xmlns:a="http://schemas.openxmlformats.org/drawingml/2006/main">
              <a:ext uri="{FF2B5EF4-FFF2-40B4-BE49-F238E27FC236}">
                <a16:creationId xmlns:a16="http://schemas.microsoft.com/office/drawing/2014/main" id="{6D38FE28-9941-4AF9-B283-7EC78A903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962400"/>
            <a:ext cx="212598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Con người chịu trách nhiệm</a:t>
            </a:r>
            <a:endParaRPr sz="1050" b="1">
              <a:solidFill>
                <a:srgbClr val="0814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2A2BA102-AD03-4353-8FAA-9F367ECE6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xử lý ngoại lệ và có thể hoàn tác</a:t>
            </a:r>
            <a:endParaRPr sz="1575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604F9901-23A1-4594-ACF1-0BF92A1CC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Audit giữ đủ timeline, UI chỉ hiện một hồ sơ.</a:t>
            </a:r>
            <a:endParaRPr sz="1050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BE0115F5-FB86-4447-9963-315E4615C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14/10/2026</a:t>
            </a:r>
            <a:endParaRPr sz="900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6" name="Rectangle 45">
            <a:extLst xmlns:a="http://schemas.openxmlformats.org/drawingml/2006/main">
              <a:ext uri="{FF2B5EF4-FFF2-40B4-BE49-F238E27FC236}">
                <a16:creationId xmlns:a16="http://schemas.microsoft.com/office/drawing/2014/main" id="{92F64421-B5B2-497E-9539-730354F34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buNone/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1</a:t>
            </a:r>
            <a:endParaRPr sz="975" b="1">
              <a:solidFill>
                <a:srgbClr val="9FB1C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6176583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Rectangle 45">
            <a:extLst xmlns:a="http://schemas.openxmlformats.org/drawingml/2006/main">
              <a:ext uri="{FF2B5EF4-FFF2-40B4-BE49-F238E27FC236}">
                <a16:creationId xmlns:a16="http://schemas.microsoft.com/office/drawing/2014/main" id="{1900B724-E5F8-463B-AE24-1DE8B0687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02</a:t>
            </a:r>
            <a:endParaRPr sz="1350" b="1">
              <a:solidFill>
                <a:srgbClr val="22D3EE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B2E2BBB-3AAC-4614-9D0B-112355D57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Một luồng — hai điểm con người quyết định</a:t>
            </a:r>
            <a:endParaRPr sz="2550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4DED736-B344-448D-8B5C-039BABB41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Input và AI là dữ kiện; quyết định nghiệp vụ nằm ở policy và quản lý.</a:t>
            </a:r>
            <a:endParaRPr sz="1275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traight Connector 3">
            <a:extLst xmlns:a="http://schemas.openxmlformats.org/drawingml/2006/main">
              <a:ext uri="{FF2B5EF4-FFF2-40B4-BE49-F238E27FC236}">
                <a16:creationId xmlns:a16="http://schemas.microsoft.com/office/drawing/2014/main" id="{A499C800-2BFD-4094-866E-7EF1FC1B2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41E5490E-5AEC-424C-A97E-82B0C6D09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296C9040-24E1-4B75-AD57-C772335ED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  <a:endParaRPr sz="1050" b="1">
              <a:solidFill>
                <a:srgbClr val="0814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97CE907-5D35-4309-BAC8-BC0FC04C4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Input</a:t>
            </a:r>
            <a:endParaRPr sz="1275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FF839393-833F-4F5C-82EB-99146DC2C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  <a:endParaRPr sz="1200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người gửi</a:t>
            </a:r>
            <a:endParaRPr sz="1200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Right Arrow 8">
            <a:extLst xmlns:a="http://schemas.openxmlformats.org/drawingml/2006/main">
              <a:ext uri="{FF2B5EF4-FFF2-40B4-BE49-F238E27FC236}">
                <a16:creationId xmlns:a16="http://schemas.microsoft.com/office/drawing/2014/main" id="{350CE6BF-349C-4724-9D9B-E4550E662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229350C-3CD1-431D-805E-0B3E54E0B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27516F9-F1D1-4234-B22C-1DBB1F374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  <a:endParaRPr sz="1050" b="1">
              <a:solidFill>
                <a:srgbClr val="0814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10937D1-DC97-410C-9347-5E4C4F2CE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Nhận hồ sơ</a:t>
            </a:r>
            <a:endParaRPr sz="1275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9244A91-9915-4D75-A574-530B8E315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Lưu PENDING</a:t>
            </a:r>
            <a:endParaRPr sz="1200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HTTP 202</a:t>
            </a:r>
            <a:endParaRPr sz="1200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ight Arrow 13">
            <a:extLst xmlns:a="http://schemas.openxmlformats.org/drawingml/2006/main">
              <a:ext uri="{FF2B5EF4-FFF2-40B4-BE49-F238E27FC236}">
                <a16:creationId xmlns:a16="http://schemas.microsoft.com/office/drawing/2014/main" id="{CD5C7458-E163-4185-AD5C-1878AD396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C94C1FF7-708E-48B1-A9FF-E73F625BA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EC8844D1-E138-4644-856A-410A49B2E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  <a:endParaRPr sz="1050" b="1">
              <a:solidFill>
                <a:srgbClr val="0814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2E5A8E61-8E08-40F0-B192-C1FD7AC17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Worker</a:t>
            </a:r>
            <a:endParaRPr sz="1275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6C3D4A1D-A936-4B9D-9CAC-D03C899F7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Claim bằng lease</a:t>
            </a:r>
            <a:endParaRPr sz="1200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khôi phục sau restart</a:t>
            </a:r>
            <a:endParaRPr sz="1200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ight Arrow 18">
            <a:extLst xmlns:a="http://schemas.openxmlformats.org/drawingml/2006/main">
              <a:ext uri="{FF2B5EF4-FFF2-40B4-BE49-F238E27FC236}">
                <a16:creationId xmlns:a16="http://schemas.microsoft.com/office/drawing/2014/main" id="{965DEAC1-8A00-47C6-9CF2-8E83E113F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CC88F2D8-2E2F-473F-9846-94C1157A4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4B6E92BF-C27A-4186-9A7C-07D6CD763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  <a:endParaRPr sz="1050" b="1">
              <a:solidFill>
                <a:srgbClr val="0814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F06A0B2A-C022-4409-A323-C54645062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</a:t>
            </a:r>
            <a:endParaRPr sz="1275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FA88E226-31B7-4BAA-8479-0F1C004D8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Primary hoặc fallback</a:t>
            </a:r>
            <a:endParaRPr sz="1200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semantic repair</a:t>
            </a:r>
            <a:endParaRPr sz="1200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Right Arrow 23">
            <a:extLst xmlns:a="http://schemas.openxmlformats.org/drawingml/2006/main">
              <a:ext uri="{FF2B5EF4-FFF2-40B4-BE49-F238E27FC236}">
                <a16:creationId xmlns:a16="http://schemas.microsoft.com/office/drawing/2014/main" id="{2909F375-48CB-4CB6-AA7F-7D7DC31F2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2FD2AF11-077B-439F-8A9A-9BD8F42AD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34313841-14CA-41B7-9E44-D651CCAFB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5</a:t>
            </a:r>
            <a:endParaRPr sz="1050" b="1">
              <a:solidFill>
                <a:srgbClr val="0814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5F416ACE-CFAC-474A-AE97-EE2546ED1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</a:t>
            </a:r>
            <a:endParaRPr sz="1275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98CFB95F-C578-4565-99BC-07C7F0DE1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>
            <a:def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AUTO_APPROVE</a:t>
            </a:r>
            <a:endParaRPr sz="1200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ctr">
              <a:buNone/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hoặc ESCALATE_*</a:t>
            </a:r>
            <a:endParaRPr sz="1200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12183B55-3553-410E-A89C-14220732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người #1</a:t>
            </a:r>
            <a:endParaRPr sz="1125" b="1">
              <a:solidFill>
                <a:srgbClr val="22D3EE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Rounded Rectangle 29">
            <a:extLst xmlns:a="http://schemas.openxmlformats.org/drawingml/2006/main">
              <a:ext uri="{FF2B5EF4-FFF2-40B4-BE49-F238E27FC236}">
                <a16:creationId xmlns:a16="http://schemas.microsoft.com/office/drawing/2014/main" id="{D57AC663-3BBA-48B3-A121-469CFC711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50958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646B8459-C604-4592-8743-77CE90DEB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Nhân viên xác nhận chuyển tiếp</a:t>
            </a:r>
            <a:endParaRPr sz="1725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771259B0-3B68-45EE-99F5-A8B4DBDCC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0075"/>
            <a:ext cx="4286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chỉ hồ sơ ESCALATE_*</a:t>
            </a:r>
            <a:endParaRPr sz="1350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l">
              <a:buNone/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chuyển từng hồ sơ hoặc tất cả</a:t>
            </a:r>
            <a:endParaRPr sz="1350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l">
              <a:buNone/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tab quản lý cập nhật ngay</a:t>
            </a:r>
            <a:endParaRPr sz="1350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" name="Rounded Rectangle 32">
            <a:extLst xmlns:a="http://schemas.openxmlformats.org/drawingml/2006/main">
              <a:ext uri="{FF2B5EF4-FFF2-40B4-BE49-F238E27FC236}">
                <a16:creationId xmlns:a16="http://schemas.microsoft.com/office/drawing/2014/main" id="{001D2D71-028E-4FF1-86E9-1E75660F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1809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Không chuyển âm thầm</a:t>
            </a:r>
            <a:endParaRPr sz="1050" b="1">
              <a:solidFill>
                <a:srgbClr val="0814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DA92F839-B99E-4FC1-AACF-8D47093AE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Điểm người #2</a:t>
            </a:r>
            <a:endParaRPr sz="1125" b="1">
              <a:solidFill>
                <a:srgbClr val="F8C14C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" name="Rounded Rectangle 34">
            <a:extLst xmlns:a="http://schemas.openxmlformats.org/drawingml/2006/main">
              <a:ext uri="{FF2B5EF4-FFF2-40B4-BE49-F238E27FC236}">
                <a16:creationId xmlns:a16="http://schemas.microsoft.com/office/drawing/2014/main" id="{97066FC7-AEA6-4C20-AF0D-35FFC527D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714750"/>
            <a:ext cx="55149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14E0733E-FBB8-4093-B54C-21D5F6F0E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43350"/>
            <a:ext cx="4905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trả lời câu hỏi cụ thể</a:t>
            </a:r>
            <a:endParaRPr sz="1725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7" name="Rounded Rectangle 36">
            <a:extLst xmlns:a="http://schemas.openxmlformats.org/drawingml/2006/main">
              <a:ext uri="{FF2B5EF4-FFF2-40B4-BE49-F238E27FC236}">
                <a16:creationId xmlns:a16="http://schemas.microsoft.com/office/drawing/2014/main" id="{78CACB79-03BB-4F96-BF9E-84E529D24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12352F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38" name="Rectangle 37">
            <a:extLst xmlns:a="http://schemas.openxmlformats.org/drawingml/2006/main">
              <a:ext uri="{FF2B5EF4-FFF2-40B4-BE49-F238E27FC236}">
                <a16:creationId xmlns:a16="http://schemas.microsoft.com/office/drawing/2014/main" id="{B5F8E184-000F-4543-993B-AF93F5134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ctr"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ĐỒNG Ý</a:t>
            </a:r>
            <a:endParaRPr sz="1200" b="1">
              <a:solidFill>
                <a:srgbClr val="2DD4A7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9" name="Rectangle 38">
            <a:extLst xmlns:a="http://schemas.openxmlformats.org/drawingml/2006/main">
              <a:ext uri="{FF2B5EF4-FFF2-40B4-BE49-F238E27FC236}">
                <a16:creationId xmlns:a16="http://schemas.microsoft.com/office/drawing/2014/main" id="{9A6CC6A0-1B06-40F4-94FA-5BC199036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duyệt ngoại lệ / tiếp nhận</a:t>
            </a:r>
            <a:endParaRPr sz="975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0" name="Rounded Rectangle 39">
            <a:extLst xmlns:a="http://schemas.openxmlformats.org/drawingml/2006/main">
              <a:ext uri="{FF2B5EF4-FFF2-40B4-BE49-F238E27FC236}">
                <a16:creationId xmlns:a16="http://schemas.microsoft.com/office/drawing/2014/main" id="{CFDB0D76-5DFE-4234-880D-310A32854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3A202C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41" name="Rectangle 40">
            <a:extLst xmlns:a="http://schemas.openxmlformats.org/drawingml/2006/main">
              <a:ext uri="{FF2B5EF4-FFF2-40B4-BE49-F238E27FC236}">
                <a16:creationId xmlns:a16="http://schemas.microsoft.com/office/drawing/2014/main" id="{2FCDF273-9CEB-4FEA-9293-A24D36E80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ctr"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TỪ CHỐI</a:t>
            </a:r>
            <a:endParaRPr sz="1200" b="1">
              <a:solidFill>
                <a:srgbClr val="FF6B7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2" name="Rectangle 41">
            <a:extLst xmlns:a="http://schemas.openxmlformats.org/drawingml/2006/main">
              <a:ext uri="{FF2B5EF4-FFF2-40B4-BE49-F238E27FC236}">
                <a16:creationId xmlns:a16="http://schemas.microsoft.com/office/drawing/2014/main" id="{556CFA33-E1E7-487A-88EC-ADB0012A7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lại / yêu cầu bổ sung</a:t>
            </a:r>
            <a:endParaRPr sz="975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3" name="Rectangle 42">
            <a:extLst xmlns:a="http://schemas.openxmlformats.org/drawingml/2006/main">
              <a:ext uri="{FF2B5EF4-FFF2-40B4-BE49-F238E27FC236}">
                <a16:creationId xmlns:a16="http://schemas.microsoft.com/office/drawing/2014/main" id="{B25D350A-50B4-4D49-8953-4202FE955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14950"/>
            <a:ext cx="470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ctr"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Audit append-only • hoàn tác quyết định gần nhất</a:t>
            </a:r>
            <a:endParaRPr sz="1125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4" name="Rectangle 43">
            <a:extLst xmlns:a="http://schemas.openxmlformats.org/drawingml/2006/main">
              <a:ext uri="{FF2B5EF4-FFF2-40B4-BE49-F238E27FC236}">
                <a16:creationId xmlns:a16="http://schemas.microsoft.com/office/drawing/2014/main" id="{F8791348-E2D8-4797-B2BB-944AB6174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14/10/2026</a:t>
            </a:r>
            <a:endParaRPr sz="900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Rectangle 44">
            <a:extLst xmlns:a="http://schemas.openxmlformats.org/drawingml/2006/main">
              <a:ext uri="{FF2B5EF4-FFF2-40B4-BE49-F238E27FC236}">
                <a16:creationId xmlns:a16="http://schemas.microsoft.com/office/drawing/2014/main" id="{69632952-5E53-483A-8C00-2A31EEC77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buNone/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2</a:t>
            </a:r>
            <a:endParaRPr sz="975" b="1">
              <a:solidFill>
                <a:srgbClr val="9FB1C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6754672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A82351D1-3704-4915-8669-1619DE774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03</a:t>
            </a:r>
            <a:endParaRPr sz="1350" b="1">
              <a:solidFill>
                <a:srgbClr val="22D3EE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605CD9F-D8C7-4AF4-BA2D-5952C05ED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kỹ thuật và tác động cần đo</a:t>
            </a:r>
            <a:endParaRPr sz="2550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35CD1AC-0374-414E-80A2-BDE4FAB2F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Một missed escalation đã đổi cách xây AURA: đo an toàn trước, rồi mới tối ưu tốc độ.</a:t>
            </a:r>
            <a:endParaRPr sz="1275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traight Connector 3">
            <a:extLst xmlns:a="http://schemas.openxmlformats.org/drawingml/2006/main">
              <a:ext uri="{FF2B5EF4-FFF2-40B4-BE49-F238E27FC236}">
                <a16:creationId xmlns:a16="http://schemas.microsoft.com/office/drawing/2014/main" id="{1D260EEF-683F-4055-ACE4-8A8EE4AE4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69013FF6-99AC-47E6-A52C-5256D49E3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533400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BED806AA-E679-4AE1-8AC6-FE05A156E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8191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TRƯỚC</a:t>
            </a:r>
            <a:endParaRPr sz="1050" b="1">
              <a:solidFill>
                <a:srgbClr val="0814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BF789AD-1004-4B8B-86B3-356FE2DD9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và phân loại thủ công</a:t>
            </a:r>
            <a:endParaRPr sz="1800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38203D48-0F11-45CE-AB33-1B58DAE0D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647950"/>
            <a:ext cx="4810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nhiều lần chạm trên hồ sơ routine</a:t>
            </a:r>
            <a:endParaRPr sz="1350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l">
              <a:buNone/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escalation không nhất quán</a:t>
            </a:r>
            <a:endParaRPr sz="1350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l">
              <a:buNone/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lịch sử rời rạc, khó giải thích</a:t>
            </a:r>
            <a:endParaRPr sz="1350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3A484665-7F85-4CD4-AF85-E07C57059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43050"/>
            <a:ext cx="53149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51A0BCF-29DD-48EA-97C0-F455EB76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13811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SAU — MỤC TIÊU</a:t>
            </a:r>
            <a:endParaRPr sz="1050" b="1">
              <a:solidFill>
                <a:srgbClr val="0814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57D6DF2D-4A21-4197-8099-DC7FB3206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Tự xử lý ca rõ ràng</a:t>
            </a:r>
            <a:endParaRPr sz="1800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344D0883-6731-416E-A476-B0A1CF32D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con người chỉ nhận ngoại lệ</a:t>
            </a:r>
            <a:endParaRPr sz="1350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l">
              <a:buNone/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có dữ kiện và lựa chọn</a:t>
            </a:r>
            <a:endParaRPr sz="1350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l">
              <a:buNone/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một hồ sơ, một timeline truy vết</a:t>
            </a:r>
            <a:endParaRPr sz="1350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E883158E-13B0-4A1C-92D8-BB5B835F5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76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đã có</a:t>
            </a:r>
            <a:endParaRPr sz="1500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0D883CBE-37DB-4D20-99E8-294C06814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A5B2E2D6-5F01-4281-A0C0-3B1E8EBC1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ctr"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4D8DFF"/>
                </a:solidFill>
                <a:latin typeface="Arial"/>
                <a:ea typeface="Arial"/>
                <a:cs typeface="Arial"/>
              </a:rPr>
              <a:t>163/163</a:t>
            </a:r>
            <a:endParaRPr sz="2325" b="1">
              <a:solidFill>
                <a:srgbClr val="4D8D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81A4E144-0F28-4E3F-A186-190F8DE51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test offline</a:t>
            </a:r>
            <a:endParaRPr sz="1050" b="1">
              <a:solidFill>
                <a:srgbClr val="9FB1C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6F1F4E7D-D476-4BC4-8D77-A86ABDB9B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D223F992-5287-4C14-AC5D-1E0CCCED8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ctr">
              <a:defRPr sz="23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23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8/10</a:t>
            </a:r>
            <a:endParaRPr sz="2325" b="1">
              <a:solidFill>
                <a:srgbClr val="2DD4A7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E5EB2CC7-8B34-4A15-A619-CD91B3B1E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mini-holdout mới</a:t>
            </a:r>
            <a:endParaRPr sz="1050" b="1">
              <a:solidFill>
                <a:srgbClr val="9FB1C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3CB3CE75-6184-4FA8-B1A8-C1EEA04C8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7DEB9CE9-E46B-4428-B390-B881814EB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ctr"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78BFA"/>
                </a:solidFill>
                <a:latin typeface="Arial"/>
                <a:ea typeface="Arial"/>
                <a:cs typeface="Arial"/>
              </a:rPr>
              <a:t>5/5</a:t>
            </a:r>
            <a:endParaRPr sz="2325" b="1">
              <a:solidFill>
                <a:srgbClr val="A78BF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4CB18758-1C8D-4935-87E1-3D16DDE8B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Verify live 65s</a:t>
            </a:r>
            <a:endParaRPr sz="1050" b="1">
              <a:solidFill>
                <a:srgbClr val="9FB1C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9DB0BE0E-5241-4D18-BCF8-B5AFACADD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076700"/>
            <a:ext cx="5610225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F7BD931D-8954-4344-9C6F-E59CC9583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76725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Đo trong pilot</a:t>
            </a:r>
            <a:endParaRPr sz="1500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40D58447-DD7D-4A7A-831B-821C3041F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Touchless rate</a:t>
            </a:r>
            <a:endParaRPr sz="1050" b="1">
              <a:solidFill>
                <a:srgbClr val="0814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1480A7A4-A3DD-48A4-B8BB-C609B1294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Review time</a:t>
            </a:r>
            <a:endParaRPr sz="1050" b="1">
              <a:solidFill>
                <a:srgbClr val="0814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482CF1B3-E8A4-44E5-8167-F043815F6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Over-escalation</a:t>
            </a:r>
            <a:endParaRPr sz="1050" b="1">
              <a:solidFill>
                <a:srgbClr val="0814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FACF33E6-4DF5-442E-AF8D-70DA0CFAA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Missed escalation</a:t>
            </a:r>
            <a:endParaRPr sz="1050" b="1">
              <a:solidFill>
                <a:srgbClr val="0814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29D22BA4-879F-47FB-A6EE-59278A787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5810250"/>
            <a:ext cx="5610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ctr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Lượt lặp 11/12 chỉ đo stability; touchless rate và review time chờ pilot.</a:t>
            </a:r>
            <a:endParaRPr sz="1125" b="1">
              <a:solidFill>
                <a:srgbClr val="F8C14C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654F4A48-74E5-4FDA-A764-8EFCBC430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14/10/2026</a:t>
            </a:r>
            <a:endParaRPr sz="900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91A9542D-6304-4A09-AB25-9D114F8ED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buNone/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3</a:t>
            </a:r>
            <a:endParaRPr sz="975" b="1">
              <a:solidFill>
                <a:srgbClr val="9FB1C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971914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C37063CD-B925-40CA-9775-9E193E80E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04</a:t>
            </a:r>
            <a:endParaRPr sz="1350" b="1">
              <a:solidFill>
                <a:srgbClr val="22D3EE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9F1E6C0-07B4-49CF-B9F4-1BA219840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Kiến trúc: model thay được, policy đứng yên</a:t>
            </a:r>
            <a:endParaRPr sz="2550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4435F57-7A8D-4354-B799-F65992E93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Vertical slice chạy thật trên ASP.NET Core; Test Kit chỉ là dữ liệu mô phỏng.</a:t>
            </a:r>
            <a:endParaRPr sz="1275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traight Connector 3">
            <a:extLst xmlns:a="http://schemas.openxmlformats.org/drawingml/2006/main">
              <a:ext uri="{FF2B5EF4-FFF2-40B4-BE49-F238E27FC236}">
                <a16:creationId xmlns:a16="http://schemas.microsoft.com/office/drawing/2014/main" id="{2C0DF423-799B-4C7C-AE65-3CB206F1A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E000A332-DAF0-4D0C-88F7-D7F8B37BC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57B1B08D-4A4B-4818-8AF6-646271BA1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GIAO DIỆN</a:t>
            </a:r>
            <a:endParaRPr sz="1050" b="1">
              <a:solidFill>
                <a:srgbClr val="0814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236F988-2C52-4AA4-AEDE-E51E17C17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Razor MVC • fetch HTTP 202 • status polling sau upload</a:t>
            </a:r>
            <a:endParaRPr sz="1275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Straight Connector 7">
            <a:extLst xmlns:a="http://schemas.openxmlformats.org/drawingml/2006/main">
              <a:ext uri="{FF2B5EF4-FFF2-40B4-BE49-F238E27FC236}">
                <a16:creationId xmlns:a16="http://schemas.microsoft.com/office/drawing/2014/main" id="{A9333E44-6E0B-4994-9F40-DE3F0A03F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1717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A5B645C9-E2D6-400D-9809-8D1794C05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57F6493-C2AD-4F6F-9BC9-2521BAC82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336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ỨNG DỤNG</a:t>
            </a:r>
            <a:endParaRPr sz="1050" b="1">
              <a:solidFill>
                <a:srgbClr val="0814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9266A997-2BDE-4AB8-98AE-99B0B90E2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527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worker • lease • circuit breaker</a:t>
            </a:r>
            <a:endParaRPr sz="1275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B326C32D-4D5D-4527-B91A-7CA7E1814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99085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76FB2AE7-1720-4BC2-947C-B4E2F0024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813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17522572-29B3-4F70-9B58-9501754FC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QUYẾT ĐỊNH</a:t>
            </a:r>
            <a:endParaRPr sz="1050" b="1">
              <a:solidFill>
                <a:srgbClr val="0814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0C968679-FA8A-4079-B912-676EBAE71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3718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Schema + identifier validation → Policy C# → human review</a:t>
            </a:r>
            <a:endParaRPr sz="1275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Straight Connector 15">
            <a:extLst xmlns:a="http://schemas.openxmlformats.org/drawingml/2006/main">
              <a:ext uri="{FF2B5EF4-FFF2-40B4-BE49-F238E27FC236}">
                <a16:creationId xmlns:a16="http://schemas.microsoft.com/office/drawing/2014/main" id="{A83BC7CF-EB6F-4AB0-AB8A-BA7F4BC66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8100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27B16739-6798-4BFB-8BB8-1751A7B0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BA02A436-25C6-4A5F-90EF-7F88CC390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719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DỮ LIỆU</a:t>
            </a:r>
            <a:endParaRPr sz="1050" b="1">
              <a:solidFill>
                <a:srgbClr val="0814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ECE8D21D-E9FB-4D20-AD83-5B8ECF4A9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1910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EF Core • SQL Server • private receipt storage • AuditLogs</a:t>
            </a:r>
            <a:endParaRPr sz="1275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29B47E1D-F9CF-49AC-9EB1-4D2893638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95875"/>
            <a:ext cx="72390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0E2A3D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4FAA20B8-B978-4715-A0D2-6D1D1C3ED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76850"/>
            <a:ext cx="1952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VISION PROVIDER</a:t>
            </a:r>
            <a:endParaRPr sz="1125" b="1">
              <a:solidFill>
                <a:srgbClr val="22D3EE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AF443B0B-6525-4EA2-8DE7-260003889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62600"/>
            <a:ext cx="657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OpenRouter → Alibaba primary • Ollama local opt-in • model không quyết định</a:t>
            </a:r>
            <a:endParaRPr sz="1350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F69D48E3-E4DE-4D60-B112-985D9E5E7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43050"/>
            <a:ext cx="35052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F8C8A024-DBED-42BE-9A74-7EB8DA2D8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CHẠY THẬT</a:t>
            </a:r>
            <a:endParaRPr sz="1050" b="1">
              <a:solidFill>
                <a:srgbClr val="0814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6D9A15C7-EFFB-4222-9A3A-0B706127F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38375"/>
            <a:ext cx="2905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Upload + validation</a:t>
            </a:r>
            <a:endParaRPr sz="1500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l">
              <a:buNone/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 provider</a:t>
            </a:r>
            <a:endParaRPr sz="1500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l">
              <a:buNone/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 C#</a:t>
            </a:r>
            <a:endParaRPr sz="1500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l">
              <a:buNone/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SQL + Audit + Undo</a:t>
            </a:r>
            <a:endParaRPr sz="1500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D75B3CCB-4338-4BFC-9E78-403F530A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81425"/>
            <a:ext cx="35052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01EE3F69-B6FF-4E9C-943D-8F2D8887B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90975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MÔ PHỎNG</a:t>
            </a:r>
            <a:endParaRPr sz="1050" b="1">
              <a:solidFill>
                <a:srgbClr val="0814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Rectangle 27">
            <a:extLst xmlns:a="http://schemas.openxmlformats.org/drawingml/2006/main">
              <a:ext uri="{FF2B5EF4-FFF2-40B4-BE49-F238E27FC236}">
                <a16:creationId xmlns:a16="http://schemas.microsoft.com/office/drawing/2014/main" id="{9659355B-FEE2-4001-A806-0FEBD064B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76750"/>
            <a:ext cx="290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30 ảnh tổng hợp</a:t>
            </a:r>
            <a:endParaRPr sz="1500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l">
              <a:buNone/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5 ca Verify trên UI</a:t>
            </a:r>
            <a:endParaRPr sz="1500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l">
              <a:buNone/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15/30 ca qua runner</a:t>
            </a:r>
            <a:endParaRPr sz="1500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9D93291A-E830-4AC2-91CB-CF1180F77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46735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tax/e-invoice lookup</a:t>
            </a:r>
            <a:endParaRPr sz="1050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l">
              <a:buNone/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user role thật</a:t>
            </a:r>
            <a:endParaRPr sz="1050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243D71A4-4EE4-4F3D-BDEF-81DD2BDCF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14/10/2026</a:t>
            </a:r>
            <a:endParaRPr sz="900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C452B0A9-CFA7-4F0A-B498-358FFD636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buNone/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4</a:t>
            </a:r>
            <a:endParaRPr sz="975" b="1">
              <a:solidFill>
                <a:srgbClr val="9FB1C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926721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Rectangle 35">
            <a:extLst xmlns:a="http://schemas.openxmlformats.org/drawingml/2006/main">
              <a:ext uri="{FF2B5EF4-FFF2-40B4-BE49-F238E27FC236}">
                <a16:creationId xmlns:a16="http://schemas.microsoft.com/office/drawing/2014/main" id="{52ECACE3-3A3D-4943-994A-CCF55AE5D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61950"/>
            <a:ext cx="647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05</a:t>
            </a:r>
            <a:endParaRPr sz="1350" b="1">
              <a:solidFill>
                <a:srgbClr val="22D3EE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D9BB3D0-070F-4610-8C3F-4913CA6A4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Giới hạn hiện tại và cách fail-safe</a:t>
            </a:r>
            <a:endParaRPr sz="2550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45932F6-2284-42FD-8181-9BA6B31D9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Fallback có allowlist và circuit breaker; lỗi dữ liệu không được che bằng đổi model.</a:t>
            </a:r>
            <a:endParaRPr sz="1275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traight Connector 3">
            <a:extLst xmlns:a="http://schemas.openxmlformats.org/drawingml/2006/main">
              <a:ext uri="{FF2B5EF4-FFF2-40B4-BE49-F238E27FC236}">
                <a16:creationId xmlns:a16="http://schemas.microsoft.com/office/drawing/2014/main" id="{7D82B072-E4D8-46C6-B77C-4B7A458C5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6EE8E597-3BB1-4909-BF17-41C2EC345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954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1273641E-B291-4CEA-85AE-EDDCA9C0C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429 / timeout</a:t>
            </a:r>
            <a:endParaRPr sz="1050" b="1">
              <a:solidFill>
                <a:srgbClr val="0814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B5C18D8-40D8-40CA-A733-F9B151B5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6764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Fallback 1 lần nếu bật • audit provider</a:t>
            </a:r>
            <a:endParaRPr sz="1275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711D83A7-8614-4A99-8C5B-A11290C0F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955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1ADF251B-B20E-4772-90CB-A37FE2109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Provider lỗi liên tiếp</a:t>
            </a:r>
            <a:endParaRPr sz="1050" b="1">
              <a:solidFill>
                <a:srgbClr val="0814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FD816FD-303B-4111-8728-0DA7B83E3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76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Circuit mở • cooldown • primary probe</a:t>
            </a:r>
            <a:endParaRPr sz="1275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E6454472-2318-4A24-BC33-BEE91AD0A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956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47303874-0C39-4CF4-81DF-BC6F9595E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JSON / semantic sai</a:t>
            </a:r>
            <a:endParaRPr sz="1050" b="1">
              <a:solidFill>
                <a:srgbClr val="0814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DF2E2ECE-3505-4E0D-8F29-1BAD0F923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276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Repair đúng 1 lần • rồi FACT fail-safe</a:t>
            </a:r>
            <a:endParaRPr sz="1275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11846EB-887F-4ACD-B5D6-B84BE7443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957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812E58D4-5EE6-4958-AA67-CF4315F2A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App restart</a:t>
            </a:r>
            <a:endParaRPr sz="1050" b="1">
              <a:solidFill>
                <a:srgbClr val="0814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D2DC93C2-3AA2-4833-8653-D66AA59B2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0767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 job + lease • worker reclaim</a:t>
            </a:r>
            <a:endParaRPr sz="1275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98CA12F4-3993-4038-B288-00CE4B43B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958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9F1FD9B5-A75E-43B1-BDA7-84E83D399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672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Ảnh mơ hồ / giả</a:t>
            </a:r>
            <a:endParaRPr sz="1050" b="1">
              <a:solidFill>
                <a:srgbClr val="0814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E3463103-12AC-4DDB-BC58-67BAD8322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8768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FACT ưu tiên • không auto-approve</a:t>
            </a:r>
            <a:endParaRPr sz="1275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F03CC01C-CDBB-4F8B-83DB-33FBBAD9B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95425"/>
            <a:ext cx="36385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4C05EF96-2AC8-40D2-A506-8C9E08246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1714500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ĐÃ BÀN GIAO</a:t>
            </a:r>
            <a:endParaRPr sz="1125" b="1">
              <a:solidFill>
                <a:srgbClr val="2DD4A7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5EE42D7C-269E-4E91-B20E-D24E0E239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143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  <a:endParaRPr sz="1050" b="1">
              <a:solidFill>
                <a:srgbClr val="0814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9B262B59-C41F-4971-BF42-35E37D209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71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DB-backed upload queue</a:t>
            </a:r>
            <a:endParaRPr sz="1200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6DCC4AE3-ED67-4499-AABE-119EF09E5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524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  <a:endParaRPr sz="1050" b="1">
              <a:solidFill>
                <a:srgbClr val="0814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6BF72799-88D8-400A-9795-01B66EB0D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552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163 test, build sạch</a:t>
            </a:r>
            <a:endParaRPr sz="1200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A91EAEE5-F1B8-40BD-95CB-68B0C482F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905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  <a:endParaRPr sz="1050" b="1">
              <a:solidFill>
                <a:srgbClr val="0814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6D6379D5-1995-468C-8132-241414B6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33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8/10 prospective, Verify 5/5 &lt;90s</a:t>
            </a:r>
            <a:endParaRPr sz="1200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B7671BF9-FA1B-4215-AABC-D8B51E4DA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286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  <a:endParaRPr sz="1050" b="1">
              <a:solidFill>
                <a:srgbClr val="08142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CC6DBCE0-6D35-4050-92D2-3300FD477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314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4953"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Concurrency 5/5 • mobile 4G/5G pass</a:t>
            </a:r>
            <a:endParaRPr sz="1200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0" name="Rounded Rectangle 29">
            <a:extLst xmlns:a="http://schemas.openxmlformats.org/drawingml/2006/main">
              <a:ext uri="{FF2B5EF4-FFF2-40B4-BE49-F238E27FC236}">
                <a16:creationId xmlns:a16="http://schemas.microsoft.com/office/drawing/2014/main" id="{7D2FEE35-DAA7-480D-8196-352C4F71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3638550" cy="1457325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342334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40F71602-A563-49C6-B79A-BA1AE994B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257675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CHƯA CÓ TRONG BASELINE</a:t>
            </a:r>
            <a:endParaRPr sz="1125" b="1">
              <a:solidFill>
                <a:srgbClr val="FF6B7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3318E1EE-7E20-4325-B212-83FF32B0D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638675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 người dùng thực tế • rehearsal</a:t>
            </a:r>
            <a:endParaRPr sz="1200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l">
              <a:buNone/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PDF/nhiều trang</a:t>
            </a:r>
            <a:endParaRPr sz="1200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algn="l">
              <a:buNone/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authentication • object storage</a:t>
            </a:r>
            <a:endParaRPr sz="1200" b="1">
              <a:solidFill>
                <a:srgbClr val="F5F8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" name="Rectangle 32">
            <a:extLst xmlns:a="http://schemas.openxmlformats.org/drawingml/2006/main">
              <a:ext uri="{FF2B5EF4-FFF2-40B4-BE49-F238E27FC236}">
                <a16:creationId xmlns:a16="http://schemas.microsoft.com/office/drawing/2014/main" id="{F6F5AAAF-D61F-4205-B0B8-5F96DF5A7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724525"/>
            <a:ext cx="3638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ctr"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Verify vẫn đúng 5 ca BTC; runner mở rộng không làm rối dashboard.</a:t>
            </a:r>
            <a:endParaRPr sz="1050" b="1">
              <a:solidFill>
                <a:srgbClr val="F8C14C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4" name="Rectangle 33">
            <a:extLst xmlns:a="http://schemas.openxmlformats.org/drawingml/2006/main">
              <a:ext uri="{FF2B5EF4-FFF2-40B4-BE49-F238E27FC236}">
                <a16:creationId xmlns:a16="http://schemas.microsoft.com/office/drawing/2014/main" id="{B69C5177-C479-4055-9925-79CA3E0B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l">
              <a:buNone/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Giới hạn hiện tại, không phải lời hứa marketing</a:t>
            </a:r>
            <a:endParaRPr sz="900" b="0">
              <a:solidFill>
                <a:srgbClr val="9FB1C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" name="Rectangle 34">
            <a:extLst xmlns:a="http://schemas.openxmlformats.org/drawingml/2006/main">
              <a:ext uri="{FF2B5EF4-FFF2-40B4-BE49-F238E27FC236}">
                <a16:creationId xmlns:a16="http://schemas.microsoft.com/office/drawing/2014/main" id="{C1108698-08F6-4916-9E9C-099683154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15100"/>
            <a:ext cx="514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>
            <a:def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r">
              <a:buNone/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5</a:t>
            </a:r>
            <a:endParaRPr sz="975" b="1">
              <a:solidFill>
                <a:srgbClr val="9FB1C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217340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2026-10-14T02:23:06.7000000Z</dcterms:created>
  <dcterms:modified xsi:type="dcterms:W3CDTF">2026-10-14T02:23:06.7000000Z</dcterms:modified>
</coreProperties>
</file>
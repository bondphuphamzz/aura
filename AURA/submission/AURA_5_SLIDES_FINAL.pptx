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171ee3b0f234289" /><Relationship Type="http://schemas.openxmlformats.org/officeDocument/2006/relationships/extended-properties" Target="/docProps/app.xml" Id="R1319193e230d44a2" /><Relationship Type="http://schemas.openxmlformats.org/officeDocument/2006/relationships/officeDocument" Target="/ppt/presentation.xml" Id="R1e3bac14a979482a" /></Relationships>
</file>

<file path=ppt/presentation.xml><?xml version="1.0" encoding="utf-8"?>
<p:presentation xmlns:p="http://schemas.openxmlformats.org/presentationml/2006/main">
  <p:sldMasterIdLst>
    <p:sldMasterId xmlns:r="http://schemas.openxmlformats.org/officeDocument/2006/relationships" id="2147483648" r:id="Ra1953dc87b8043ff"/>
  </p:sldMasterIdLst>
  <p:notesMasterIdLst>
    <p:notesMasterId xmlns:r="http://schemas.openxmlformats.org/officeDocument/2006/relationships" r:id="R2d1dbfac85fa436f"/>
  </p:notesMasterIdLst>
  <p:sldIdLst>
    <p:sldId xmlns:r="http://schemas.openxmlformats.org/officeDocument/2006/relationships" id="256" r:id="Refd55929fba44c91"/>
    <p:sldId xmlns:r="http://schemas.openxmlformats.org/officeDocument/2006/relationships" id="257" r:id="R6ab89377d6854b9c"/>
    <p:sldId xmlns:r="http://schemas.openxmlformats.org/officeDocument/2006/relationships" id="258" r:id="Rd18720bc99ff4f82"/>
    <p:sldId xmlns:r="http://schemas.openxmlformats.org/officeDocument/2006/relationships" id="259" r:id="Rfb107deeac364798"/>
    <p:sldId xmlns:r="http://schemas.openxmlformats.org/officeDocument/2006/relationships" id="260" r:id="Rdd7f74eb3e5a4f8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8233d95024c4b82" /><Relationship Type="http://schemas.openxmlformats.org/officeDocument/2006/relationships/slideMaster" Target="/ppt/slideMasters/slideMaster1.xml" Id="Ra1953dc87b8043ff" /><Relationship Type="http://schemas.openxmlformats.org/officeDocument/2006/relationships/notesMaster" Target="/ppt/notesMasters/notesMaster1.xml" Id="R2d1dbfac85fa436f" /><Relationship Type="http://schemas.openxmlformats.org/officeDocument/2006/relationships/presProps" Target="/ppt/presProps.xml" Id="Ref01018681854413" /><Relationship Type="http://schemas.openxmlformats.org/officeDocument/2006/relationships/tableStyles" Target="/ppt/tableStyles.xml" Id="R6f509fa7370443b6" /><Relationship Type="http://schemas.openxmlformats.org/officeDocument/2006/relationships/slide" Target="/ppt/slides/slide1.xml" Id="Refd55929fba44c91" /><Relationship Type="http://schemas.openxmlformats.org/officeDocument/2006/relationships/slide" Target="/ppt/slides/slide2.xml" Id="R6ab89377d6854b9c" /><Relationship Type="http://schemas.openxmlformats.org/officeDocument/2006/relationships/slide" Target="/ppt/slides/slide3.xml" Id="Rd18720bc99ff4f82" /><Relationship Type="http://schemas.openxmlformats.org/officeDocument/2006/relationships/slide" Target="/ppt/slides/slide4.xml" Id="Rfb107deeac364798" /><Relationship Type="http://schemas.openxmlformats.org/officeDocument/2006/relationships/slide" Target="/ppt/slides/slide5.xml" Id="Rdd7f74eb3e5a4f8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a134943441c4f5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AURA restrained navy">
      <a:dk1>
        <a:srgbClr val="091522"/>
      </a:dk1>
      <a:lt1>
        <a:srgbClr val="F4F7FB"/>
      </a:lt1>
      <a:dk2>
        <a:srgbClr val="162A42"/>
      </a:dk2>
      <a:lt2>
        <a:srgbClr val="A6B3C4"/>
      </a:lt2>
      <a:accent1>
        <a:srgbClr val="5F8FD8"/>
      </a:accent1>
      <a:accent2>
        <a:srgbClr val="45A9BE"/>
      </a:accent2>
      <a:accent3>
        <a:srgbClr val="C59A4A"/>
      </a:accent3>
      <a:accent4>
        <a:srgbClr val="4FAF91"/>
      </a:accent4>
      <a:accent5>
        <a:srgbClr val="162A42"/>
      </a:accent5>
      <a:accent6>
        <a:srgbClr val="31445C"/>
      </a:accent6>
      <a:hlink>
        <a:srgbClr val="5F8FD8"/>
      </a:hlink>
      <a:folHlink>
        <a:srgbClr val="45A9BE"/>
      </a:folHlink>
    </a:clrScheme>
    <a:fontScheme name="">
      <a:majorFont>
        <a:latin typeface="Segoe UI"/>
        <a:ea typeface=""/>
        <a:cs typeface=""/>
      </a:majorFont>
      <a:minorFont>
        <a:latin typeface="Segoe UI"/>
        <a:ea typeface=""/>
        <a:cs typeface=""/>
      </a:minorFont>
    </a:fontScheme>
    <a:fmtScheme name="AURA restrained nav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2774f7a336e4386" /><Relationship Type="http://schemas.openxmlformats.org/officeDocument/2006/relationships/notesMaster" Target="/ppt/notesMasters/notesMaster1.xml" Id="R12e109baa5bb456a" /></Relationships>
</file>

<file path=ppt/notesSlides/_rels/notesSlide2.xml.rels>&#65279;<?xml version="1.0" encoding="utf-8"?><Relationships xmlns="http://schemas.openxmlformats.org/package/2006/relationships"><Relationship Type="http://schemas.openxmlformats.org/officeDocument/2006/relationships/slide" Target="/ppt/slides/slide2.xml" Id="R15a21cf689864b54" /><Relationship Type="http://schemas.openxmlformats.org/officeDocument/2006/relationships/notesMaster" Target="/ppt/notesMasters/notesMaster1.xml" Id="R96a56941a97c4577" /></Relationships>
</file>

<file path=ppt/notesSlides/_rels/notesSlide3.xml.rels>&#65279;<?xml version="1.0" encoding="utf-8"?><Relationships xmlns="http://schemas.openxmlformats.org/package/2006/relationships"><Relationship Type="http://schemas.openxmlformats.org/officeDocument/2006/relationships/slide" Target="/ppt/slides/slide3.xml" Id="Ra788052957724593" /><Relationship Type="http://schemas.openxmlformats.org/officeDocument/2006/relationships/notesMaster" Target="/ppt/notesMasters/notesMaster1.xml" Id="R7ff3a9eb29d64ac5" /></Relationships>
</file>

<file path=ppt/notesSlides/_rels/notesSlide4.xml.rels>&#65279;<?xml version="1.0" encoding="utf-8"?><Relationships xmlns="http://schemas.openxmlformats.org/package/2006/relationships"><Relationship Type="http://schemas.openxmlformats.org/officeDocument/2006/relationships/slide" Target="/ppt/slides/slide4.xml" Id="Rfa8dde4ec9674c32" /><Relationship Type="http://schemas.openxmlformats.org/officeDocument/2006/relationships/notesMaster" Target="/ppt/notesMasters/notesMaster1.xml" Id="Re77ec722f65d43bb" /></Relationships>
</file>

<file path=ppt/notesSlides/_rels/notesSlide5.xml.rels>&#65279;<?xml version="1.0" encoding="utf-8"?><Relationships xmlns="http://schemas.openxmlformats.org/package/2006/relationships"><Relationship Type="http://schemas.openxmlformats.org/officeDocument/2006/relationships/slide" Target="/ppt/slides/slide5.xml" Id="Rb1c3de695df74d61" /><Relationship Type="http://schemas.openxmlformats.org/officeDocument/2006/relationships/notesMaster" Target="/ppt/notesMasters/notesMaster1.xml" Id="R4c1435c21d09488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Quy trình hoàn ứng hiện tại có năm điểm chờ. Vấn đề không chỉ là đọc chữ, mà là người duyệt phải tự ghép dữ kiện, quy định và lịch sử trước khi quyết định.</a:t>
            </a:r>
          </a:p>
          <a:p xmlns:a="http://schemas.openxmlformats.org/drawingml/2006/main">
            <a:r>
              <a:t/>
            </a:r>
          </a:p>
          <a:p xmlns:a="http://schemas.openxmlformats.org/drawingml/2006/main">
            <a:r>
              <a:t>Ảnh, claimed amount và metadata nằm rời nhau. Việc đọc thủ công dễ bỏ sót trường trọng yếu. Khi đối chiếu, FACT và POLICY dễ bị trộn. Câu hỏi chuyển cấp thường thiếu ngữ cảnh, còn lịch sử khó nối từ đầu vào tới người chịu trách nhiệm.</a:t>
            </a:r>
          </a:p>
          <a:p xmlns:a="http://schemas.openxmlformats.org/drawingml/2006/main">
            <a:r>
              <a:t/>
            </a:r>
          </a:p>
          <a:p xmlns:a="http://schemas.openxmlformats.org/drawingml/2006/main">
            <a:r>
              <a:t>Khoảng trống mà AURA giải quyết là đóng gói ngoại lệ thành một hồ sơ có facts, policy route và audit. Đây là dòng cầu nối sang giải pháp, chưa phải claim tác động.</a:t>
            </a:r>
          </a:p>
          <a:p xmlns:a="http://schemas.openxmlformats.org/drawingml/2006/main">
            <a:r>
              <a:t/>
            </a:r>
          </a:p>
          <a:p xmlns:a="http://schemas.openxmlformats.org/drawingml/2006/main">
            <a:r>
              <a:t>Nguồn: submission/AURA_PROPOSAL_VI.md; submission/BUSINESS_RULES.md; submission/AURA_WORKFLOW_SPEC.md.</a:t>
            </a:r>
          </a:p>
          <a:p xmlns:a="http://schemas.openxmlformats.org/drawingml/2006/main">
            <a:r>
              <a:t/>
            </a:r>
          </a:p>
          <a:p xmlns:a="http://schemas.openxmlformats.org/drawingml/2006/main">
            <a:r>
              <a:t>CHUYỂN: Slide tiếp theo cho thấy hệ thống xử lý ở đâu và con người quyết định ở đâu.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Sơ đồ chia rõ ba vùng và hai làn để thấy hệ thống làm gì, con người quyết định ở đâu.</a:t>
            </a:r>
          </a:p>
          <a:p xmlns:a="http://schemas.openxmlformats.org/drawingml/2006/main">
            <a:r>
              <a:t/>
            </a:r>
          </a:p>
          <a:p xmlns:a="http://schemas.openxmlformats.org/drawingml/2006/main">
            <a:r>
              <a:t>Pha A kiểm file, lưu riêng tư, tính SHA-256, rồi ghi PENDING cùng AI_QUEUED vào SQL. Người gửi chỉ cung cấp ảnh, claimed amount và metadata.</a:t>
            </a:r>
          </a:p>
          <a:p xmlns:a="http://schemas.openxmlformats.org/drawingml/2006/main">
            <a:r>
              <a:t/>
            </a:r>
          </a:p>
          <a:p xmlns:a="http://schemas.openxmlformats.org/drawingml/2006/main">
            <a:r>
              <a:t>Pha B trả HTTP 202 cùng statusUrl. UI poll trạng thái, còn worker dùng lease 600 giây để xử lý bền vững. Pha C lấy một AI permit, gọi OpenRouter tới Qwen3.8 Flash qua Alibaba, parse JSON Schema thành DTO, semantic validate và repair tối đa một lần.</a:t>
            </a:r>
          </a:p>
          <a:p xmlns:a="http://schemas.openxmlformats.org/drawingml/2006/main">
            <a:r>
              <a:t/>
            </a:r>
          </a:p>
          <a:p xmlns:a="http://schemas.openxmlformats.org/drawingml/2006/main">
            <a:r>
              <a:t>Pha D dùng PolicyDecisionEngine C# để route. AUTO_APPROVE ghi lịch sử. ESCALATE_* mở Gate 9: nhân viên chuyển tiếp, quản lý trả lời CÓ hoặc KHÔNG, Undo tạo event mới.</a:t>
            </a:r>
          </a:p>
          <a:p xmlns:a="http://schemas.openxmlformats.org/drawingml/2006/main">
            <a:r>
              <a:t/>
            </a:r>
          </a:p>
          <a:p xmlns:a="http://schemas.openxmlformats.org/drawingml/2006/main">
            <a:r>
              <a:t>Ranh giới quyền hạn: AI trả FACT; C# áp POLICY; con người giữ AUTHORITY.</a:t>
            </a:r>
          </a:p>
          <a:p xmlns:a="http://schemas.openxmlformats.org/drawingml/2006/main">
            <a:r>
              <a:t/>
            </a:r>
          </a:p>
          <a:p xmlns:a="http://schemas.openxmlformats.org/drawingml/2006/main">
            <a:r>
              <a:t>Nguồn: submission/AURA_WORKFLOW_SPEC.md; docs/RUNBOOK.md; ReceiptProcessingWorker.cs; ReceiptProcessingQueue.cs; VisionInvocationCoordinator.cs.</a:t>
            </a:r>
          </a:p>
          <a:p xmlns:a="http://schemas.openxmlformats.org/drawingml/2006/main">
            <a:r>
              <a:t/>
            </a:r>
          </a:p>
          <a:p xmlns:a="http://schemas.openxmlformats.org/drawingml/2006/main">
            <a:r>
              <a:t>CHUYỂN: Kiến trúc đã rõ, nhưng tác động chỉ được trình bày khi có đối chứng trước và sau.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Slide này dùng bảng đối chiếu thật. Mỗi hàng là một chỉ số; hai phía phải cùng cách đo.</a:t>
            </a:r>
          </a:p>
          <a:p xmlns:a="http://schemas.openxmlformats.org/drawingml/2006/main">
            <a:r>
              <a:t/>
            </a:r>
          </a:p>
          <a:p xmlns:a="http://schemas.openxmlformats.org/drawingml/2006/main">
            <a:r>
              <a:t>ΔT là thời gian đến kết quả cuối và ΔH là số lần chạm. E_missed và E_over so với cùng đáp án chuẩn. A_trace kiểm tra liệu quyết định có đủ audit timeline hay không.</a:t>
            </a:r>
          </a:p>
          <a:p xmlns:a="http://schemas.openxmlformats.org/drawingml/2006/main">
            <a:r>
              <a:t/>
            </a:r>
          </a:p>
          <a:p xmlns:a="http://schemas.openxmlformats.org/drawingml/2006/main">
            <a:r>
              <a:t>Phía AURA đã có 0/10 missed, 2/10 over và audit timeline trên mini-holdout. Phía thủ công chưa đo trên cùng bộ hóa đơn, nên ba hàng này mới có một nửa bằng chứng. ΔT và ΔH chưa có số ở cả hai phía trong user study.</a:t>
            </a:r>
          </a:p>
          <a:p xmlns:a="http://schemas.openxmlformats.org/drawingml/2006/main">
            <a:r>
              <a:t/>
            </a:r>
          </a:p>
          <a:p xmlns:a="http://schemas.openxmlformats.org/drawingml/2006/main">
            <a:r>
              <a:t>Giao thức: ba người dùng làm cùng ba nhiệm vụ trên cùng bộ hóa đơn; so median trước và sau; giữ phản hồi tiêu cực. Team phải khóa ngưỡng đạt hoặc không đạt trước khi nhận kết quả, không chọn ngưỡng sau khi thấy số.</a:t>
            </a:r>
          </a:p>
          <a:p xmlns:a="http://schemas.openxmlformats.org/drawingml/2006/main">
            <a:r>
              <a:t/>
            </a:r>
          </a:p>
          <a:p xmlns:a="http://schemas.openxmlformats.org/drawingml/2006/main">
            <a:r>
              <a:t>163/163, Verify 5/5 và 65.004 giây là bằng chứng kỹ thuật, không phải tác động người dùng hoặc ROI.</a:t>
            </a:r>
          </a:p>
          <a:p xmlns:a="http://schemas.openxmlformats.org/drawingml/2006/main">
            <a:r>
              <a:t/>
            </a:r>
          </a:p>
          <a:p xmlns:a="http://schemas.openxmlformats.org/drawingml/2006/main">
            <a:r>
              <a:t>Nguồn: docs/EVALUATION_EVIDENCE.md; docs/USER_STUDY_PROTOCOL.md; docs/MEASUREMENT_PLAN.md.</a:t>
            </a:r>
          </a:p>
          <a:p xmlns:a="http://schemas.openxmlformats.org/drawingml/2006/main">
            <a:r>
              <a:t/>
            </a:r>
          </a:p>
          <a:p xmlns:a="http://schemas.openxmlformats.org/drawingml/2006/main">
            <a:r>
              <a:t>CHUYỂN: Tiếp theo là kiến trúc triển khai và ranh giới giữa thành phần chạy thật với dữ liệu mô phỏng.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Slide này phân định trực tiếp thành phần chạy thật với dữ liệu và prototype mô phỏng.</a:t>
            </a:r>
          </a:p>
          <a:p xmlns:a="http://schemas.openxmlformats.org/drawingml/2006/main">
            <a:r>
              <a:t/>
            </a:r>
          </a:p>
          <a:p xmlns:a="http://schemas.openxmlformats.org/drawingml/2006/main">
            <a:r>
              <a:t>Bốn lớp chạy thật gồm giao diện Razor MVC, queue/worker trong SQL, AI adapter cùng evidence contract, và PolicyDecisionEngine C# với dữ liệu bền vững. Model có thể thay, nhưng mọi facts vẫn phải qua contract, semantic gate và cùng policy engine.</a:t>
            </a:r>
          </a:p>
          <a:p xmlns:a="http://schemas.openxmlformats.org/drawingml/2006/main">
            <a:r>
              <a:t/>
            </a:r>
          </a:p>
          <a:p xmlns:a="http://schemas.openxmlformats.org/drawingml/2006/main">
            <a:r>
              <a:t>Ba khối mô phỏng hoặc test là 30 ảnh tổng hợp, 5 fixture Verify và evidence overlay prototype. Overlay hiện chỉ gắn với hash, chưa nối vào extraction hoặc policy và chưa có benchmark localization trên ảnh unseen.</a:t>
            </a:r>
          </a:p>
          <a:p xmlns:a="http://schemas.openxmlformats.org/drawingml/2006/main">
            <a:r>
              <a:t/>
            </a:r>
          </a:p>
          <a:p xmlns:a="http://schemas.openxmlformats.org/drawingml/2006/main">
            <a:r>
              <a:t>Mô hình triển khai hiện tại là localhost, một process; AI gọi qua OpenRouter tới route Alibaba; fallback Ollama mặc định tắt.</a:t>
            </a:r>
          </a:p>
          <a:p xmlns:a="http://schemas.openxmlformats.org/drawingml/2006/main">
            <a:r>
              <a:t/>
            </a:r>
          </a:p>
          <a:p xmlns:a="http://schemas.openxmlformats.org/drawingml/2006/main">
            <a:r>
              <a:t>Nguồn: submission/AURA_WORKFLOW_SPEC.md; docs/EVALUATION_EVIDENCE.md; docs/RUNBOOK.md; docs/CURRENT_PROJECT_STATUS.md.</a:t>
            </a:r>
          </a:p>
          <a:p xmlns:a="http://schemas.openxmlformats.org/drawingml/2006/main">
            <a:r>
              <a:t/>
            </a:r>
          </a:p>
          <a:p xmlns:a="http://schemas.openxmlformats.org/drawingml/2006/main">
            <a:r>
              <a:t>CHUYỂN: Kiến trúc đã xác định rõ phạm vi; slide cuối nêu lỗi đã quan sát và điều kiện để mở rộng an toàn.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Slide cuối tách ba phần: lỗi đã quan sát, hạn chế còn lại và điều kiện xác nhận cho bước tiếp theo.</a:t>
            </a:r>
          </a:p>
          <a:p xmlns:a="http://schemas.openxmlformats.org/drawingml/2006/main">
            <a:r>
              <a:t/>
            </a:r>
          </a:p>
          <a:p xmlns:a="http://schemas.openxmlformats.org/drawingml/2006/main">
            <a:r>
              <a:t>Trong mini-holdout, hai over-escalation là FAHASA và GS25_2. FAHASA bị validator từ chối nhãn ‘Thanh toán 91.500 đ’; GS25_2 bị thiếu merchantName gần vùng che. Hệ thống dừng ở FACT để người duyệt kiểm tra, nên không có missed escalation hay provider error.</a:t>
            </a:r>
          </a:p>
          <a:p xmlns:a="http://schemas.openxmlformats.org/drawingml/2006/main">
            <a:r>
              <a:t/>
            </a:r>
          </a:p>
          <a:p xmlns:a="http://schemas.openxmlformats.org/drawingml/2006/main">
            <a:r>
              <a:t>Hai trên ba mươi field trọng yếu sai là hai field của Phương Nam: ngày bị vùng che cắt và identifier bị suy diễn quá mức. Quyết định vẫn đúng FACT; đây là redaction confounder phải công bố riêng, không đồng nhất với hai ca over-escalation.</a:t>
            </a:r>
          </a:p>
          <a:p xmlns:a="http://schemas.openxmlformats.org/drawingml/2006/main">
            <a:r>
              <a:t/>
            </a:r>
          </a:p>
          <a:p xmlns:a="http://schemas.openxmlformats.org/drawingml/2006/main">
            <a:r>
              <a:t>Regression trên 12 ảnh đã biết đạt 10/12 với cùng hai failure mode. Lượt tuần tự 11/12 cho thấy variance, nên không dùng chính các ảnh này để nới guard.</a:t>
            </a:r>
          </a:p>
          <a:p xmlns:a="http://schemas.openxmlformats.org/drawingml/2006/main">
            <a:r>
              <a:t/>
            </a:r>
          </a:p>
          <a:p xmlns:a="http://schemas.openxmlformats.org/drawingml/2006/main">
            <a:r>
              <a:t>Lộ trình có gate cụ thể: user study có consent và feedback tiêu cực; distributed coordination trước multi-instance; PDF/object storage qua kiểm MIME, AV và retrieval; RBAC qua authorization test; overlay qua localization QA trên receipt unseen.</a:t>
            </a:r>
          </a:p>
          <a:p xmlns:a="http://schemas.openxmlformats.org/drawingml/2006/main">
            <a:r>
              <a:t/>
            </a:r>
          </a:p>
          <a:p xmlns:a="http://schemas.openxmlformats.org/drawingml/2006/main">
            <a:r>
              <a:t>Nguồn: docs/EVALUATION_EVIDENCE.md; D:/aura/demo_evidence/22_NewRealReceipt_ForHoldout/holdout10_evidence_v3_2026-10-13/09_documentation_update/mismatch-register.corrected-utf8.json; D:/aura/demo_evidence/22_NewRealReceipt_ForHoldout/regression12_original_bytes_v1_2026-10-13/07_analysis/REGRESSION12_ORIGINAL_BYTES_RESULT_2026-10-13.md.</a:t>
            </a:r>
          </a:p>
          <a:p xmlns:a="http://schemas.openxmlformats.org/drawingml/2006/main">
            <a:r>
              <a:t/>
            </a:r>
          </a:p>
          <a:p xmlns:a="http://schemas.openxmlformats.org/drawingml/2006/main">
            <a:r>
              <a:t>KẾT: AURA hiện phù hợp cho demo có giám sát. Bước tiếp theo chỉ được coi là đạt khi qua gate đã định trước.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ad4279a9a8c415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6455949e487434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170da2eaf8a4d0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9b7f86a37d1441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0169acd91454f1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a611a68a93e43fd"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b20a308bfc174213"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a868d8b71ee54721"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f53c62443e114b73"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8168acb201f1494b"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f65364aa3cd348b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DAE1761-9709-4151-B407-E59E317F3CA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CBB1FE8-CBDC-4C55-9927-7CAFC124AF4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5857801-F4B1-4991-A2C3-576B68A3556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98FA0D-F6AF-421E-BD89-3E0301AC50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588C912-AB44-4044-9037-7EA1F48A020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FDE0976-0154-42C3-8925-F9F2B46542B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0209360-711E-4486-8BF1-2305DB2E383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A48292F-A8AF-4A6F-A8ED-460E01A7623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9DE589A-3411-4CC4-9B81-062CC55FEF6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1E8EF3D-11C7-4DA1-AE22-A0B2CC3EDC8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7.xml><?xml version="1.0" encoding="utf-8"?>
<p:sldLayout xmlns:p="http://schemas.openxmlformats.org/presentationml/2006/main">
  <p:cSld name="AURA_CONTENT_1">
    <p:spTree>
      <p:nvGrpSpPr>
        <p:cNvPr id="1" name=""/>
        <p:cNvGrpSpPr/>
        <p:nvPr/>
      </p:nvGrpSpPr>
      <p:grpSpPr>
        <a:xfrm xmlns:a="http://schemas.openxmlformats.org/drawingml/2006/main"/>
      </p:grpSpPr>
      <p:sp>
        <p:nvSpPr>
          <p:cNvPr id="4" name="Layout_Divider">
            <a:extLst xmlns:a="http://schemas.openxmlformats.org/drawingml/2006/main">
              <a:ext uri="{FF2B5EF4-FFF2-40B4-BE49-F238E27FC236}">
                <a16:creationId xmlns:a16="http://schemas.microsoft.com/office/drawing/2014/main" id="{232D4D0D-3FD2-424C-ADE0-9DA0A8D10629}"/>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6255753C-E26F-4667-867F-B1C3EECE3E86}"/>
              </a:ext>
            </a:extLst>
          </p:cNvPr>
          <p:cNvSpPr>
            <a:spLocks xmlns:a="http://schemas.openxmlformats.org/drawingml/2006/main" noGrp="1"/>
          </p:cNvSpPr>
          <p:nvPr/>
        </p:nvSpPr>
        <p:spPr>
          <a:xfrm xmlns:a="http://schemas.openxmlformats.org/drawingml/2006/main">
            <a:off x="552450" y="6534150"/>
            <a:ext cx="5143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16/10/2026</a:t>
            </a:r>
          </a:p>
        </p:txBody>
      </p:sp>
      <p:sp>
        <p:nvSpPr>
          <p:cNvPr id="3" name="Layout_PageNumber">
            <a:extLst xmlns:a="http://schemas.openxmlformats.org/drawingml/2006/main">
              <a:ext uri="{FF2B5EF4-FFF2-40B4-BE49-F238E27FC236}">
                <a16:creationId xmlns:a16="http://schemas.microsoft.com/office/drawing/2014/main" id="{E8929ACD-3584-4188-864D-123F2AA9CA32}"/>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1</a:t>
            </a:r>
          </a:p>
        </p:txBody>
      </p:sp>
    </p:spTree>
  </p:cSld>
</p:sldLayout>
</file>

<file path=ppt/slideLayouts/slideLayout8.xml><?xml version="1.0" encoding="utf-8"?>
<p:sldLayout xmlns:p="http://schemas.openxmlformats.org/presentationml/2006/main">
  <p:cSld name="AURA_CONTENT_2">
    <p:spTree>
      <p:nvGrpSpPr>
        <p:cNvPr id="1" name=""/>
        <p:cNvGrpSpPr/>
        <p:nvPr/>
      </p:nvGrpSpPr>
      <p:grpSpPr>
        <a:xfrm xmlns:a="http://schemas.openxmlformats.org/drawingml/2006/main"/>
      </p:grpSpPr>
      <p:sp>
        <p:nvSpPr>
          <p:cNvPr id="4" name="Layout_Divider">
            <a:extLst xmlns:a="http://schemas.openxmlformats.org/drawingml/2006/main">
              <a:ext uri="{FF2B5EF4-FFF2-40B4-BE49-F238E27FC236}">
                <a16:creationId xmlns:a16="http://schemas.microsoft.com/office/drawing/2014/main" id="{ADAEAF1F-5A4B-43AC-982F-612C344127BA}"/>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B7D62A71-D852-40D5-BA46-FC4A99F35B9E}"/>
              </a:ext>
            </a:extLst>
          </p:cNvPr>
          <p:cNvSpPr>
            <a:spLocks xmlns:a="http://schemas.openxmlformats.org/drawingml/2006/main" noGrp="1"/>
          </p:cNvSpPr>
          <p:nvPr/>
        </p:nvSpPr>
        <p:spPr>
          <a:xfrm xmlns:a="http://schemas.openxmlformats.org/drawingml/2006/main">
            <a:off x="552450" y="6534150"/>
            <a:ext cx="5143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16/10/2026</a:t>
            </a:r>
          </a:p>
        </p:txBody>
      </p:sp>
      <p:sp>
        <p:nvSpPr>
          <p:cNvPr id="3" name="Layout_PageNumber">
            <a:extLst xmlns:a="http://schemas.openxmlformats.org/drawingml/2006/main">
              <a:ext uri="{FF2B5EF4-FFF2-40B4-BE49-F238E27FC236}">
                <a16:creationId xmlns:a16="http://schemas.microsoft.com/office/drawing/2014/main" id="{632768D1-EFC5-4D6E-B8F1-C1D93F48A5E2}"/>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2</a:t>
            </a:r>
          </a:p>
        </p:txBody>
      </p:sp>
    </p:spTree>
  </p:cSld>
</p:sldLayout>
</file>

<file path=ppt/slideLayouts/slideLayout9.xml><?xml version="1.0" encoding="utf-8"?>
<p:sldLayout xmlns:p="http://schemas.openxmlformats.org/presentationml/2006/main">
  <p:cSld name="AURA_CONTENT_3">
    <p:spTree>
      <p:nvGrpSpPr>
        <p:cNvPr id="1" name=""/>
        <p:cNvGrpSpPr/>
        <p:nvPr/>
      </p:nvGrpSpPr>
      <p:grpSpPr>
        <a:xfrm xmlns:a="http://schemas.openxmlformats.org/drawingml/2006/main"/>
      </p:grpSpPr>
      <p:sp>
        <p:nvSpPr>
          <p:cNvPr id="4" name="Layout_Divider">
            <a:extLst xmlns:a="http://schemas.openxmlformats.org/drawingml/2006/main">
              <a:ext uri="{FF2B5EF4-FFF2-40B4-BE49-F238E27FC236}">
                <a16:creationId xmlns:a16="http://schemas.microsoft.com/office/drawing/2014/main" id="{35569339-34F6-4A93-BFF6-F4A3A3A4F75D}"/>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43FAF741-60DA-455E-9174-857B28595424}"/>
              </a:ext>
            </a:extLst>
          </p:cNvPr>
          <p:cNvSpPr>
            <a:spLocks xmlns:a="http://schemas.openxmlformats.org/drawingml/2006/main" noGrp="1"/>
          </p:cNvSpPr>
          <p:nvPr/>
        </p:nvSpPr>
        <p:spPr>
          <a:xfrm xmlns:a="http://schemas.openxmlformats.org/drawingml/2006/main">
            <a:off x="552450" y="6534150"/>
            <a:ext cx="5143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16/10/2026</a:t>
            </a:r>
          </a:p>
        </p:txBody>
      </p:sp>
      <p:sp>
        <p:nvSpPr>
          <p:cNvPr id="3" name="Layout_PageNumber">
            <a:extLst xmlns:a="http://schemas.openxmlformats.org/drawingml/2006/main">
              <a:ext uri="{FF2B5EF4-FFF2-40B4-BE49-F238E27FC236}">
                <a16:creationId xmlns:a16="http://schemas.microsoft.com/office/drawing/2014/main" id="{65B41468-BB52-4573-8245-10C45068D670}"/>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3</a:t>
            </a:r>
          </a:p>
        </p:txBody>
      </p:sp>
    </p:spTree>
  </p:cSld>
</p:sldLayout>
</file>

<file path=ppt/slideLayouts/slideLayout10.xml><?xml version="1.0" encoding="utf-8"?>
<p:sldLayout xmlns:p="http://schemas.openxmlformats.org/presentationml/2006/main">
  <p:cSld name="AURA_CONTENT_4">
    <p:spTree>
      <p:nvGrpSpPr>
        <p:cNvPr id="1" name=""/>
        <p:cNvGrpSpPr/>
        <p:nvPr/>
      </p:nvGrpSpPr>
      <p:grpSpPr>
        <a:xfrm xmlns:a="http://schemas.openxmlformats.org/drawingml/2006/main"/>
      </p:grpSpPr>
      <p:sp>
        <p:nvSpPr>
          <p:cNvPr id="4" name="Layout_Divider">
            <a:extLst xmlns:a="http://schemas.openxmlformats.org/drawingml/2006/main">
              <a:ext uri="{FF2B5EF4-FFF2-40B4-BE49-F238E27FC236}">
                <a16:creationId xmlns:a16="http://schemas.microsoft.com/office/drawing/2014/main" id="{BE52DA63-5E49-4D96-BA22-734871AE8A34}"/>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ECE094AF-5045-4D65-8EC5-9890E24DD7EC}"/>
              </a:ext>
            </a:extLst>
          </p:cNvPr>
          <p:cNvSpPr>
            <a:spLocks xmlns:a="http://schemas.openxmlformats.org/drawingml/2006/main" noGrp="1"/>
          </p:cNvSpPr>
          <p:nvPr/>
        </p:nvSpPr>
        <p:spPr>
          <a:xfrm xmlns:a="http://schemas.openxmlformats.org/drawingml/2006/main">
            <a:off x="552450" y="6534150"/>
            <a:ext cx="5143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16/10/2026</a:t>
            </a:r>
          </a:p>
        </p:txBody>
      </p:sp>
      <p:sp>
        <p:nvSpPr>
          <p:cNvPr id="3" name="Layout_PageNumber">
            <a:extLst xmlns:a="http://schemas.openxmlformats.org/drawingml/2006/main">
              <a:ext uri="{FF2B5EF4-FFF2-40B4-BE49-F238E27FC236}">
                <a16:creationId xmlns:a16="http://schemas.microsoft.com/office/drawing/2014/main" id="{0706B44C-8E78-46C0-8DE0-57F8A55DE069}"/>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4</a:t>
            </a:r>
          </a:p>
        </p:txBody>
      </p:sp>
    </p:spTree>
  </p:cSld>
</p:sldLayout>
</file>

<file path=ppt/slideLayouts/slideLayout11.xml><?xml version="1.0" encoding="utf-8"?>
<p:sldLayout xmlns:p="http://schemas.openxmlformats.org/presentationml/2006/main">
  <p:cSld name="AURA_CONTENT_5">
    <p:spTree>
      <p:nvGrpSpPr>
        <p:cNvPr id="1" name=""/>
        <p:cNvGrpSpPr/>
        <p:nvPr/>
      </p:nvGrpSpPr>
      <p:grpSpPr>
        <a:xfrm xmlns:a="http://schemas.openxmlformats.org/drawingml/2006/main"/>
      </p:grpSpPr>
      <p:sp>
        <p:nvSpPr>
          <p:cNvPr id="5" name="Layout_Divider">
            <a:extLst xmlns:a="http://schemas.openxmlformats.org/drawingml/2006/main">
              <a:ext uri="{FF2B5EF4-FFF2-40B4-BE49-F238E27FC236}">
                <a16:creationId xmlns:a16="http://schemas.microsoft.com/office/drawing/2014/main" id="{42EA3086-B8A6-4C2C-AF21-876E6F2A620D}"/>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78CEC9BA-52F0-4B0C-B485-9D3459C74050}"/>
              </a:ext>
            </a:extLst>
          </p:cNvPr>
          <p:cNvSpPr>
            <a:spLocks xmlns:a="http://schemas.openxmlformats.org/drawingml/2006/main" noGrp="1"/>
          </p:cNvSpPr>
          <p:nvPr/>
        </p:nvSpPr>
        <p:spPr>
          <a:xfrm xmlns:a="http://schemas.openxmlformats.org/drawingml/2006/main">
            <a:off x="552450" y="6534150"/>
            <a:ext cx="5143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16/10/2026</a:t>
            </a:r>
          </a:p>
        </p:txBody>
      </p:sp>
      <p:sp>
        <p:nvSpPr>
          <p:cNvPr id="3" name="Layout_LimitFooter">
            <a:extLst xmlns:a="http://schemas.openxmlformats.org/drawingml/2006/main">
              <a:ext uri="{FF2B5EF4-FFF2-40B4-BE49-F238E27FC236}">
                <a16:creationId xmlns:a16="http://schemas.microsoft.com/office/drawing/2014/main" id="{C0E3F266-1011-494B-9F9D-18527161B7AD}"/>
              </a:ext>
            </a:extLst>
          </p:cNvPr>
          <p:cNvSpPr>
            <a:spLocks xmlns:a="http://schemas.openxmlformats.org/drawingml/2006/main" noGrp="1"/>
          </p:cNvSpPr>
          <p:nvPr/>
        </p:nvSpPr>
        <p:spPr>
          <a:xfrm xmlns:a="http://schemas.openxmlformats.org/drawingml/2006/main">
            <a:off x="3048000" y="6534150"/>
            <a:ext cx="6096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750" b="0">
                <a:solidFill>
                  <a:srgbClr val="A6B3C4"/>
                </a:solidFill>
                <a:latin typeface="Segoe UI"/>
                <a:ea typeface="Segoe UI"/>
                <a:cs typeface="Segoe UI"/>
              </a:defRPr>
            </a:defPPr>
          </a:lstStyle>
          <a:p xmlns:a="http://schemas.openxmlformats.org/drawingml/2006/main">
            <a:pPr algn="ctr">
              <a:defRPr sz="750" b="0">
                <a:solidFill>
                  <a:srgbClr val="A6B3C4"/>
                </a:solidFill>
                <a:latin typeface="Segoe UI"/>
                <a:ea typeface="Segoe UI"/>
                <a:cs typeface="Segoe UI"/>
              </a:defRPr>
            </a:pPr>
            <a:r>
              <a:rPr sz="750" b="0">
                <a:solidFill>
                  <a:srgbClr val="A6B3C4"/>
                </a:solidFill>
                <a:latin typeface="Segoe UI"/>
                <a:ea typeface="Segoe UI"/>
                <a:cs typeface="Segoe UI"/>
              </a:rPr>
              <a:t>Giới hạn hiện tại, không phải lời hứa marketing</a:t>
            </a:r>
          </a:p>
        </p:txBody>
      </p:sp>
      <p:sp>
        <p:nvSpPr>
          <p:cNvPr id="4" name="Layout_PageNumber">
            <a:extLst xmlns:a="http://schemas.openxmlformats.org/drawingml/2006/main">
              <a:ext uri="{FF2B5EF4-FFF2-40B4-BE49-F238E27FC236}">
                <a16:creationId xmlns:a16="http://schemas.microsoft.com/office/drawing/2014/main" id="{AD10FD8F-256F-471D-B060-86944AE666FA}"/>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5</a:t>
            </a: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6f7582967ed4f7c" /><Relationship Type="http://schemas.openxmlformats.org/officeDocument/2006/relationships/slideLayout" Target="/ppt/slideLayouts/slideLayout1.xml" Id="R6fd6710909e841ec" /><Relationship Type="http://schemas.openxmlformats.org/officeDocument/2006/relationships/slideLayout" Target="/ppt/slideLayouts/slideLayout2.xml" Id="Rbd308f0ebe644849" /><Relationship Type="http://schemas.openxmlformats.org/officeDocument/2006/relationships/slideLayout" Target="/ppt/slideLayouts/slideLayout3.xml" Id="R04325fa97345414d" /><Relationship Type="http://schemas.openxmlformats.org/officeDocument/2006/relationships/slideLayout" Target="/ppt/slideLayouts/slideLayout4.xml" Id="R67a7a9924e824057" /><Relationship Type="http://schemas.openxmlformats.org/officeDocument/2006/relationships/slideLayout" Target="/ppt/slideLayouts/slideLayout5.xml" Id="R3337a6c57cdb45bb" /><Relationship Type="http://schemas.openxmlformats.org/officeDocument/2006/relationships/slideLayout" Target="/ppt/slideLayouts/slideLayout6.xml" Id="R5b6c92da92e74860" /><Relationship Type="http://schemas.openxmlformats.org/officeDocument/2006/relationships/slideLayout" Target="/ppt/slideLayouts/slideLayout7.xml" Id="R7e5318fb339247d3" /><Relationship Type="http://schemas.openxmlformats.org/officeDocument/2006/relationships/slideLayout" Target="/ppt/slideLayouts/slideLayout8.xml" Id="Rf5a61250a42540fc" /><Relationship Type="http://schemas.openxmlformats.org/officeDocument/2006/relationships/slideLayout" Target="/ppt/slideLayouts/slideLayout9.xml" Id="R99458bc6d68c4d64" /><Relationship Type="http://schemas.openxmlformats.org/officeDocument/2006/relationships/slideLayout" Target="/ppt/slideLayouts/slideLayout10.xml" Id="R15fa229119444bd2" /><Relationship Type="http://schemas.openxmlformats.org/officeDocument/2006/relationships/slideLayout" Target="/ppt/slideLayouts/slideLayout11.xml" Id="Rc65121bfa25c475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fd6710909e841ec"/>
    <p:sldLayoutId xmlns:r="http://schemas.openxmlformats.org/officeDocument/2006/relationships" id="2147483650" r:id="Rbd308f0ebe644849"/>
    <p:sldLayoutId xmlns:r="http://schemas.openxmlformats.org/officeDocument/2006/relationships" id="2147483651" r:id="R04325fa97345414d"/>
    <p:sldLayoutId xmlns:r="http://schemas.openxmlformats.org/officeDocument/2006/relationships" id="2147483652" r:id="R67a7a9924e824057"/>
    <p:sldLayoutId xmlns:r="http://schemas.openxmlformats.org/officeDocument/2006/relationships" id="2147483653" r:id="R3337a6c57cdb45bb"/>
    <p:sldLayoutId xmlns:r="http://schemas.openxmlformats.org/officeDocument/2006/relationships" id="2147483654" r:id="R5b6c92da92e74860"/>
    <p:sldLayoutId xmlns:r="http://schemas.openxmlformats.org/officeDocument/2006/relationships" id="2147483655" r:id="R7e5318fb339247d3"/>
    <p:sldLayoutId xmlns:r="http://schemas.openxmlformats.org/officeDocument/2006/relationships" id="2147483656" r:id="Rf5a61250a42540fc"/>
    <p:sldLayoutId xmlns:r="http://schemas.openxmlformats.org/officeDocument/2006/relationships" id="2147483657" r:id="R99458bc6d68c4d64"/>
    <p:sldLayoutId xmlns:r="http://schemas.openxmlformats.org/officeDocument/2006/relationships" id="2147483658" r:id="R15fa229119444bd2"/>
    <p:sldLayoutId xmlns:r="http://schemas.openxmlformats.org/officeDocument/2006/relationships" id="2147483659" r:id="Rc65121bfa25c475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AURA restrained navy">
      <a:dk1>
        <a:srgbClr val="091522"/>
      </a:dk1>
      <a:lt1>
        <a:srgbClr val="F4F7FB"/>
      </a:lt1>
      <a:dk2>
        <a:srgbClr val="162A42"/>
      </a:dk2>
      <a:lt2>
        <a:srgbClr val="A6B3C4"/>
      </a:lt2>
      <a:accent1>
        <a:srgbClr val="5F8FD8"/>
      </a:accent1>
      <a:accent2>
        <a:srgbClr val="45A9BE"/>
      </a:accent2>
      <a:accent3>
        <a:srgbClr val="C59A4A"/>
      </a:accent3>
      <a:accent4>
        <a:srgbClr val="4FAF91"/>
      </a:accent4>
      <a:accent5>
        <a:srgbClr val="162A42"/>
      </a:accent5>
      <a:accent6>
        <a:srgbClr val="31445C"/>
      </a:accent6>
      <a:hlink>
        <a:srgbClr val="5F8FD8"/>
      </a:hlink>
      <a:folHlink>
        <a:srgbClr val="45A9BE"/>
      </a:folHlink>
    </a:clrScheme>
    <a:fontScheme name="">
      <a:majorFont>
        <a:latin typeface="Segoe UI"/>
        <a:ea typeface=""/>
        <a:cs typeface=""/>
      </a:majorFont>
      <a:minorFont>
        <a:latin typeface="Segoe UI"/>
        <a:ea typeface=""/>
        <a:cs typeface=""/>
      </a:minorFont>
    </a:fontScheme>
    <a:fmtScheme name="AURA restrained nav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e7dc3c6d2ab348ab" /><Relationship Type="http://schemas.openxmlformats.org/officeDocument/2006/relationships/notesSlide" Target="/ppt/notesSlides/notesSlide1.xml" Id="R9ee68cd7d72a4ad0" /></Relationships>
</file>

<file path=ppt/slides/_rels/slide2.xml.rels>&#65279;<?xml version="1.0" encoding="utf-8"?><Relationships xmlns="http://schemas.openxmlformats.org/package/2006/relationships"><Relationship Type="http://schemas.openxmlformats.org/officeDocument/2006/relationships/slideLayout" Target="/ppt/slideLayouts/slideLayout8.xml" Id="R560e01c55f294162" /><Relationship Type="http://schemas.openxmlformats.org/officeDocument/2006/relationships/notesSlide" Target="/ppt/notesSlides/notesSlide2.xml" Id="R4ccdc74c5d224410" /></Relationships>
</file>

<file path=ppt/slides/_rels/slide3.xml.rels>&#65279;<?xml version="1.0" encoding="utf-8"?><Relationships xmlns="http://schemas.openxmlformats.org/package/2006/relationships"><Relationship Type="http://schemas.openxmlformats.org/officeDocument/2006/relationships/slideLayout" Target="/ppt/slideLayouts/slideLayout9.xml" Id="R3a6daf0f75754a53" /><Relationship Type="http://schemas.openxmlformats.org/officeDocument/2006/relationships/notesSlide" Target="/ppt/notesSlides/notesSlide3.xml" Id="R1f5e53047aa6450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0.xml" Id="R099d2e6be9fc4772" /><Relationship Type="http://schemas.openxmlformats.org/officeDocument/2006/relationships/notesSlide" Target="/ppt/notesSlides/notesSlide4.xml" Id="R3cf297512bb049a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1.xml" Id="Rdb601dff54084067" /><Relationship Type="http://schemas.openxmlformats.org/officeDocument/2006/relationships/notesSlide" Target="/ppt/notesSlides/notesSlide5.xml" Id="R8e5abe52a0274bbd" /></Relationships>
</file>

<file path=ppt/slides/slide1.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37" name="Slide_Title">
            <a:extLst xmlns:a="http://schemas.openxmlformats.org/drawingml/2006/main">
              <a:ext uri="{FF2B5EF4-FFF2-40B4-BE49-F238E27FC236}">
                <a16:creationId xmlns:a16="http://schemas.microsoft.com/office/drawing/2014/main" id="{0046E0B6-D726-4B79-AB16-FC3350C2DDDE}"/>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Quy trình hoàn ứng hiện tại: năm điểm chờ thiếu bằng chứng</a:t>
            </a:r>
          </a:p>
        </p:txBody>
      </p:sp>
      <p:sp>
        <p:nvSpPr>
          <p:cNvPr id="2" name="Slide_Subtitle">
            <a:extLst xmlns:a="http://schemas.openxmlformats.org/drawingml/2006/main">
              <a:ext uri="{FF2B5EF4-FFF2-40B4-BE49-F238E27FC236}">
                <a16:creationId xmlns:a16="http://schemas.microsoft.com/office/drawing/2014/main" id="{B420A6D5-CBBB-427F-B489-449066E948B5}"/>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Khoảng trống nằm ở ngoại lệ: người duyệt phải tự ghép dữ kiện, quy định và lịch sử.</a:t>
            </a:r>
          </a:p>
        </p:txBody>
      </p:sp>
      <p:sp>
        <p:nvSpPr>
          <p:cNvPr id="3" name="S1_Flow_1">
            <a:extLst xmlns:a="http://schemas.openxmlformats.org/drawingml/2006/main">
              <a:ext uri="{FF2B5EF4-FFF2-40B4-BE49-F238E27FC236}">
                <a16:creationId xmlns:a16="http://schemas.microsoft.com/office/drawing/2014/main" id="{42288634-5C7B-40F0-9DA2-E36AD798612C}"/>
              </a:ext>
            </a:extLst>
          </p:cNvPr>
          <p:cNvSpPr>
            <a:spLocks xmlns:a="http://schemas.openxmlformats.org/drawingml/2006/main" noGrp="1"/>
          </p:cNvSpPr>
          <p:nvPr/>
        </p:nvSpPr>
        <p:spPr>
          <a:xfrm xmlns:a="http://schemas.openxmlformats.org/drawingml/2006/main">
            <a:off x="55245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31445C"/>
            </a:solidFill>
            <a:prstDash val="solid"/>
          </a:ln>
        </p:spPr>
      </p:sp>
      <p:sp>
        <p:nvSpPr>
          <p:cNvPr id="4" name="S1_FlowIcon_1">
            <a:extLst xmlns:a="http://schemas.openxmlformats.org/drawingml/2006/main">
              <a:ext uri="{FF2B5EF4-FFF2-40B4-BE49-F238E27FC236}">
                <a16:creationId xmlns:a16="http://schemas.microsoft.com/office/drawing/2014/main" id="{F2FF7DEF-C64F-4AE5-9F91-6C3FB73B2938}"/>
              </a:ext>
            </a:extLst>
          </p:cNvPr>
          <p:cNvSpPr>
            <a:spLocks xmlns:a="http://schemas.openxmlformats.org/drawingml/2006/main" noGrp="1"/>
          </p:cNvSpPr>
          <p:nvPr/>
        </p:nvSpPr>
        <p:spPr>
          <a:xfrm xmlns:a="http://schemas.openxmlformats.org/drawingml/2006/main">
            <a:off x="704850" y="1619250"/>
            <a:ext cx="323850" cy="323850"/>
          </a:xfrm>
          <a:prstGeom xmlns:a="http://schemas.openxmlformats.org/drawingml/2006/main" prst="ellipse">
            <a:avLst/>
          </a:prstGeom>
          <a:noFill xmlns:a="http://schemas.openxmlformats.org/drawingml/2006/main"/>
          <a:ln xmlns:a="http://schemas.openxmlformats.org/drawingml/2006/main" w="14288">
            <a:solidFill>
              <a:srgbClr val="45A9BE"/>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45A9BE"/>
                </a:solidFill>
                <a:latin typeface="Segoe UI"/>
                <a:ea typeface="Segoe UI"/>
                <a:cs typeface="Segoe UI"/>
              </a:defRPr>
            </a:defPPr>
          </a:lstStyle>
          <a:p xmlns:a="http://schemas.openxmlformats.org/drawingml/2006/main">
            <a:pPr algn="ctr">
              <a:defRPr sz="900" b="1">
                <a:solidFill>
                  <a:srgbClr val="45A9BE"/>
                </a:solidFill>
                <a:latin typeface="Segoe UI"/>
                <a:ea typeface="Segoe UI"/>
                <a:cs typeface="Segoe UI"/>
              </a:defRPr>
            </a:pPr>
            <a:r>
              <a:rPr sz="900" b="1">
                <a:solidFill>
                  <a:srgbClr val="45A9BE"/>
                </a:solidFill>
                <a:latin typeface="Segoe UI"/>
                <a:ea typeface="Segoe UI"/>
                <a:cs typeface="Segoe UI"/>
              </a:rPr>
              <a:t>01</a:t>
            </a:r>
          </a:p>
        </p:txBody>
      </p:sp>
      <p:sp>
        <p:nvSpPr>
          <p:cNvPr id="5" name="S1_FlowLabel_1">
            <a:extLst xmlns:a="http://schemas.openxmlformats.org/drawingml/2006/main">
              <a:ext uri="{FF2B5EF4-FFF2-40B4-BE49-F238E27FC236}">
                <a16:creationId xmlns:a16="http://schemas.microsoft.com/office/drawing/2014/main" id="{7BD42BEF-2024-49FF-8257-79076AA5693E}"/>
              </a:ext>
            </a:extLst>
          </p:cNvPr>
          <p:cNvSpPr>
            <a:spLocks xmlns:a="http://schemas.openxmlformats.org/drawingml/2006/main" noGrp="1"/>
          </p:cNvSpPr>
          <p:nvPr/>
        </p:nvSpPr>
        <p:spPr>
          <a:xfrm xmlns:a="http://schemas.openxmlformats.org/drawingml/2006/main">
            <a:off x="70485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Gửi chứng từ</a:t>
            </a:r>
          </a:p>
        </p:txBody>
      </p:sp>
      <p:sp>
        <p:nvSpPr>
          <p:cNvPr id="6" name="S1_FlowRule_1">
            <a:extLst xmlns:a="http://schemas.openxmlformats.org/drawingml/2006/main">
              <a:ext uri="{FF2B5EF4-FFF2-40B4-BE49-F238E27FC236}">
                <a16:creationId xmlns:a16="http://schemas.microsoft.com/office/drawing/2014/main" id="{73F1BBF4-2FA0-4F70-9D69-F3FE331B965E}"/>
              </a:ext>
            </a:extLst>
          </p:cNvPr>
          <p:cNvSpPr>
            <a:spLocks xmlns:a="http://schemas.openxmlformats.org/drawingml/2006/main" noGrp="1"/>
          </p:cNvSpPr>
          <p:nvPr/>
        </p:nvSpPr>
        <p:spPr>
          <a:xfrm xmlns:a="http://schemas.openxmlformats.org/drawingml/2006/main">
            <a:off x="70485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7" name="S1_FlowPain_1">
            <a:extLst xmlns:a="http://schemas.openxmlformats.org/drawingml/2006/main">
              <a:ext uri="{FF2B5EF4-FFF2-40B4-BE49-F238E27FC236}">
                <a16:creationId xmlns:a16="http://schemas.microsoft.com/office/drawing/2014/main" id="{0E1D7AE7-844F-487C-BF83-3329037AC394}"/>
              </a:ext>
            </a:extLst>
          </p:cNvPr>
          <p:cNvSpPr>
            <a:spLocks xmlns:a="http://schemas.openxmlformats.org/drawingml/2006/main" noGrp="1"/>
          </p:cNvSpPr>
          <p:nvPr/>
        </p:nvSpPr>
        <p:spPr>
          <a:xfrm xmlns:a="http://schemas.openxmlformats.org/drawingml/2006/main">
            <a:off x="70485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Ảnh, số tiền và metadata nằm rời nhau.</a:t>
            </a:r>
          </a:p>
        </p:txBody>
      </p:sp>
      <p:sp>
        <p:nvSpPr>
          <p:cNvPr id="8" name="S1_Arrow_1">
            <a:extLst xmlns:a="http://schemas.openxmlformats.org/drawingml/2006/main">
              <a:ext uri="{FF2B5EF4-FFF2-40B4-BE49-F238E27FC236}">
                <a16:creationId xmlns:a16="http://schemas.microsoft.com/office/drawing/2014/main" id="{38C75D63-4F4C-4D12-98E5-94FC66AB19D8}"/>
              </a:ext>
            </a:extLst>
          </p:cNvPr>
          <p:cNvSpPr>
            <a:spLocks xmlns:a="http://schemas.openxmlformats.org/drawingml/2006/main" noGrp="1"/>
          </p:cNvSpPr>
          <p:nvPr/>
        </p:nvSpPr>
        <p:spPr>
          <a:xfrm xmlns:a="http://schemas.openxmlformats.org/drawingml/2006/main">
            <a:off x="2619375" y="2419350"/>
            <a:ext cx="152400" cy="20955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9" name="S1_Flow_2">
            <a:extLst xmlns:a="http://schemas.openxmlformats.org/drawingml/2006/main">
              <a:ext uri="{FF2B5EF4-FFF2-40B4-BE49-F238E27FC236}">
                <a16:creationId xmlns:a16="http://schemas.microsoft.com/office/drawing/2014/main" id="{6B1FE9F4-3502-4DC5-940A-2D7CEA6745D0}"/>
              </a:ext>
            </a:extLst>
          </p:cNvPr>
          <p:cNvSpPr>
            <a:spLocks xmlns:a="http://schemas.openxmlformats.org/drawingml/2006/main" noGrp="1"/>
          </p:cNvSpPr>
          <p:nvPr/>
        </p:nvSpPr>
        <p:spPr>
          <a:xfrm xmlns:a="http://schemas.openxmlformats.org/drawingml/2006/main">
            <a:off x="278130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31445C"/>
            </a:solidFill>
            <a:prstDash val="solid"/>
          </a:ln>
        </p:spPr>
      </p:sp>
      <p:sp>
        <p:nvSpPr>
          <p:cNvPr id="10" name="S1_FlowIcon_2">
            <a:extLst xmlns:a="http://schemas.openxmlformats.org/drawingml/2006/main">
              <a:ext uri="{FF2B5EF4-FFF2-40B4-BE49-F238E27FC236}">
                <a16:creationId xmlns:a16="http://schemas.microsoft.com/office/drawing/2014/main" id="{94648DA7-CAAD-4C8A-B346-4DE296BCEA19}"/>
              </a:ext>
            </a:extLst>
          </p:cNvPr>
          <p:cNvSpPr>
            <a:spLocks xmlns:a="http://schemas.openxmlformats.org/drawingml/2006/main" noGrp="1"/>
          </p:cNvSpPr>
          <p:nvPr/>
        </p:nvSpPr>
        <p:spPr>
          <a:xfrm xmlns:a="http://schemas.openxmlformats.org/drawingml/2006/main">
            <a:off x="2933700" y="1619250"/>
            <a:ext cx="323850" cy="323850"/>
          </a:xfrm>
          <a:prstGeom xmlns:a="http://schemas.openxmlformats.org/drawingml/2006/main" prst="ellipse">
            <a:avLst/>
          </a:prstGeom>
          <a:noFill xmlns:a="http://schemas.openxmlformats.org/drawingml/2006/main"/>
          <a:ln xmlns:a="http://schemas.openxmlformats.org/drawingml/2006/main" w="14288">
            <a:solidFill>
              <a:srgbClr val="45A9BE"/>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45A9BE"/>
                </a:solidFill>
                <a:latin typeface="Segoe UI"/>
                <a:ea typeface="Segoe UI"/>
                <a:cs typeface="Segoe UI"/>
              </a:defRPr>
            </a:defPPr>
          </a:lstStyle>
          <a:p xmlns:a="http://schemas.openxmlformats.org/drawingml/2006/main">
            <a:pPr algn="ctr">
              <a:defRPr sz="900" b="1">
                <a:solidFill>
                  <a:srgbClr val="45A9BE"/>
                </a:solidFill>
                <a:latin typeface="Segoe UI"/>
                <a:ea typeface="Segoe UI"/>
                <a:cs typeface="Segoe UI"/>
              </a:defRPr>
            </a:pPr>
            <a:r>
              <a:rPr sz="900" b="1">
                <a:solidFill>
                  <a:srgbClr val="45A9BE"/>
                </a:solidFill>
                <a:latin typeface="Segoe UI"/>
                <a:ea typeface="Segoe UI"/>
                <a:cs typeface="Segoe UI"/>
              </a:rPr>
              <a:t>02</a:t>
            </a:r>
          </a:p>
        </p:txBody>
      </p:sp>
      <p:sp>
        <p:nvSpPr>
          <p:cNvPr id="11" name="S1_FlowLabel_2">
            <a:extLst xmlns:a="http://schemas.openxmlformats.org/drawingml/2006/main">
              <a:ext uri="{FF2B5EF4-FFF2-40B4-BE49-F238E27FC236}">
                <a16:creationId xmlns:a16="http://schemas.microsoft.com/office/drawing/2014/main" id="{F147BAE4-985B-4AD7-87A4-5AAB34D265CF}"/>
              </a:ext>
            </a:extLst>
          </p:cNvPr>
          <p:cNvSpPr>
            <a:spLocks xmlns:a="http://schemas.openxmlformats.org/drawingml/2006/main" noGrp="1"/>
          </p:cNvSpPr>
          <p:nvPr/>
        </p:nvSpPr>
        <p:spPr>
          <a:xfrm xmlns:a="http://schemas.openxmlformats.org/drawingml/2006/main">
            <a:off x="293370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Đọc thủ công</a:t>
            </a:r>
          </a:p>
        </p:txBody>
      </p:sp>
      <p:sp>
        <p:nvSpPr>
          <p:cNvPr id="12" name="S1_FlowRule_2">
            <a:extLst xmlns:a="http://schemas.openxmlformats.org/drawingml/2006/main">
              <a:ext uri="{FF2B5EF4-FFF2-40B4-BE49-F238E27FC236}">
                <a16:creationId xmlns:a16="http://schemas.microsoft.com/office/drawing/2014/main" id="{0CB2037E-5279-4273-A1D1-FE3823B87B2C}"/>
              </a:ext>
            </a:extLst>
          </p:cNvPr>
          <p:cNvSpPr>
            <a:spLocks xmlns:a="http://schemas.openxmlformats.org/drawingml/2006/main" noGrp="1"/>
          </p:cNvSpPr>
          <p:nvPr/>
        </p:nvSpPr>
        <p:spPr>
          <a:xfrm xmlns:a="http://schemas.openxmlformats.org/drawingml/2006/main">
            <a:off x="293370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13" name="S1_FlowPain_2">
            <a:extLst xmlns:a="http://schemas.openxmlformats.org/drawingml/2006/main">
              <a:ext uri="{FF2B5EF4-FFF2-40B4-BE49-F238E27FC236}">
                <a16:creationId xmlns:a16="http://schemas.microsoft.com/office/drawing/2014/main" id="{1D4198A0-D5B0-4B7A-85A0-C20874FA9C35}"/>
              </a:ext>
            </a:extLst>
          </p:cNvPr>
          <p:cNvSpPr>
            <a:spLocks xmlns:a="http://schemas.openxmlformats.org/drawingml/2006/main" noGrp="1"/>
          </p:cNvSpPr>
          <p:nvPr/>
        </p:nvSpPr>
        <p:spPr>
          <a:xfrm xmlns:a="http://schemas.openxmlformats.org/drawingml/2006/main">
            <a:off x="293370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Tên, ngày, mã và tổng tiền dễ bị bỏ sót.</a:t>
            </a:r>
          </a:p>
        </p:txBody>
      </p:sp>
      <p:sp>
        <p:nvSpPr>
          <p:cNvPr id="14" name="S1_Arrow_2">
            <a:extLst xmlns:a="http://schemas.openxmlformats.org/drawingml/2006/main">
              <a:ext uri="{FF2B5EF4-FFF2-40B4-BE49-F238E27FC236}">
                <a16:creationId xmlns:a16="http://schemas.microsoft.com/office/drawing/2014/main" id="{9C69EB71-FFD1-4831-859D-3DAE6A612D7E}"/>
              </a:ext>
            </a:extLst>
          </p:cNvPr>
          <p:cNvSpPr>
            <a:spLocks xmlns:a="http://schemas.openxmlformats.org/drawingml/2006/main" noGrp="1"/>
          </p:cNvSpPr>
          <p:nvPr/>
        </p:nvSpPr>
        <p:spPr>
          <a:xfrm xmlns:a="http://schemas.openxmlformats.org/drawingml/2006/main">
            <a:off x="4848225" y="2419350"/>
            <a:ext cx="152400" cy="20955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15" name="S1_Flow_3">
            <a:extLst xmlns:a="http://schemas.openxmlformats.org/drawingml/2006/main">
              <a:ext uri="{FF2B5EF4-FFF2-40B4-BE49-F238E27FC236}">
                <a16:creationId xmlns:a16="http://schemas.microsoft.com/office/drawing/2014/main" id="{6ABB322D-B348-4133-B318-E8A69005DB3B}"/>
              </a:ext>
            </a:extLst>
          </p:cNvPr>
          <p:cNvSpPr>
            <a:spLocks xmlns:a="http://schemas.openxmlformats.org/drawingml/2006/main" noGrp="1"/>
          </p:cNvSpPr>
          <p:nvPr/>
        </p:nvSpPr>
        <p:spPr>
          <a:xfrm xmlns:a="http://schemas.openxmlformats.org/drawingml/2006/main">
            <a:off x="501015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31445C"/>
            </a:solidFill>
            <a:prstDash val="solid"/>
          </a:ln>
        </p:spPr>
      </p:sp>
      <p:sp>
        <p:nvSpPr>
          <p:cNvPr id="16" name="S1_FlowIcon_3">
            <a:extLst xmlns:a="http://schemas.openxmlformats.org/drawingml/2006/main">
              <a:ext uri="{FF2B5EF4-FFF2-40B4-BE49-F238E27FC236}">
                <a16:creationId xmlns:a16="http://schemas.microsoft.com/office/drawing/2014/main" id="{6B75A82C-D548-4831-8CB1-49F82EFDE4A3}"/>
              </a:ext>
            </a:extLst>
          </p:cNvPr>
          <p:cNvSpPr>
            <a:spLocks xmlns:a="http://schemas.openxmlformats.org/drawingml/2006/main" noGrp="1"/>
          </p:cNvSpPr>
          <p:nvPr/>
        </p:nvSpPr>
        <p:spPr>
          <a:xfrm xmlns:a="http://schemas.openxmlformats.org/drawingml/2006/main">
            <a:off x="5162550" y="1619250"/>
            <a:ext cx="323850" cy="323850"/>
          </a:xfrm>
          <a:prstGeom xmlns:a="http://schemas.openxmlformats.org/drawingml/2006/main" prst="ellipse">
            <a:avLst/>
          </a:prstGeom>
          <a:noFill xmlns:a="http://schemas.openxmlformats.org/drawingml/2006/main"/>
          <a:ln xmlns:a="http://schemas.openxmlformats.org/drawingml/2006/main" w="14288">
            <a:solidFill>
              <a:srgbClr val="45A9BE"/>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45A9BE"/>
                </a:solidFill>
                <a:latin typeface="Segoe UI"/>
                <a:ea typeface="Segoe UI"/>
                <a:cs typeface="Segoe UI"/>
              </a:defRPr>
            </a:defPPr>
          </a:lstStyle>
          <a:p xmlns:a="http://schemas.openxmlformats.org/drawingml/2006/main">
            <a:pPr algn="ctr">
              <a:defRPr sz="900" b="1">
                <a:solidFill>
                  <a:srgbClr val="45A9BE"/>
                </a:solidFill>
                <a:latin typeface="Segoe UI"/>
                <a:ea typeface="Segoe UI"/>
                <a:cs typeface="Segoe UI"/>
              </a:defRPr>
            </a:pPr>
            <a:r>
              <a:rPr sz="900" b="1">
                <a:solidFill>
                  <a:srgbClr val="45A9BE"/>
                </a:solidFill>
                <a:latin typeface="Segoe UI"/>
                <a:ea typeface="Segoe UI"/>
                <a:cs typeface="Segoe UI"/>
              </a:rPr>
              <a:t>03</a:t>
            </a:r>
          </a:p>
        </p:txBody>
      </p:sp>
      <p:sp>
        <p:nvSpPr>
          <p:cNvPr id="17" name="S1_FlowLabel_3">
            <a:extLst xmlns:a="http://schemas.openxmlformats.org/drawingml/2006/main">
              <a:ext uri="{FF2B5EF4-FFF2-40B4-BE49-F238E27FC236}">
                <a16:creationId xmlns:a16="http://schemas.microsoft.com/office/drawing/2014/main" id="{5BF3827A-6CB7-43E7-957B-E41D0B758314}"/>
              </a:ext>
            </a:extLst>
          </p:cNvPr>
          <p:cNvSpPr>
            <a:spLocks xmlns:a="http://schemas.openxmlformats.org/drawingml/2006/main" noGrp="1"/>
          </p:cNvSpPr>
          <p:nvPr/>
        </p:nvSpPr>
        <p:spPr>
          <a:xfrm xmlns:a="http://schemas.openxmlformats.org/drawingml/2006/main">
            <a:off x="516255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Đối chiếu quy định</a:t>
            </a:r>
          </a:p>
        </p:txBody>
      </p:sp>
      <p:sp>
        <p:nvSpPr>
          <p:cNvPr id="18" name="S1_FlowRule_3">
            <a:extLst xmlns:a="http://schemas.openxmlformats.org/drawingml/2006/main">
              <a:ext uri="{FF2B5EF4-FFF2-40B4-BE49-F238E27FC236}">
                <a16:creationId xmlns:a16="http://schemas.microsoft.com/office/drawing/2014/main" id="{EFC0BD91-ADEE-4FB6-917F-46D28B043878}"/>
              </a:ext>
            </a:extLst>
          </p:cNvPr>
          <p:cNvSpPr>
            <a:spLocks xmlns:a="http://schemas.openxmlformats.org/drawingml/2006/main" noGrp="1"/>
          </p:cNvSpPr>
          <p:nvPr/>
        </p:nvSpPr>
        <p:spPr>
          <a:xfrm xmlns:a="http://schemas.openxmlformats.org/drawingml/2006/main">
            <a:off x="516255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19" name="S1_FlowPain_3">
            <a:extLst xmlns:a="http://schemas.openxmlformats.org/drawingml/2006/main">
              <a:ext uri="{FF2B5EF4-FFF2-40B4-BE49-F238E27FC236}">
                <a16:creationId xmlns:a16="http://schemas.microsoft.com/office/drawing/2014/main" id="{87FB16FA-1D19-477B-A122-6CAB87C9BD9A}"/>
              </a:ext>
            </a:extLst>
          </p:cNvPr>
          <p:cNvSpPr>
            <a:spLocks xmlns:a="http://schemas.openxmlformats.org/drawingml/2006/main" noGrp="1"/>
          </p:cNvSpPr>
          <p:nvPr/>
        </p:nvSpPr>
        <p:spPr>
          <a:xfrm xmlns:a="http://schemas.openxmlformats.org/drawingml/2006/main">
            <a:off x="516255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FACT và POLICY dễ bị trộn khi giải thích.</a:t>
            </a:r>
          </a:p>
        </p:txBody>
      </p:sp>
      <p:sp>
        <p:nvSpPr>
          <p:cNvPr id="20" name="S1_Arrow_3">
            <a:extLst xmlns:a="http://schemas.openxmlformats.org/drawingml/2006/main">
              <a:ext uri="{FF2B5EF4-FFF2-40B4-BE49-F238E27FC236}">
                <a16:creationId xmlns:a16="http://schemas.microsoft.com/office/drawing/2014/main" id="{0BE28038-5EA9-4FB3-AE9C-C837DED518A4}"/>
              </a:ext>
            </a:extLst>
          </p:cNvPr>
          <p:cNvSpPr>
            <a:spLocks xmlns:a="http://schemas.openxmlformats.org/drawingml/2006/main" noGrp="1"/>
          </p:cNvSpPr>
          <p:nvPr/>
        </p:nvSpPr>
        <p:spPr>
          <a:xfrm xmlns:a="http://schemas.openxmlformats.org/drawingml/2006/main">
            <a:off x="7077075" y="2419350"/>
            <a:ext cx="152400" cy="20955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21" name="S1_Flow_4">
            <a:extLst xmlns:a="http://schemas.openxmlformats.org/drawingml/2006/main">
              <a:ext uri="{FF2B5EF4-FFF2-40B4-BE49-F238E27FC236}">
                <a16:creationId xmlns:a16="http://schemas.microsoft.com/office/drawing/2014/main" id="{2FBF00F7-4B79-4032-97B2-F6CC6D3EE09D}"/>
              </a:ext>
            </a:extLst>
          </p:cNvPr>
          <p:cNvSpPr>
            <a:spLocks xmlns:a="http://schemas.openxmlformats.org/drawingml/2006/main" noGrp="1"/>
          </p:cNvSpPr>
          <p:nvPr/>
        </p:nvSpPr>
        <p:spPr>
          <a:xfrm xmlns:a="http://schemas.openxmlformats.org/drawingml/2006/main">
            <a:off x="723900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C59A4A"/>
            </a:solidFill>
            <a:prstDash val="solid"/>
          </a:ln>
        </p:spPr>
      </p:sp>
      <p:sp>
        <p:nvSpPr>
          <p:cNvPr id="22" name="S1_FlowIcon_4">
            <a:extLst xmlns:a="http://schemas.openxmlformats.org/drawingml/2006/main">
              <a:ext uri="{FF2B5EF4-FFF2-40B4-BE49-F238E27FC236}">
                <a16:creationId xmlns:a16="http://schemas.microsoft.com/office/drawing/2014/main" id="{24419722-4ED1-4470-BE11-5FEC9E93552E}"/>
              </a:ext>
            </a:extLst>
          </p:cNvPr>
          <p:cNvSpPr>
            <a:spLocks xmlns:a="http://schemas.openxmlformats.org/drawingml/2006/main" noGrp="1"/>
          </p:cNvSpPr>
          <p:nvPr/>
        </p:nvSpPr>
        <p:spPr>
          <a:xfrm xmlns:a="http://schemas.openxmlformats.org/drawingml/2006/main">
            <a:off x="7391400" y="1619250"/>
            <a:ext cx="323850" cy="323850"/>
          </a:xfrm>
          <a:prstGeom xmlns:a="http://schemas.openxmlformats.org/drawingml/2006/main" prst="ellipse">
            <a:avLst/>
          </a:prstGeom>
          <a:noFill xmlns:a="http://schemas.openxmlformats.org/drawingml/2006/main"/>
          <a:ln xmlns:a="http://schemas.openxmlformats.org/drawingml/2006/main" w="14288">
            <a:solidFill>
              <a:srgbClr val="C59A4A"/>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C59A4A"/>
                </a:solidFill>
                <a:latin typeface="Segoe UI"/>
                <a:ea typeface="Segoe UI"/>
                <a:cs typeface="Segoe UI"/>
              </a:defRPr>
            </a:defPPr>
          </a:lstStyle>
          <a:p xmlns:a="http://schemas.openxmlformats.org/drawingml/2006/main">
            <a:pPr algn="ctr">
              <a:defRPr sz="900" b="1">
                <a:solidFill>
                  <a:srgbClr val="C59A4A"/>
                </a:solidFill>
                <a:latin typeface="Segoe UI"/>
                <a:ea typeface="Segoe UI"/>
                <a:cs typeface="Segoe UI"/>
              </a:defRPr>
            </a:pPr>
            <a:r>
              <a:rPr sz="900" b="1">
                <a:solidFill>
                  <a:srgbClr val="C59A4A"/>
                </a:solidFill>
                <a:latin typeface="Segoe UI"/>
                <a:ea typeface="Segoe UI"/>
                <a:cs typeface="Segoe UI"/>
              </a:rPr>
              <a:t>04</a:t>
            </a:r>
          </a:p>
        </p:txBody>
      </p:sp>
      <p:sp>
        <p:nvSpPr>
          <p:cNvPr id="23" name="S1_FlowLabel_4">
            <a:extLst xmlns:a="http://schemas.openxmlformats.org/drawingml/2006/main">
              <a:ext uri="{FF2B5EF4-FFF2-40B4-BE49-F238E27FC236}">
                <a16:creationId xmlns:a16="http://schemas.microsoft.com/office/drawing/2014/main" id="{B7010B80-DA74-4768-BB72-193D4D7AD86A}"/>
              </a:ext>
            </a:extLst>
          </p:cNvPr>
          <p:cNvSpPr>
            <a:spLocks xmlns:a="http://schemas.openxmlformats.org/drawingml/2006/main" noGrp="1"/>
          </p:cNvSpPr>
          <p:nvPr/>
        </p:nvSpPr>
        <p:spPr>
          <a:xfrm xmlns:a="http://schemas.openxmlformats.org/drawingml/2006/main">
            <a:off x="739140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Hỏi cấp trên</a:t>
            </a:r>
          </a:p>
        </p:txBody>
      </p:sp>
      <p:sp>
        <p:nvSpPr>
          <p:cNvPr id="24" name="S1_FlowRule_4">
            <a:extLst xmlns:a="http://schemas.openxmlformats.org/drawingml/2006/main">
              <a:ext uri="{FF2B5EF4-FFF2-40B4-BE49-F238E27FC236}">
                <a16:creationId xmlns:a16="http://schemas.microsoft.com/office/drawing/2014/main" id="{0325E642-EC11-4F2F-AC1C-101394E34CFC}"/>
              </a:ext>
            </a:extLst>
          </p:cNvPr>
          <p:cNvSpPr>
            <a:spLocks xmlns:a="http://schemas.openxmlformats.org/drawingml/2006/main" noGrp="1"/>
          </p:cNvSpPr>
          <p:nvPr/>
        </p:nvSpPr>
        <p:spPr>
          <a:xfrm xmlns:a="http://schemas.openxmlformats.org/drawingml/2006/main">
            <a:off x="739140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5" name="S1_FlowPain_4">
            <a:extLst xmlns:a="http://schemas.openxmlformats.org/drawingml/2006/main">
              <a:ext uri="{FF2B5EF4-FFF2-40B4-BE49-F238E27FC236}">
                <a16:creationId xmlns:a16="http://schemas.microsoft.com/office/drawing/2014/main" id="{D64D9981-9AA0-4943-8C31-0290C1B499ED}"/>
              </a:ext>
            </a:extLst>
          </p:cNvPr>
          <p:cNvSpPr>
            <a:spLocks xmlns:a="http://schemas.openxmlformats.org/drawingml/2006/main" noGrp="1"/>
          </p:cNvSpPr>
          <p:nvPr/>
        </p:nvSpPr>
        <p:spPr>
          <a:xfrm xmlns:a="http://schemas.openxmlformats.org/drawingml/2006/main">
            <a:off x="739140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C59A4A"/>
                </a:solidFill>
                <a:latin typeface="Segoe UI"/>
                <a:ea typeface="Segoe UI"/>
                <a:cs typeface="Segoe UI"/>
              </a:defRPr>
            </a:def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Câu hỏi thiếu dữ kiện để trả lời CÓ / KHÔNG.</a:t>
            </a:r>
          </a:p>
        </p:txBody>
      </p:sp>
      <p:sp>
        <p:nvSpPr>
          <p:cNvPr id="26" name="S1_Arrow_4">
            <a:extLst xmlns:a="http://schemas.openxmlformats.org/drawingml/2006/main">
              <a:ext uri="{FF2B5EF4-FFF2-40B4-BE49-F238E27FC236}">
                <a16:creationId xmlns:a16="http://schemas.microsoft.com/office/drawing/2014/main" id="{BFD4B34D-9D5D-4D4E-B63B-2C31866EABDA}"/>
              </a:ext>
            </a:extLst>
          </p:cNvPr>
          <p:cNvSpPr>
            <a:spLocks xmlns:a="http://schemas.openxmlformats.org/drawingml/2006/main" noGrp="1"/>
          </p:cNvSpPr>
          <p:nvPr/>
        </p:nvSpPr>
        <p:spPr>
          <a:xfrm xmlns:a="http://schemas.openxmlformats.org/drawingml/2006/main">
            <a:off x="9305925" y="2419350"/>
            <a:ext cx="152400" cy="20955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27" name="S1_Flow_5">
            <a:extLst xmlns:a="http://schemas.openxmlformats.org/drawingml/2006/main">
              <a:ext uri="{FF2B5EF4-FFF2-40B4-BE49-F238E27FC236}">
                <a16:creationId xmlns:a16="http://schemas.microsoft.com/office/drawing/2014/main" id="{5F879AE2-F61B-4151-A8D4-18D626F6A3E9}"/>
              </a:ext>
            </a:extLst>
          </p:cNvPr>
          <p:cNvSpPr>
            <a:spLocks xmlns:a="http://schemas.openxmlformats.org/drawingml/2006/main" noGrp="1"/>
          </p:cNvSpPr>
          <p:nvPr/>
        </p:nvSpPr>
        <p:spPr>
          <a:xfrm xmlns:a="http://schemas.openxmlformats.org/drawingml/2006/main">
            <a:off x="946785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C59A4A"/>
            </a:solidFill>
            <a:prstDash val="solid"/>
          </a:ln>
        </p:spPr>
      </p:sp>
      <p:sp>
        <p:nvSpPr>
          <p:cNvPr id="28" name="S1_FlowIcon_5">
            <a:extLst xmlns:a="http://schemas.openxmlformats.org/drawingml/2006/main">
              <a:ext uri="{FF2B5EF4-FFF2-40B4-BE49-F238E27FC236}">
                <a16:creationId xmlns:a16="http://schemas.microsoft.com/office/drawing/2014/main" id="{BAC4B12E-BBAB-45F7-8B55-5172ACE6B6DF}"/>
              </a:ext>
            </a:extLst>
          </p:cNvPr>
          <p:cNvSpPr>
            <a:spLocks xmlns:a="http://schemas.openxmlformats.org/drawingml/2006/main" noGrp="1"/>
          </p:cNvSpPr>
          <p:nvPr/>
        </p:nvSpPr>
        <p:spPr>
          <a:xfrm xmlns:a="http://schemas.openxmlformats.org/drawingml/2006/main">
            <a:off x="9620250" y="1619250"/>
            <a:ext cx="323850" cy="323850"/>
          </a:xfrm>
          <a:prstGeom xmlns:a="http://schemas.openxmlformats.org/drawingml/2006/main" prst="ellipse">
            <a:avLst/>
          </a:prstGeom>
          <a:noFill xmlns:a="http://schemas.openxmlformats.org/drawingml/2006/main"/>
          <a:ln xmlns:a="http://schemas.openxmlformats.org/drawingml/2006/main" w="14288">
            <a:solidFill>
              <a:srgbClr val="C59A4A"/>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C59A4A"/>
                </a:solidFill>
                <a:latin typeface="Segoe UI"/>
                <a:ea typeface="Segoe UI"/>
                <a:cs typeface="Segoe UI"/>
              </a:defRPr>
            </a:defPPr>
          </a:lstStyle>
          <a:p xmlns:a="http://schemas.openxmlformats.org/drawingml/2006/main">
            <a:pPr algn="ctr">
              <a:defRPr sz="900" b="1">
                <a:solidFill>
                  <a:srgbClr val="C59A4A"/>
                </a:solidFill>
                <a:latin typeface="Segoe UI"/>
                <a:ea typeface="Segoe UI"/>
                <a:cs typeface="Segoe UI"/>
              </a:defRPr>
            </a:pPr>
            <a:r>
              <a:rPr sz="900" b="1">
                <a:solidFill>
                  <a:srgbClr val="C59A4A"/>
                </a:solidFill>
                <a:latin typeface="Segoe UI"/>
                <a:ea typeface="Segoe UI"/>
                <a:cs typeface="Segoe UI"/>
              </a:rPr>
              <a:t>05</a:t>
            </a:r>
          </a:p>
        </p:txBody>
      </p:sp>
      <p:sp>
        <p:nvSpPr>
          <p:cNvPr id="29" name="S1_FlowLabel_5">
            <a:extLst xmlns:a="http://schemas.openxmlformats.org/drawingml/2006/main">
              <a:ext uri="{FF2B5EF4-FFF2-40B4-BE49-F238E27FC236}">
                <a16:creationId xmlns:a16="http://schemas.microsoft.com/office/drawing/2014/main" id="{2160BDB6-A37F-4189-8E19-D894D26CAAF6}"/>
              </a:ext>
            </a:extLst>
          </p:cNvPr>
          <p:cNvSpPr>
            <a:spLocks xmlns:a="http://schemas.openxmlformats.org/drawingml/2006/main" noGrp="1"/>
          </p:cNvSpPr>
          <p:nvPr/>
        </p:nvSpPr>
        <p:spPr>
          <a:xfrm xmlns:a="http://schemas.openxmlformats.org/drawingml/2006/main">
            <a:off x="962025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Ghi lịch sử</a:t>
            </a:r>
          </a:p>
        </p:txBody>
      </p:sp>
      <p:sp>
        <p:nvSpPr>
          <p:cNvPr id="30" name="S1_FlowRule_5">
            <a:extLst xmlns:a="http://schemas.openxmlformats.org/drawingml/2006/main">
              <a:ext uri="{FF2B5EF4-FFF2-40B4-BE49-F238E27FC236}">
                <a16:creationId xmlns:a16="http://schemas.microsoft.com/office/drawing/2014/main" id="{6EE7C5E0-1F84-48F2-BFD9-578C595BA4F8}"/>
              </a:ext>
            </a:extLst>
          </p:cNvPr>
          <p:cNvSpPr>
            <a:spLocks xmlns:a="http://schemas.openxmlformats.org/drawingml/2006/main" noGrp="1"/>
          </p:cNvSpPr>
          <p:nvPr/>
        </p:nvSpPr>
        <p:spPr>
          <a:xfrm xmlns:a="http://schemas.openxmlformats.org/drawingml/2006/main">
            <a:off x="962025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31" name="S1_FlowPain_5">
            <a:extLst xmlns:a="http://schemas.openxmlformats.org/drawingml/2006/main">
              <a:ext uri="{FF2B5EF4-FFF2-40B4-BE49-F238E27FC236}">
                <a16:creationId xmlns:a16="http://schemas.microsoft.com/office/drawing/2014/main" id="{5438B1D7-B8C5-4D17-80FA-B9F3B49CC208}"/>
              </a:ext>
            </a:extLst>
          </p:cNvPr>
          <p:cNvSpPr>
            <a:spLocks xmlns:a="http://schemas.openxmlformats.org/drawingml/2006/main" noGrp="1"/>
          </p:cNvSpPr>
          <p:nvPr/>
        </p:nvSpPr>
        <p:spPr>
          <a:xfrm xmlns:a="http://schemas.openxmlformats.org/drawingml/2006/main">
            <a:off x="962025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C59A4A"/>
                </a:solidFill>
                <a:latin typeface="Segoe UI"/>
                <a:ea typeface="Segoe UI"/>
                <a:cs typeface="Segoe UI"/>
              </a:defRPr>
            </a:def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Khó nối input, facts, route và người quyết định.</a:t>
            </a:r>
          </a:p>
        </p:txBody>
      </p:sp>
      <p:sp>
        <p:nvSpPr>
          <p:cNvPr id="32" name="S1_GapBand">
            <a:extLst xmlns:a="http://schemas.openxmlformats.org/drawingml/2006/main">
              <a:ext uri="{FF2B5EF4-FFF2-40B4-BE49-F238E27FC236}">
                <a16:creationId xmlns:a16="http://schemas.microsoft.com/office/drawing/2014/main" id="{AC5311E6-C821-42B4-9A16-D614CDE97DA7}"/>
              </a:ext>
            </a:extLst>
          </p:cNvPr>
          <p:cNvSpPr>
            <a:spLocks xmlns:a="http://schemas.openxmlformats.org/drawingml/2006/main" noGrp="1"/>
          </p:cNvSpPr>
          <p:nvPr/>
        </p:nvSpPr>
        <p:spPr>
          <a:xfrm xmlns:a="http://schemas.openxmlformats.org/drawingml/2006/main">
            <a:off x="552450" y="3943350"/>
            <a:ext cx="11087100" cy="1066800"/>
          </a:xfrm>
          <a:prstGeom xmlns:a="http://schemas.openxmlformats.org/drawingml/2006/main" prst="roundRect">
            <a:avLst>
              <a:gd name="adj" fmla="val 5357"/>
            </a:avLst>
          </a:prstGeom>
          <a:solidFill xmlns:a="http://schemas.openxmlformats.org/drawingml/2006/main">
            <a:srgbClr val="162A42"/>
          </a:solidFill>
          <a:ln xmlns:a="http://schemas.openxmlformats.org/drawingml/2006/main" w="9525">
            <a:solidFill>
              <a:srgbClr val="C59A4A"/>
            </a:solidFill>
            <a:prstDash val="solid"/>
          </a:ln>
        </p:spPr>
      </p:sp>
      <p:sp>
        <p:nvSpPr>
          <p:cNvPr id="33" name="S1_GapLabel">
            <a:extLst xmlns:a="http://schemas.openxmlformats.org/drawingml/2006/main">
              <a:ext uri="{FF2B5EF4-FFF2-40B4-BE49-F238E27FC236}">
                <a16:creationId xmlns:a16="http://schemas.microsoft.com/office/drawing/2014/main" id="{547BFEBA-45B2-47DA-AB42-71461F7B169C}"/>
              </a:ext>
            </a:extLst>
          </p:cNvPr>
          <p:cNvSpPr>
            <a:spLocks xmlns:a="http://schemas.openxmlformats.org/drawingml/2006/main" noGrp="1"/>
          </p:cNvSpPr>
          <p:nvPr/>
        </p:nvSpPr>
        <p:spPr>
          <a:xfrm xmlns:a="http://schemas.openxmlformats.org/drawingml/2006/main">
            <a:off x="781050" y="4133850"/>
            <a:ext cx="2952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1">
                <a:solidFill>
                  <a:srgbClr val="C59A4A"/>
                </a:solidFill>
                <a:latin typeface="Segoe UI"/>
                <a:ea typeface="Segoe UI"/>
                <a:cs typeface="Segoe UI"/>
              </a:defRPr>
            </a:defPPr>
          </a:lstStyle>
          <a:p xmlns:a="http://schemas.openxmlformats.org/drawingml/2006/main">
            <a:pPr algn="l">
              <a:defRPr sz="1050" b="1">
                <a:solidFill>
                  <a:srgbClr val="C59A4A"/>
                </a:solidFill>
                <a:latin typeface="Segoe UI"/>
                <a:ea typeface="Segoe UI"/>
                <a:cs typeface="Segoe UI"/>
              </a:defRPr>
            </a:pPr>
            <a:r>
              <a:rPr sz="1050" b="1">
                <a:solidFill>
                  <a:srgbClr val="C59A4A"/>
                </a:solidFill>
                <a:latin typeface="Segoe UI"/>
                <a:ea typeface="Segoe UI"/>
                <a:cs typeface="Segoe UI"/>
              </a:rPr>
              <a:t>KHOẢNG TRỐNG CẦN GIẢI QUYẾT</a:t>
            </a:r>
          </a:p>
        </p:txBody>
      </p:sp>
      <p:sp>
        <p:nvSpPr>
          <p:cNvPr id="34" name="S1_GapText">
            <a:extLst xmlns:a="http://schemas.openxmlformats.org/drawingml/2006/main">
              <a:ext uri="{FF2B5EF4-FFF2-40B4-BE49-F238E27FC236}">
                <a16:creationId xmlns:a16="http://schemas.microsoft.com/office/drawing/2014/main" id="{0B357E71-F1CC-47DC-9C29-CE06F42C0247}"/>
              </a:ext>
            </a:extLst>
          </p:cNvPr>
          <p:cNvSpPr>
            <a:spLocks xmlns:a="http://schemas.openxmlformats.org/drawingml/2006/main" noGrp="1"/>
          </p:cNvSpPr>
          <p:nvPr/>
        </p:nvSpPr>
        <p:spPr>
          <a:xfrm xmlns:a="http://schemas.openxmlformats.org/drawingml/2006/main">
            <a:off x="781050" y="4457700"/>
            <a:ext cx="1062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1">
                <a:solidFill>
                  <a:srgbClr val="F4F7FB"/>
                </a:solidFill>
                <a:latin typeface="Segoe UI"/>
                <a:ea typeface="Segoe UI"/>
                <a:cs typeface="Segoe UI"/>
              </a:defRPr>
            </a:defPPr>
          </a:lstStyle>
          <a:p xmlns:a="http://schemas.openxmlformats.org/drawingml/2006/main">
            <a:pPr algn="l">
              <a:defRPr sz="1500" b="1">
                <a:solidFill>
                  <a:srgbClr val="F4F7FB"/>
                </a:solidFill>
                <a:latin typeface="Segoe UI"/>
                <a:ea typeface="Segoe UI"/>
                <a:cs typeface="Segoe UI"/>
              </a:defRPr>
            </a:pPr>
            <a:r>
              <a:rPr sz="1500" b="1">
                <a:solidFill>
                  <a:srgbClr val="F4F7FB"/>
                </a:solidFill>
                <a:latin typeface="Segoe UI"/>
                <a:ea typeface="Segoe UI"/>
                <a:cs typeface="Segoe UI"/>
              </a:rPr>
              <a:t>Ngoại lệ chưa được đóng gói thành câu hỏi có đủ dữ kiện, quy định và audit để quản lý quyết định nhanh.</a:t>
            </a:r>
          </a:p>
        </p:txBody>
      </p:sp>
      <p:sp>
        <p:nvSpPr>
          <p:cNvPr id="35" name="S1_BridgeRule">
            <a:extLst xmlns:a="http://schemas.openxmlformats.org/drawingml/2006/main">
              <a:ext uri="{FF2B5EF4-FFF2-40B4-BE49-F238E27FC236}">
                <a16:creationId xmlns:a16="http://schemas.microsoft.com/office/drawing/2014/main" id="{76BDC260-17A4-4E7D-B03E-CBE493AA5C40}"/>
              </a:ext>
            </a:extLst>
          </p:cNvPr>
          <p:cNvSpPr>
            <a:spLocks xmlns:a="http://schemas.openxmlformats.org/drawingml/2006/main" noGrp="1"/>
          </p:cNvSpPr>
          <p:nvPr/>
        </p:nvSpPr>
        <p:spPr>
          <a:xfrm xmlns:a="http://schemas.openxmlformats.org/drawingml/2006/main">
            <a:off x="552450" y="53340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36" name="S1_Bridge">
            <a:extLst xmlns:a="http://schemas.openxmlformats.org/drawingml/2006/main">
              <a:ext uri="{FF2B5EF4-FFF2-40B4-BE49-F238E27FC236}">
                <a16:creationId xmlns:a16="http://schemas.microsoft.com/office/drawing/2014/main" id="{A814B0EA-F40A-4E3C-A4A7-4957D9D0FB6F}"/>
              </a:ext>
            </a:extLst>
          </p:cNvPr>
          <p:cNvSpPr>
            <a:spLocks xmlns:a="http://schemas.openxmlformats.org/drawingml/2006/main" noGrp="1"/>
          </p:cNvSpPr>
          <p:nvPr/>
        </p:nvSpPr>
        <p:spPr>
          <a:xfrm xmlns:a="http://schemas.openxmlformats.org/drawingml/2006/main">
            <a:off x="552450" y="558165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4FAF91"/>
                </a:solidFill>
                <a:latin typeface="Segoe UI"/>
                <a:ea typeface="Segoe UI"/>
                <a:cs typeface="Segoe UI"/>
              </a:defRPr>
            </a:defPPr>
          </a:lstStyle>
          <a:p xmlns:a="http://schemas.openxmlformats.org/drawingml/2006/main">
            <a:pPr algn="ctr">
              <a:defRPr sz="1500" b="1">
                <a:solidFill>
                  <a:srgbClr val="4FAF91"/>
                </a:solidFill>
                <a:latin typeface="Segoe UI"/>
                <a:ea typeface="Segoe UI"/>
                <a:cs typeface="Segoe UI"/>
              </a:defRPr>
            </a:pPr>
            <a:r>
              <a:rPr sz="1500" b="1">
                <a:solidFill>
                  <a:srgbClr val="4FAF91"/>
                </a:solidFill>
                <a:latin typeface="Segoe UI"/>
                <a:ea typeface="Segoe UI"/>
                <a:cs typeface="Segoe UI"/>
              </a:rPr>
              <a:t>AURA chuẩn hóa facts, route bằng policy C# và giữ quyền quyết định ngoại lệ cho con người.</a:t>
            </a:r>
          </a:p>
        </p:txBody>
      </p:sp>
    </p:spTree>
    <p:extLst>
      <p:ext uri="{BB962C8B-B14F-4D97-AF65-F5344CB8AC3E}">
        <p14:creationId xmlns:p14="http://schemas.microsoft.com/office/powerpoint/2010/main" val="1431627127"/>
      </p:ext>
    </p:extLst>
  </p:cSld>
</p:sld>
</file>

<file path=ppt/slides/slide2.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41" name="Slide_Title">
            <a:extLst xmlns:a="http://schemas.openxmlformats.org/drawingml/2006/main">
              <a:ext uri="{FF2B5EF4-FFF2-40B4-BE49-F238E27FC236}">
                <a16:creationId xmlns:a16="http://schemas.microsoft.com/office/drawing/2014/main" id="{5A28A4AF-BE54-4A1A-9F9D-82D0992ED6BC}"/>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Pipeline E2E và ranh giới quyết định</a:t>
            </a:r>
          </a:p>
        </p:txBody>
      </p:sp>
      <p:sp>
        <p:nvSpPr>
          <p:cNvPr id="2" name="Slide_Subtitle">
            <a:extLst xmlns:a="http://schemas.openxmlformats.org/drawingml/2006/main">
              <a:ext uri="{FF2B5EF4-FFF2-40B4-BE49-F238E27FC236}">
                <a16:creationId xmlns:a16="http://schemas.microsoft.com/office/drawing/2014/main" id="{0B56A590-765F-43B5-80E3-2521CA8593C1}"/>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Ba vùng Đầu vào, Xử lý, Đầu ra; hai làn cho Hệ thống và Con người.</a:t>
            </a:r>
          </a:p>
        </p:txBody>
      </p:sp>
      <p:sp>
        <p:nvSpPr>
          <p:cNvPr id="3" name="S2_Column_1">
            <a:extLst xmlns:a="http://schemas.openxmlformats.org/drawingml/2006/main">
              <a:ext uri="{FF2B5EF4-FFF2-40B4-BE49-F238E27FC236}">
                <a16:creationId xmlns:a16="http://schemas.microsoft.com/office/drawing/2014/main" id="{3D647ABB-06E6-45DF-A9F4-656FFB4335EB}"/>
              </a:ext>
            </a:extLst>
          </p:cNvPr>
          <p:cNvSpPr>
            <a:spLocks xmlns:a="http://schemas.openxmlformats.org/drawingml/2006/main" noGrp="1"/>
          </p:cNvSpPr>
          <p:nvPr/>
        </p:nvSpPr>
        <p:spPr>
          <a:xfrm xmlns:a="http://schemas.openxmlformats.org/drawingml/2006/main">
            <a:off x="1885950" y="13335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125" b="1">
                <a:solidFill>
                  <a:srgbClr val="A6B3C4"/>
                </a:solidFill>
                <a:latin typeface="Segoe UI"/>
                <a:ea typeface="Segoe UI"/>
                <a:cs typeface="Segoe UI"/>
              </a:defRPr>
            </a:defPPr>
          </a:lstStyle>
          <a:p xmlns:a="http://schemas.openxmlformats.org/drawingml/2006/main">
            <a:pPr algn="ctr">
              <a:defRPr sz="1125" b="1">
                <a:solidFill>
                  <a:srgbClr val="A6B3C4"/>
                </a:solidFill>
                <a:latin typeface="Segoe UI"/>
                <a:ea typeface="Segoe UI"/>
                <a:cs typeface="Segoe UI"/>
              </a:defRPr>
            </a:pPr>
            <a:r>
              <a:rPr sz="1125" b="1">
                <a:solidFill>
                  <a:srgbClr val="A6B3C4"/>
                </a:solidFill>
                <a:latin typeface="Segoe UI"/>
                <a:ea typeface="Segoe UI"/>
                <a:cs typeface="Segoe UI"/>
              </a:rPr>
              <a:t>ĐẦU VÀO</a:t>
            </a:r>
          </a:p>
        </p:txBody>
      </p:sp>
      <p:sp>
        <p:nvSpPr>
          <p:cNvPr id="4" name="S2_Column_2">
            <a:extLst xmlns:a="http://schemas.openxmlformats.org/drawingml/2006/main">
              <a:ext uri="{FF2B5EF4-FFF2-40B4-BE49-F238E27FC236}">
                <a16:creationId xmlns:a16="http://schemas.microsoft.com/office/drawing/2014/main" id="{D298B876-43AD-4FC5-A105-8ADD794A4C28}"/>
              </a:ext>
            </a:extLst>
          </p:cNvPr>
          <p:cNvSpPr>
            <a:spLocks xmlns:a="http://schemas.openxmlformats.org/drawingml/2006/main" noGrp="1"/>
          </p:cNvSpPr>
          <p:nvPr/>
        </p:nvSpPr>
        <p:spPr>
          <a:xfrm xmlns:a="http://schemas.openxmlformats.org/drawingml/2006/main">
            <a:off x="5124450" y="13335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125" b="1">
                <a:solidFill>
                  <a:srgbClr val="A6B3C4"/>
                </a:solidFill>
                <a:latin typeface="Segoe UI"/>
                <a:ea typeface="Segoe UI"/>
                <a:cs typeface="Segoe UI"/>
              </a:defRPr>
            </a:defPPr>
          </a:lstStyle>
          <a:p xmlns:a="http://schemas.openxmlformats.org/drawingml/2006/main">
            <a:pPr algn="ctr">
              <a:defRPr sz="1125" b="1">
                <a:solidFill>
                  <a:srgbClr val="A6B3C4"/>
                </a:solidFill>
                <a:latin typeface="Segoe UI"/>
                <a:ea typeface="Segoe UI"/>
                <a:cs typeface="Segoe UI"/>
              </a:defRPr>
            </a:pPr>
            <a:r>
              <a:rPr sz="1125" b="1">
                <a:solidFill>
                  <a:srgbClr val="A6B3C4"/>
                </a:solidFill>
                <a:latin typeface="Segoe UI"/>
                <a:ea typeface="Segoe UI"/>
                <a:cs typeface="Segoe UI"/>
              </a:rPr>
              <a:t>XỬ LÝ</a:t>
            </a:r>
          </a:p>
        </p:txBody>
      </p:sp>
      <p:sp>
        <p:nvSpPr>
          <p:cNvPr id="5" name="S2_Column_3">
            <a:extLst xmlns:a="http://schemas.openxmlformats.org/drawingml/2006/main">
              <a:ext uri="{FF2B5EF4-FFF2-40B4-BE49-F238E27FC236}">
                <a16:creationId xmlns:a16="http://schemas.microsoft.com/office/drawing/2014/main" id="{F8EE1C2A-B1E1-4B18-89D7-214D595864C8}"/>
              </a:ext>
            </a:extLst>
          </p:cNvPr>
          <p:cNvSpPr>
            <a:spLocks xmlns:a="http://schemas.openxmlformats.org/drawingml/2006/main" noGrp="1"/>
          </p:cNvSpPr>
          <p:nvPr/>
        </p:nvSpPr>
        <p:spPr>
          <a:xfrm xmlns:a="http://schemas.openxmlformats.org/drawingml/2006/main">
            <a:off x="8362950" y="13335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125" b="1">
                <a:solidFill>
                  <a:srgbClr val="A6B3C4"/>
                </a:solidFill>
                <a:latin typeface="Segoe UI"/>
                <a:ea typeface="Segoe UI"/>
                <a:cs typeface="Segoe UI"/>
              </a:defRPr>
            </a:defPPr>
          </a:lstStyle>
          <a:p xmlns:a="http://schemas.openxmlformats.org/drawingml/2006/main">
            <a:pPr algn="ctr">
              <a:defRPr sz="1125" b="1">
                <a:solidFill>
                  <a:srgbClr val="A6B3C4"/>
                </a:solidFill>
                <a:latin typeface="Segoe UI"/>
                <a:ea typeface="Segoe UI"/>
                <a:cs typeface="Segoe UI"/>
              </a:defRPr>
            </a:pPr>
            <a:r>
              <a:rPr sz="1125" b="1">
                <a:solidFill>
                  <a:srgbClr val="A6B3C4"/>
                </a:solidFill>
                <a:latin typeface="Segoe UI"/>
                <a:ea typeface="Segoe UI"/>
                <a:cs typeface="Segoe UI"/>
              </a:rPr>
              <a:t>ĐẦU RA</a:t>
            </a:r>
          </a:p>
        </p:txBody>
      </p:sp>
      <p:sp>
        <p:nvSpPr>
          <p:cNvPr id="6" name="S2_SystemLabel">
            <a:extLst xmlns:a="http://schemas.openxmlformats.org/drawingml/2006/main">
              <a:ext uri="{FF2B5EF4-FFF2-40B4-BE49-F238E27FC236}">
                <a16:creationId xmlns:a16="http://schemas.microsoft.com/office/drawing/2014/main" id="{BFDCD67B-C558-4B43-871D-4D2B69967EDC}"/>
              </a:ext>
            </a:extLst>
          </p:cNvPr>
          <p:cNvSpPr>
            <a:spLocks xmlns:a="http://schemas.openxmlformats.org/drawingml/2006/main" noGrp="1"/>
          </p:cNvSpPr>
          <p:nvPr/>
        </p:nvSpPr>
        <p:spPr>
          <a:xfrm xmlns:a="http://schemas.openxmlformats.org/drawingml/2006/main">
            <a:off x="552450" y="1676400"/>
            <a:ext cx="1200150" cy="2324100"/>
          </a:xfrm>
          <a:prstGeom xmlns:a="http://schemas.openxmlformats.org/drawingml/2006/main" prst="roundRect">
            <a:avLst>
              <a:gd name="adj" fmla="val 4762"/>
            </a:avLst>
          </a:prstGeom>
          <a:solidFill xmlns:a="http://schemas.openxmlformats.org/drawingml/2006/main">
            <a:srgbClr val="162A42"/>
          </a:solidFill>
          <a:ln xmlns:a="http://schemas.openxmlformats.org/drawingml/2006/main" w="9525">
            <a:solidFill>
              <a:srgbClr val="45A9BE"/>
            </a:solidFill>
            <a:prstDash val="solid"/>
          </a:ln>
        </p:spPr>
      </p:sp>
      <p:sp>
        <p:nvSpPr>
          <p:cNvPr id="7" name="S2_SystemLabelText">
            <a:extLst xmlns:a="http://schemas.openxmlformats.org/drawingml/2006/main">
              <a:ext uri="{FF2B5EF4-FFF2-40B4-BE49-F238E27FC236}">
                <a16:creationId xmlns:a16="http://schemas.microsoft.com/office/drawing/2014/main" id="{A3D10932-0426-4251-A5D2-89928E2E7FCA}"/>
              </a:ext>
            </a:extLst>
          </p:cNvPr>
          <p:cNvSpPr>
            <a:spLocks xmlns:a="http://schemas.openxmlformats.org/drawingml/2006/main" noGrp="1"/>
          </p:cNvSpPr>
          <p:nvPr/>
        </p:nvSpPr>
        <p:spPr>
          <a:xfrm xmlns:a="http://schemas.openxmlformats.org/drawingml/2006/main">
            <a:off x="666750" y="1676400"/>
            <a:ext cx="97155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200" b="1">
                <a:solidFill>
                  <a:srgbClr val="45A9BE"/>
                </a:solidFill>
                <a:latin typeface="Segoe UI"/>
                <a:ea typeface="Segoe UI"/>
                <a:cs typeface="Segoe UI"/>
              </a:defRPr>
            </a:defPPr>
          </a:lstStyle>
          <a:p xmlns:a="http://schemas.openxmlformats.org/drawingml/2006/main">
            <a:pPr algn="ctr">
              <a:defRPr sz="1200" b="1">
                <a:solidFill>
                  <a:srgbClr val="45A9BE"/>
                </a:solidFill>
                <a:latin typeface="Segoe UI"/>
                <a:ea typeface="Segoe UI"/>
                <a:cs typeface="Segoe UI"/>
              </a:defRPr>
            </a:pPr>
            <a:r>
              <a:rPr sz="1200" b="1">
                <a:solidFill>
                  <a:srgbClr val="45A9BE"/>
                </a:solidFill>
                <a:latin typeface="Segoe UI"/>
                <a:ea typeface="Segoe UI"/>
                <a:cs typeface="Segoe UI"/>
              </a:rPr>
              <a:t>HỆ THỐNG</a:t>
            </a:r>
          </a:p>
        </p:txBody>
      </p:sp>
      <p:sp>
        <p:nvSpPr>
          <p:cNvPr id="8" name="S2_HumanLabel">
            <a:extLst xmlns:a="http://schemas.openxmlformats.org/drawingml/2006/main">
              <a:ext uri="{FF2B5EF4-FFF2-40B4-BE49-F238E27FC236}">
                <a16:creationId xmlns:a16="http://schemas.microsoft.com/office/drawing/2014/main" id="{34881E87-618B-458C-B21A-5AC40809C4AB}"/>
              </a:ext>
            </a:extLst>
          </p:cNvPr>
          <p:cNvSpPr>
            <a:spLocks xmlns:a="http://schemas.openxmlformats.org/drawingml/2006/main" noGrp="1"/>
          </p:cNvSpPr>
          <p:nvPr/>
        </p:nvSpPr>
        <p:spPr>
          <a:xfrm xmlns:a="http://schemas.openxmlformats.org/drawingml/2006/main">
            <a:off x="552450" y="4171950"/>
            <a:ext cx="1200150" cy="1352550"/>
          </a:xfrm>
          <a:prstGeom xmlns:a="http://schemas.openxmlformats.org/drawingml/2006/main" prst="roundRect">
            <a:avLst>
              <a:gd name="adj" fmla="val 4762"/>
            </a:avLst>
          </a:prstGeom>
          <a:solidFill xmlns:a="http://schemas.openxmlformats.org/drawingml/2006/main">
            <a:srgbClr val="162A42"/>
          </a:solidFill>
          <a:ln xmlns:a="http://schemas.openxmlformats.org/drawingml/2006/main" w="9525">
            <a:solidFill>
              <a:srgbClr val="4FAF91"/>
            </a:solidFill>
            <a:prstDash val="solid"/>
          </a:ln>
        </p:spPr>
      </p:sp>
      <p:sp>
        <p:nvSpPr>
          <p:cNvPr id="9" name="S2_HumanLabelText">
            <a:extLst xmlns:a="http://schemas.openxmlformats.org/drawingml/2006/main">
              <a:ext uri="{FF2B5EF4-FFF2-40B4-BE49-F238E27FC236}">
                <a16:creationId xmlns:a16="http://schemas.microsoft.com/office/drawing/2014/main" id="{BCB85500-3508-4902-B967-80FCB3F8C130}"/>
              </a:ext>
            </a:extLst>
          </p:cNvPr>
          <p:cNvSpPr>
            <a:spLocks xmlns:a="http://schemas.openxmlformats.org/drawingml/2006/main" noGrp="1"/>
          </p:cNvSpPr>
          <p:nvPr/>
        </p:nvSpPr>
        <p:spPr>
          <a:xfrm xmlns:a="http://schemas.openxmlformats.org/drawingml/2006/main">
            <a:off x="666750" y="4171950"/>
            <a:ext cx="9715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200" b="1">
                <a:solidFill>
                  <a:srgbClr val="4FAF91"/>
                </a:solidFill>
                <a:latin typeface="Segoe UI"/>
                <a:ea typeface="Segoe UI"/>
                <a:cs typeface="Segoe UI"/>
              </a:defRPr>
            </a:defPPr>
          </a:lstStyle>
          <a:p xmlns:a="http://schemas.openxmlformats.org/drawingml/2006/main">
            <a:pPr algn="ctr">
              <a:defRPr sz="1200" b="1">
                <a:solidFill>
                  <a:srgbClr val="4FAF91"/>
                </a:solidFill>
                <a:latin typeface="Segoe UI"/>
                <a:ea typeface="Segoe UI"/>
                <a:cs typeface="Segoe UI"/>
              </a:defRPr>
            </a:pPr>
            <a:r>
              <a:rPr sz="1200" b="1">
                <a:solidFill>
                  <a:srgbClr val="4FAF91"/>
                </a:solidFill>
                <a:latin typeface="Segoe UI"/>
                <a:ea typeface="Segoe UI"/>
                <a:cs typeface="Segoe UI"/>
              </a:rPr>
              <a:t>CON NGƯỜI</a:t>
            </a:r>
          </a:p>
        </p:txBody>
      </p:sp>
      <p:sp>
        <p:nvSpPr>
          <p:cNvPr id="10" name="S2_InputSystem">
            <a:extLst xmlns:a="http://schemas.openxmlformats.org/drawingml/2006/main">
              <a:ext uri="{FF2B5EF4-FFF2-40B4-BE49-F238E27FC236}">
                <a16:creationId xmlns:a16="http://schemas.microsoft.com/office/drawing/2014/main" id="{FF55B65F-3C7A-4A07-9F07-5A6D4357B464}"/>
              </a:ext>
            </a:extLst>
          </p:cNvPr>
          <p:cNvSpPr>
            <a:spLocks xmlns:a="http://schemas.openxmlformats.org/drawingml/2006/main" noGrp="1"/>
          </p:cNvSpPr>
          <p:nvPr/>
        </p:nvSpPr>
        <p:spPr>
          <a:xfrm xmlns:a="http://schemas.openxmlformats.org/drawingml/2006/main">
            <a:off x="1885950" y="1676400"/>
            <a:ext cx="3105150" cy="2324100"/>
          </a:xfrm>
          <a:prstGeom xmlns:a="http://schemas.openxmlformats.org/drawingml/2006/main" prst="roundRect">
            <a:avLst>
              <a:gd name="adj" fmla="val 2459"/>
            </a:avLst>
          </a:prstGeom>
          <a:solidFill xmlns:a="http://schemas.openxmlformats.org/drawingml/2006/main">
            <a:srgbClr val="112338"/>
          </a:solidFill>
          <a:ln xmlns:a="http://schemas.openxmlformats.org/drawingml/2006/main" w="9525">
            <a:solidFill>
              <a:srgbClr val="31445C"/>
            </a:solidFill>
            <a:prstDash val="solid"/>
          </a:ln>
        </p:spPr>
      </p:sp>
      <p:sp>
        <p:nvSpPr>
          <p:cNvPr id="11" name="S2_PhaseA">
            <a:extLst xmlns:a="http://schemas.openxmlformats.org/drawingml/2006/main">
              <a:ext uri="{FF2B5EF4-FFF2-40B4-BE49-F238E27FC236}">
                <a16:creationId xmlns:a16="http://schemas.microsoft.com/office/drawing/2014/main" id="{76F65E86-8E6E-4DD2-A7FE-89FB69C7E8DC}"/>
              </a:ext>
            </a:extLst>
          </p:cNvPr>
          <p:cNvSpPr>
            <a:spLocks xmlns:a="http://schemas.openxmlformats.org/drawingml/2006/main" noGrp="1"/>
          </p:cNvSpPr>
          <p:nvPr/>
        </p:nvSpPr>
        <p:spPr>
          <a:xfrm xmlns:a="http://schemas.openxmlformats.org/drawingml/2006/main">
            <a:off x="2057400" y="1847850"/>
            <a:ext cx="1428750" cy="266700"/>
          </a:xfrm>
          <a:prstGeom xmlns:a="http://schemas.openxmlformats.org/drawingml/2006/main" prst="roundRect">
            <a:avLst>
              <a:gd name="adj" fmla="val 21429"/>
            </a:avLst>
          </a:prstGeom>
          <a:solidFill xmlns:a="http://schemas.openxmlformats.org/drawingml/2006/main">
            <a:srgbClr val="45A9BE"/>
          </a:solidFill>
          <a:ln xmlns:a="http://schemas.openxmlformats.org/drawingml/2006/main" w="9525">
            <a:solidFill>
              <a:srgbClr val="45A9BE"/>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PHA A • GATE 1–3</a:t>
            </a:r>
          </a:p>
        </p:txBody>
      </p:sp>
      <p:sp>
        <p:nvSpPr>
          <p:cNvPr id="12" name="S2_PhaseATitle">
            <a:extLst xmlns:a="http://schemas.openxmlformats.org/drawingml/2006/main">
              <a:ext uri="{FF2B5EF4-FFF2-40B4-BE49-F238E27FC236}">
                <a16:creationId xmlns:a16="http://schemas.microsoft.com/office/drawing/2014/main" id="{07A58BF2-2856-4013-832D-42C64C4A05AB}"/>
              </a:ext>
            </a:extLst>
          </p:cNvPr>
          <p:cNvSpPr>
            <a:spLocks xmlns:a="http://schemas.openxmlformats.org/drawingml/2006/main" noGrp="1"/>
          </p:cNvSpPr>
          <p:nvPr/>
        </p:nvSpPr>
        <p:spPr>
          <a:xfrm xmlns:a="http://schemas.openxmlformats.org/drawingml/2006/main">
            <a:off x="2057400" y="226695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425" b="1">
                <a:solidFill>
                  <a:srgbClr val="F4F7FB"/>
                </a:solidFill>
                <a:latin typeface="Segoe UI"/>
                <a:ea typeface="Segoe UI"/>
                <a:cs typeface="Segoe UI"/>
              </a:defRPr>
            </a:defPPr>
          </a:lstStyle>
          <a:p xmlns:a="http://schemas.openxmlformats.org/drawingml/2006/main">
            <a:pPr algn="l">
              <a:defRPr sz="1425" b="1">
                <a:solidFill>
                  <a:srgbClr val="F4F7FB"/>
                </a:solidFill>
                <a:latin typeface="Segoe UI"/>
                <a:ea typeface="Segoe UI"/>
                <a:cs typeface="Segoe UI"/>
              </a:defRPr>
            </a:pPr>
            <a:r>
              <a:rPr sz="1425" b="1">
                <a:solidFill>
                  <a:srgbClr val="F4F7FB"/>
                </a:solidFill>
                <a:latin typeface="Segoe UI"/>
                <a:ea typeface="Segoe UI"/>
                <a:cs typeface="Segoe UI"/>
              </a:rPr>
              <a:t>Nhận và xếp hàng</a:t>
            </a:r>
          </a:p>
        </p:txBody>
      </p:sp>
      <p:sp>
        <p:nvSpPr>
          <p:cNvPr id="13" name="S2_PhaseADetail">
            <a:extLst xmlns:a="http://schemas.openxmlformats.org/drawingml/2006/main">
              <a:ext uri="{FF2B5EF4-FFF2-40B4-BE49-F238E27FC236}">
                <a16:creationId xmlns:a16="http://schemas.microsoft.com/office/drawing/2014/main" id="{4FC5683E-B1A6-45A2-A7AC-2AB22DB51BEC}"/>
              </a:ext>
            </a:extLst>
          </p:cNvPr>
          <p:cNvSpPr>
            <a:spLocks xmlns:a="http://schemas.openxmlformats.org/drawingml/2006/main" noGrp="1"/>
          </p:cNvSpPr>
          <p:nvPr/>
        </p:nvSpPr>
        <p:spPr>
          <a:xfrm xmlns:a="http://schemas.openxmlformats.org/drawingml/2006/main">
            <a:off x="2057400" y="2686050"/>
            <a:ext cx="2762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00" b="0">
                <a:solidFill>
                  <a:srgbClr val="A6B3C4"/>
                </a:solidFill>
                <a:latin typeface="Segoe UI"/>
                <a:ea typeface="Segoe UI"/>
                <a:cs typeface="Segoe UI"/>
              </a:defRPr>
            </a:defPPr>
          </a:lstStyle>
          <a:p xmlns:a="http://schemas.openxmlformats.org/drawingml/2006/main">
            <a:pPr algn="l">
              <a:defRPr sz="1200" b="0">
                <a:solidFill>
                  <a:srgbClr val="A6B3C4"/>
                </a:solidFill>
                <a:latin typeface="Segoe UI"/>
                <a:ea typeface="Segoe UI"/>
                <a:cs typeface="Segoe UI"/>
              </a:defRPr>
            </a:pPr>
            <a:r>
              <a:rPr sz="1200" b="0">
                <a:solidFill>
                  <a:srgbClr val="A6B3C4"/>
                </a:solidFill>
                <a:latin typeface="Segoe UI"/>
                <a:ea typeface="Segoe UI"/>
                <a:cs typeface="Segoe UI"/>
              </a:rPr>
              <a:t>JPG/PNG ≤ 5 MB</a:t>
            </a:r>
          </a:p>
          <a:p xmlns:a="http://schemas.openxmlformats.org/drawingml/2006/main">
            <a:pPr algn="l">
              <a:defRPr sz="1200" b="0">
                <a:solidFill>
                  <a:srgbClr val="A6B3C4"/>
                </a:solidFill>
                <a:latin typeface="Segoe UI"/>
                <a:ea typeface="Segoe UI"/>
                <a:cs typeface="Segoe UI"/>
              </a:defRPr>
            </a:pPr>
            <a:r>
              <a:rPr sz="1200" b="0">
                <a:solidFill>
                  <a:srgbClr val="A6B3C4"/>
                </a:solidFill>
                <a:latin typeface="Segoe UI"/>
                <a:ea typeface="Segoe UI"/>
                <a:cs typeface="Segoe UI"/>
              </a:rPr>
              <a:t>MIME + magic bytes</a:t>
            </a:r>
          </a:p>
          <a:p xmlns:a="http://schemas.openxmlformats.org/drawingml/2006/main">
            <a:pPr algn="l">
              <a:defRPr sz="1200" b="0">
                <a:solidFill>
                  <a:srgbClr val="A6B3C4"/>
                </a:solidFill>
                <a:latin typeface="Segoe UI"/>
                <a:ea typeface="Segoe UI"/>
                <a:cs typeface="Segoe UI"/>
              </a:defRPr>
            </a:pPr>
            <a:r>
              <a:rPr sz="1200" b="0">
                <a:solidFill>
                  <a:srgbClr val="A6B3C4"/>
                </a:solidFill>
                <a:latin typeface="Segoe UI"/>
                <a:ea typeface="Segoe UI"/>
                <a:cs typeface="Segoe UI"/>
              </a:rPr>
              <a:t>Private storage + SHA-256</a:t>
            </a:r>
          </a:p>
          <a:p xmlns:a="http://schemas.openxmlformats.org/drawingml/2006/main">
            <a:pPr algn="l">
              <a:defRPr sz="1200" b="0">
                <a:solidFill>
                  <a:srgbClr val="A6B3C4"/>
                </a:solidFill>
                <a:latin typeface="Segoe UI"/>
                <a:ea typeface="Segoe UI"/>
                <a:cs typeface="Segoe UI"/>
              </a:defRPr>
            </a:pPr>
            <a:r>
              <a:rPr sz="1200" b="0">
                <a:solidFill>
                  <a:srgbClr val="A6B3C4"/>
                </a:solidFill>
                <a:latin typeface="Segoe UI"/>
                <a:ea typeface="Segoe UI"/>
                <a:cs typeface="Segoe UI"/>
              </a:rPr>
              <a:t>SQL PENDING + AI_QUEUED</a:t>
            </a:r>
          </a:p>
        </p:txBody>
      </p:sp>
      <p:sp>
        <p:nvSpPr>
          <p:cNvPr id="14" name="S2_ProcessSystem">
            <a:extLst xmlns:a="http://schemas.openxmlformats.org/drawingml/2006/main">
              <a:ext uri="{FF2B5EF4-FFF2-40B4-BE49-F238E27FC236}">
                <a16:creationId xmlns:a16="http://schemas.microsoft.com/office/drawing/2014/main" id="{2425F454-EFB7-4BC8-B5CA-CB19C578277E}"/>
              </a:ext>
            </a:extLst>
          </p:cNvPr>
          <p:cNvSpPr>
            <a:spLocks xmlns:a="http://schemas.openxmlformats.org/drawingml/2006/main" noGrp="1"/>
          </p:cNvSpPr>
          <p:nvPr/>
        </p:nvSpPr>
        <p:spPr>
          <a:xfrm xmlns:a="http://schemas.openxmlformats.org/drawingml/2006/main">
            <a:off x="5124450" y="1676400"/>
            <a:ext cx="3105150" cy="2324100"/>
          </a:xfrm>
          <a:prstGeom xmlns:a="http://schemas.openxmlformats.org/drawingml/2006/main" prst="roundRect">
            <a:avLst>
              <a:gd name="adj" fmla="val 2459"/>
            </a:avLst>
          </a:prstGeom>
          <a:solidFill xmlns:a="http://schemas.openxmlformats.org/drawingml/2006/main">
            <a:srgbClr val="112338"/>
          </a:solidFill>
          <a:ln xmlns:a="http://schemas.openxmlformats.org/drawingml/2006/main" w="9525">
            <a:solidFill>
              <a:srgbClr val="31445C"/>
            </a:solidFill>
            <a:prstDash val="solid"/>
          </a:ln>
        </p:spPr>
      </p:sp>
      <p:sp>
        <p:nvSpPr>
          <p:cNvPr id="15" name="S2_PhaseB">
            <a:extLst xmlns:a="http://schemas.openxmlformats.org/drawingml/2006/main">
              <a:ext uri="{FF2B5EF4-FFF2-40B4-BE49-F238E27FC236}">
                <a16:creationId xmlns:a16="http://schemas.microsoft.com/office/drawing/2014/main" id="{9F4A2226-BE65-4670-8513-733FE3C9DC2C}"/>
              </a:ext>
            </a:extLst>
          </p:cNvPr>
          <p:cNvSpPr>
            <a:spLocks xmlns:a="http://schemas.openxmlformats.org/drawingml/2006/main" noGrp="1"/>
          </p:cNvSpPr>
          <p:nvPr/>
        </p:nvSpPr>
        <p:spPr>
          <a:xfrm xmlns:a="http://schemas.openxmlformats.org/drawingml/2006/main">
            <a:off x="5295900" y="1847850"/>
            <a:ext cx="1428750" cy="266700"/>
          </a:xfrm>
          <a:prstGeom xmlns:a="http://schemas.openxmlformats.org/drawingml/2006/main" prst="roundRect">
            <a:avLst>
              <a:gd name="adj" fmla="val 21429"/>
            </a:avLst>
          </a:prstGeom>
          <a:solidFill xmlns:a="http://schemas.openxmlformats.org/drawingml/2006/main">
            <a:srgbClr val="45A9BE"/>
          </a:solidFill>
          <a:ln xmlns:a="http://schemas.openxmlformats.org/drawingml/2006/main" w="9525">
            <a:solidFill>
              <a:srgbClr val="45A9BE"/>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PHA B • GATE 4–5</a:t>
            </a:r>
          </a:p>
        </p:txBody>
      </p:sp>
      <p:sp>
        <p:nvSpPr>
          <p:cNvPr id="16" name="S2_PhaseBDetail">
            <a:extLst xmlns:a="http://schemas.openxmlformats.org/drawingml/2006/main">
              <a:ext uri="{FF2B5EF4-FFF2-40B4-BE49-F238E27FC236}">
                <a16:creationId xmlns:a16="http://schemas.microsoft.com/office/drawing/2014/main" id="{3D070A38-3270-4F32-A126-2E9C91BC80F8}"/>
              </a:ext>
            </a:extLst>
          </p:cNvPr>
          <p:cNvSpPr>
            <a:spLocks xmlns:a="http://schemas.openxmlformats.org/drawingml/2006/main" noGrp="1"/>
          </p:cNvSpPr>
          <p:nvPr/>
        </p:nvSpPr>
        <p:spPr>
          <a:xfrm xmlns:a="http://schemas.openxmlformats.org/drawingml/2006/main">
            <a:off x="5295900" y="2209800"/>
            <a:ext cx="276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F4F7FB"/>
                </a:solidFill>
                <a:latin typeface="Segoe UI"/>
                <a:ea typeface="Segoe UI"/>
                <a:cs typeface="Segoe UI"/>
              </a:defRPr>
            </a:defPPr>
          </a:lstStyle>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HTTP 202 + statusUrl</a:t>
            </a:r>
          </a:p>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Worker lease 600s; reclaim sau restart</a:t>
            </a:r>
          </a:p>
        </p:txBody>
      </p:sp>
      <p:sp>
        <p:nvSpPr>
          <p:cNvPr id="17" name="S2_ProcessDivider">
            <a:extLst xmlns:a="http://schemas.openxmlformats.org/drawingml/2006/main">
              <a:ext uri="{FF2B5EF4-FFF2-40B4-BE49-F238E27FC236}">
                <a16:creationId xmlns:a16="http://schemas.microsoft.com/office/drawing/2014/main" id="{23B3121F-E625-4894-818C-973B34881EE0}"/>
              </a:ext>
            </a:extLst>
          </p:cNvPr>
          <p:cNvSpPr>
            <a:spLocks xmlns:a="http://schemas.openxmlformats.org/drawingml/2006/main" noGrp="1"/>
          </p:cNvSpPr>
          <p:nvPr/>
        </p:nvSpPr>
        <p:spPr>
          <a:xfrm xmlns:a="http://schemas.openxmlformats.org/drawingml/2006/main">
            <a:off x="5295900" y="2914650"/>
            <a:ext cx="276225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18" name="S2_PhaseC">
            <a:extLst xmlns:a="http://schemas.openxmlformats.org/drawingml/2006/main">
              <a:ext uri="{FF2B5EF4-FFF2-40B4-BE49-F238E27FC236}">
                <a16:creationId xmlns:a16="http://schemas.microsoft.com/office/drawing/2014/main" id="{611008E2-E6CC-4DE7-9FC3-2D0D41D26697}"/>
              </a:ext>
            </a:extLst>
          </p:cNvPr>
          <p:cNvSpPr>
            <a:spLocks xmlns:a="http://schemas.openxmlformats.org/drawingml/2006/main" noGrp="1"/>
          </p:cNvSpPr>
          <p:nvPr/>
        </p:nvSpPr>
        <p:spPr>
          <a:xfrm xmlns:a="http://schemas.openxmlformats.org/drawingml/2006/main">
            <a:off x="5295900" y="3067050"/>
            <a:ext cx="1428750" cy="266700"/>
          </a:xfrm>
          <a:prstGeom xmlns:a="http://schemas.openxmlformats.org/drawingml/2006/main" prst="roundRect">
            <a:avLst>
              <a:gd name="adj" fmla="val 21429"/>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PHA C • GATE 6–7</a:t>
            </a:r>
          </a:p>
        </p:txBody>
      </p:sp>
      <p:sp>
        <p:nvSpPr>
          <p:cNvPr id="19" name="S2_PhaseCDetail">
            <a:extLst xmlns:a="http://schemas.openxmlformats.org/drawingml/2006/main">
              <a:ext uri="{FF2B5EF4-FFF2-40B4-BE49-F238E27FC236}">
                <a16:creationId xmlns:a16="http://schemas.microsoft.com/office/drawing/2014/main" id="{4403E1DB-435A-4074-8820-DC7854921D8F}"/>
              </a:ext>
            </a:extLst>
          </p:cNvPr>
          <p:cNvSpPr>
            <a:spLocks xmlns:a="http://schemas.openxmlformats.org/drawingml/2006/main" noGrp="1"/>
          </p:cNvSpPr>
          <p:nvPr/>
        </p:nvSpPr>
        <p:spPr>
          <a:xfrm xmlns:a="http://schemas.openxmlformats.org/drawingml/2006/main">
            <a:off x="5295900" y="3429000"/>
            <a:ext cx="276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F4F7FB"/>
                </a:solidFill>
                <a:latin typeface="Segoe UI"/>
                <a:ea typeface="Segoe UI"/>
                <a:cs typeface="Segoe UI"/>
              </a:defRPr>
            </a:defPPr>
          </a:lstStyle>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AI permit 1 • Schema → DTO</a:t>
            </a:r>
          </a:p>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Semantic validation • repair tối đa 1 lần</a:t>
            </a:r>
          </a:p>
        </p:txBody>
      </p:sp>
      <p:sp>
        <p:nvSpPr>
          <p:cNvPr id="20" name="S2_OutputSystem">
            <a:extLst xmlns:a="http://schemas.openxmlformats.org/drawingml/2006/main">
              <a:ext uri="{FF2B5EF4-FFF2-40B4-BE49-F238E27FC236}">
                <a16:creationId xmlns:a16="http://schemas.microsoft.com/office/drawing/2014/main" id="{9062DFD3-0BC6-4303-8300-085BFCE8E776}"/>
              </a:ext>
            </a:extLst>
          </p:cNvPr>
          <p:cNvSpPr>
            <a:spLocks xmlns:a="http://schemas.openxmlformats.org/drawingml/2006/main" noGrp="1"/>
          </p:cNvSpPr>
          <p:nvPr/>
        </p:nvSpPr>
        <p:spPr>
          <a:xfrm xmlns:a="http://schemas.openxmlformats.org/drawingml/2006/main">
            <a:off x="8362950" y="1676400"/>
            <a:ext cx="3105150" cy="2324100"/>
          </a:xfrm>
          <a:prstGeom xmlns:a="http://schemas.openxmlformats.org/drawingml/2006/main" prst="roundRect">
            <a:avLst>
              <a:gd name="adj" fmla="val 2459"/>
            </a:avLst>
          </a:prstGeom>
          <a:solidFill xmlns:a="http://schemas.openxmlformats.org/drawingml/2006/main">
            <a:srgbClr val="112338"/>
          </a:solidFill>
          <a:ln xmlns:a="http://schemas.openxmlformats.org/drawingml/2006/main" w="9525">
            <a:solidFill>
              <a:srgbClr val="31445C"/>
            </a:solidFill>
            <a:prstDash val="solid"/>
          </a:ln>
        </p:spPr>
      </p:sp>
      <p:sp>
        <p:nvSpPr>
          <p:cNvPr id="21" name="S2_PhaseD">
            <a:extLst xmlns:a="http://schemas.openxmlformats.org/drawingml/2006/main">
              <a:ext uri="{FF2B5EF4-FFF2-40B4-BE49-F238E27FC236}">
                <a16:creationId xmlns:a16="http://schemas.microsoft.com/office/drawing/2014/main" id="{9B8CB60F-C4B6-46AA-9B30-2A0C45E063A6}"/>
              </a:ext>
            </a:extLst>
          </p:cNvPr>
          <p:cNvSpPr>
            <a:spLocks xmlns:a="http://schemas.openxmlformats.org/drawingml/2006/main" noGrp="1"/>
          </p:cNvSpPr>
          <p:nvPr/>
        </p:nvSpPr>
        <p:spPr>
          <a:xfrm xmlns:a="http://schemas.openxmlformats.org/drawingml/2006/main">
            <a:off x="8534400" y="1847850"/>
            <a:ext cx="1257300" cy="266700"/>
          </a:xfrm>
          <a:prstGeom xmlns:a="http://schemas.openxmlformats.org/drawingml/2006/main" prst="roundRect">
            <a:avLst>
              <a:gd name="adj" fmla="val 21429"/>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PHA D • GATE 8</a:t>
            </a:r>
          </a:p>
        </p:txBody>
      </p:sp>
      <p:sp>
        <p:nvSpPr>
          <p:cNvPr id="22" name="S2_PhaseDTitle">
            <a:extLst xmlns:a="http://schemas.openxmlformats.org/drawingml/2006/main">
              <a:ext uri="{FF2B5EF4-FFF2-40B4-BE49-F238E27FC236}">
                <a16:creationId xmlns:a16="http://schemas.microsoft.com/office/drawing/2014/main" id="{B39D51BC-3F7B-4015-A105-2E977EFF4251}"/>
              </a:ext>
            </a:extLst>
          </p:cNvPr>
          <p:cNvSpPr>
            <a:spLocks xmlns:a="http://schemas.openxmlformats.org/drawingml/2006/main" noGrp="1"/>
          </p:cNvSpPr>
          <p:nvPr/>
        </p:nvSpPr>
        <p:spPr>
          <a:xfrm xmlns:a="http://schemas.openxmlformats.org/drawingml/2006/main">
            <a:off x="8534400" y="2266950"/>
            <a:ext cx="276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F4F7FB"/>
                </a:solidFill>
                <a:latin typeface="Segoe UI"/>
                <a:ea typeface="Segoe UI"/>
                <a:cs typeface="Segoe UI"/>
              </a:defRPr>
            </a:def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PolicyDecisionEngine C#</a:t>
            </a:r>
          </a:p>
        </p:txBody>
      </p:sp>
      <p:sp>
        <p:nvSpPr>
          <p:cNvPr id="23" name="S2_PhaseDDetail">
            <a:extLst xmlns:a="http://schemas.openxmlformats.org/drawingml/2006/main">
              <a:ext uri="{FF2B5EF4-FFF2-40B4-BE49-F238E27FC236}">
                <a16:creationId xmlns:a16="http://schemas.microsoft.com/office/drawing/2014/main" id="{5A85AC92-7CF1-40C0-90A1-2E0A17C108D7}"/>
              </a:ext>
            </a:extLst>
          </p:cNvPr>
          <p:cNvSpPr>
            <a:spLocks xmlns:a="http://schemas.openxmlformats.org/drawingml/2006/main" noGrp="1"/>
          </p:cNvSpPr>
          <p:nvPr/>
        </p:nvSpPr>
        <p:spPr>
          <a:xfrm xmlns:a="http://schemas.openxmlformats.org/drawingml/2006/main">
            <a:off x="8534400" y="2647950"/>
            <a:ext cx="276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Route theo business rules</a:t>
            </a:r>
          </a:p>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Không dùng confidence để tự đổi policy</a:t>
            </a:r>
          </a:p>
        </p:txBody>
      </p:sp>
      <p:sp>
        <p:nvSpPr>
          <p:cNvPr id="24" name="S2_AutoBranch">
            <a:extLst xmlns:a="http://schemas.openxmlformats.org/drawingml/2006/main">
              <a:ext uri="{FF2B5EF4-FFF2-40B4-BE49-F238E27FC236}">
                <a16:creationId xmlns:a16="http://schemas.microsoft.com/office/drawing/2014/main" id="{EBF4D78E-70D3-4CB0-B70B-7533AF752F5E}"/>
              </a:ext>
            </a:extLst>
          </p:cNvPr>
          <p:cNvSpPr>
            <a:spLocks xmlns:a="http://schemas.openxmlformats.org/drawingml/2006/main" noGrp="1"/>
          </p:cNvSpPr>
          <p:nvPr/>
        </p:nvSpPr>
        <p:spPr>
          <a:xfrm xmlns:a="http://schemas.openxmlformats.org/drawingml/2006/main">
            <a:off x="8534400" y="3295650"/>
            <a:ext cx="1257300" cy="495300"/>
          </a:xfrm>
          <a:prstGeom xmlns:a="http://schemas.openxmlformats.org/drawingml/2006/main" prst="roundRect">
            <a:avLst>
              <a:gd name="adj" fmla="val 11538"/>
            </a:avLst>
          </a:prstGeom>
          <a:solidFill xmlns:a="http://schemas.openxmlformats.org/drawingml/2006/main">
            <a:srgbClr val="162A42"/>
          </a:solidFill>
          <a:ln xmlns:a="http://schemas.openxmlformats.org/drawingml/2006/main" w="9525">
            <a:solidFill>
              <a:srgbClr val="4FAF91"/>
            </a:solidFill>
            <a:prstDash val="solid"/>
          </a:ln>
        </p:spPr>
      </p:sp>
      <p:sp>
        <p:nvSpPr>
          <p:cNvPr id="25" name="S2_AutoBranchText">
            <a:extLst xmlns:a="http://schemas.openxmlformats.org/drawingml/2006/main">
              <a:ext uri="{FF2B5EF4-FFF2-40B4-BE49-F238E27FC236}">
                <a16:creationId xmlns:a16="http://schemas.microsoft.com/office/drawing/2014/main" id="{7CDCF165-868D-4E38-BBB2-D458E48281CA}"/>
              </a:ext>
            </a:extLst>
          </p:cNvPr>
          <p:cNvSpPr>
            <a:spLocks xmlns:a="http://schemas.openxmlformats.org/drawingml/2006/main" noGrp="1"/>
          </p:cNvSpPr>
          <p:nvPr/>
        </p:nvSpPr>
        <p:spPr>
          <a:xfrm xmlns:a="http://schemas.openxmlformats.org/drawingml/2006/main">
            <a:off x="8610600" y="3371850"/>
            <a:ext cx="110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975" b="1">
                <a:solidFill>
                  <a:srgbClr val="4FAF91"/>
                </a:solidFill>
                <a:latin typeface="Segoe UI"/>
                <a:ea typeface="Segoe UI"/>
                <a:cs typeface="Segoe UI"/>
              </a:defRPr>
            </a:defPPr>
          </a:lstStyle>
          <a:p xmlns:a="http://schemas.openxmlformats.org/drawingml/2006/main">
            <a:pPr algn="ctr">
              <a:defRPr sz="975" b="1">
                <a:solidFill>
                  <a:srgbClr val="4FAF91"/>
                </a:solidFill>
                <a:latin typeface="Segoe UI"/>
                <a:ea typeface="Segoe UI"/>
                <a:cs typeface="Segoe UI"/>
              </a:defRPr>
            </a:pPr>
            <a:r>
              <a:rPr sz="975" b="1">
                <a:solidFill>
                  <a:srgbClr val="4FAF91"/>
                </a:solidFill>
                <a:latin typeface="Segoe UI"/>
                <a:ea typeface="Segoe UI"/>
                <a:cs typeface="Segoe UI"/>
              </a:rPr>
              <a:t>AUTO_APPROVE</a:t>
            </a:r>
          </a:p>
          <a:p xmlns:a="http://schemas.openxmlformats.org/drawingml/2006/main">
            <a:pPr algn="ctr">
              <a:defRPr sz="975" b="1">
                <a:solidFill>
                  <a:srgbClr val="4FAF91"/>
                </a:solidFill>
                <a:latin typeface="Segoe UI"/>
                <a:ea typeface="Segoe UI"/>
                <a:cs typeface="Segoe UI"/>
              </a:defRPr>
            </a:pPr>
            <a:r>
              <a:rPr sz="975" b="1">
                <a:solidFill>
                  <a:srgbClr val="4FAF91"/>
                </a:solidFill>
                <a:latin typeface="Segoe UI"/>
                <a:ea typeface="Segoe UI"/>
                <a:cs typeface="Segoe UI"/>
              </a:rPr>
              <a:t>Ghi lịch sử</a:t>
            </a:r>
          </a:p>
        </p:txBody>
      </p:sp>
      <p:sp>
        <p:nvSpPr>
          <p:cNvPr id="26" name="S2_EscalateBranch">
            <a:extLst xmlns:a="http://schemas.openxmlformats.org/drawingml/2006/main">
              <a:ext uri="{FF2B5EF4-FFF2-40B4-BE49-F238E27FC236}">
                <a16:creationId xmlns:a16="http://schemas.microsoft.com/office/drawing/2014/main" id="{4B9392A2-090B-4ACF-BA58-56CD18DE3976}"/>
              </a:ext>
            </a:extLst>
          </p:cNvPr>
          <p:cNvSpPr>
            <a:spLocks xmlns:a="http://schemas.openxmlformats.org/drawingml/2006/main" noGrp="1"/>
          </p:cNvSpPr>
          <p:nvPr/>
        </p:nvSpPr>
        <p:spPr>
          <a:xfrm xmlns:a="http://schemas.openxmlformats.org/drawingml/2006/main">
            <a:off x="9944100" y="3295650"/>
            <a:ext cx="1352550" cy="495300"/>
          </a:xfrm>
          <a:prstGeom xmlns:a="http://schemas.openxmlformats.org/drawingml/2006/main" prst="roundRect">
            <a:avLst>
              <a:gd name="adj" fmla="val 11538"/>
            </a:avLst>
          </a:prstGeom>
          <a:solidFill xmlns:a="http://schemas.openxmlformats.org/drawingml/2006/main">
            <a:srgbClr val="162A42"/>
          </a:solidFill>
          <a:ln xmlns:a="http://schemas.openxmlformats.org/drawingml/2006/main" w="9525">
            <a:solidFill>
              <a:srgbClr val="C59A4A"/>
            </a:solidFill>
            <a:prstDash val="solid"/>
          </a:ln>
        </p:spPr>
      </p:sp>
      <p:sp>
        <p:nvSpPr>
          <p:cNvPr id="27" name="S2_EscalateBranchText">
            <a:extLst xmlns:a="http://schemas.openxmlformats.org/drawingml/2006/main">
              <a:ext uri="{FF2B5EF4-FFF2-40B4-BE49-F238E27FC236}">
                <a16:creationId xmlns:a16="http://schemas.microsoft.com/office/drawing/2014/main" id="{2DF2A783-30D4-4A89-A2D4-295FBCC53CC5}"/>
              </a:ext>
            </a:extLst>
          </p:cNvPr>
          <p:cNvSpPr>
            <a:spLocks xmlns:a="http://schemas.openxmlformats.org/drawingml/2006/main" noGrp="1"/>
          </p:cNvSpPr>
          <p:nvPr/>
        </p:nvSpPr>
        <p:spPr>
          <a:xfrm xmlns:a="http://schemas.openxmlformats.org/drawingml/2006/main">
            <a:off x="10020300" y="3371850"/>
            <a:ext cx="1200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975" b="1">
                <a:solidFill>
                  <a:srgbClr val="C59A4A"/>
                </a:solidFill>
                <a:latin typeface="Segoe UI"/>
                <a:ea typeface="Segoe UI"/>
                <a:cs typeface="Segoe UI"/>
              </a:defRPr>
            </a:defPPr>
          </a:lstStyle>
          <a:p xmlns:a="http://schemas.openxmlformats.org/drawingml/2006/main">
            <a:pPr algn="ctr">
              <a:defRPr sz="975" b="1">
                <a:solidFill>
                  <a:srgbClr val="C59A4A"/>
                </a:solidFill>
                <a:latin typeface="Segoe UI"/>
                <a:ea typeface="Segoe UI"/>
                <a:cs typeface="Segoe UI"/>
              </a:defRPr>
            </a:pPr>
            <a:r>
              <a:rPr sz="975" b="1">
                <a:solidFill>
                  <a:srgbClr val="C59A4A"/>
                </a:solidFill>
                <a:latin typeface="Segoe UI"/>
                <a:ea typeface="Segoe UI"/>
                <a:cs typeface="Segoe UI"/>
              </a:rPr>
              <a:t>ESCALATE_*</a:t>
            </a:r>
          </a:p>
          <a:p xmlns:a="http://schemas.openxmlformats.org/drawingml/2006/main">
            <a:pPr algn="ctr">
              <a:defRPr sz="975" b="1">
                <a:solidFill>
                  <a:srgbClr val="C59A4A"/>
                </a:solidFill>
                <a:latin typeface="Segoe UI"/>
                <a:ea typeface="Segoe UI"/>
                <a:cs typeface="Segoe UI"/>
              </a:defRPr>
            </a:pPr>
            <a:r>
              <a:rPr sz="975" b="1">
                <a:solidFill>
                  <a:srgbClr val="C59A4A"/>
                </a:solidFill>
                <a:latin typeface="Segoe UI"/>
                <a:ea typeface="Segoe UI"/>
                <a:cs typeface="Segoe UI"/>
              </a:rPr>
              <a:t>Chờ người xử lý</a:t>
            </a:r>
          </a:p>
        </p:txBody>
      </p:sp>
      <p:sp>
        <p:nvSpPr>
          <p:cNvPr id="28" name="S2_InputHuman">
            <a:extLst xmlns:a="http://schemas.openxmlformats.org/drawingml/2006/main">
              <a:ext uri="{FF2B5EF4-FFF2-40B4-BE49-F238E27FC236}">
                <a16:creationId xmlns:a16="http://schemas.microsoft.com/office/drawing/2014/main" id="{C8D65C0C-47E3-4989-9BFF-AA8BA60B01C0}"/>
              </a:ext>
            </a:extLst>
          </p:cNvPr>
          <p:cNvSpPr>
            <a:spLocks xmlns:a="http://schemas.openxmlformats.org/drawingml/2006/main" noGrp="1"/>
          </p:cNvSpPr>
          <p:nvPr/>
        </p:nvSpPr>
        <p:spPr>
          <a:xfrm xmlns:a="http://schemas.openxmlformats.org/drawingml/2006/main">
            <a:off x="1885950" y="4171950"/>
            <a:ext cx="3105150" cy="1352550"/>
          </a:xfrm>
          <a:prstGeom xmlns:a="http://schemas.openxmlformats.org/drawingml/2006/main" prst="roundRect">
            <a:avLst>
              <a:gd name="adj" fmla="val 4225"/>
            </a:avLst>
          </a:prstGeom>
          <a:solidFill xmlns:a="http://schemas.openxmlformats.org/drawingml/2006/main">
            <a:srgbClr val="162A42"/>
          </a:solidFill>
          <a:ln xmlns:a="http://schemas.openxmlformats.org/drawingml/2006/main" w="9525">
            <a:solidFill>
              <a:srgbClr val="4FAF91"/>
            </a:solidFill>
            <a:prstDash val="solid"/>
          </a:ln>
        </p:spPr>
      </p:sp>
      <p:sp>
        <p:nvSpPr>
          <p:cNvPr id="29" name="S2_InputHumanTitle">
            <a:extLst xmlns:a="http://schemas.openxmlformats.org/drawingml/2006/main">
              <a:ext uri="{FF2B5EF4-FFF2-40B4-BE49-F238E27FC236}">
                <a16:creationId xmlns:a16="http://schemas.microsoft.com/office/drawing/2014/main" id="{39AD8730-EE9F-4D92-9797-55FB854DB585}"/>
              </a:ext>
            </a:extLst>
          </p:cNvPr>
          <p:cNvSpPr>
            <a:spLocks xmlns:a="http://schemas.openxmlformats.org/drawingml/2006/main" noGrp="1"/>
          </p:cNvSpPr>
          <p:nvPr/>
        </p:nvSpPr>
        <p:spPr>
          <a:xfrm xmlns:a="http://schemas.openxmlformats.org/drawingml/2006/main">
            <a:off x="2057400" y="4362450"/>
            <a:ext cx="276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1">
                <a:solidFill>
                  <a:srgbClr val="F4F7FB"/>
                </a:solidFill>
                <a:latin typeface="Segoe UI"/>
                <a:ea typeface="Segoe UI"/>
                <a:cs typeface="Segoe UI"/>
              </a:defRPr>
            </a:defPPr>
          </a:lstStyle>
          <a:p xmlns:a="http://schemas.openxmlformats.org/drawingml/2006/main">
            <a:pPr algn="l">
              <a:defRPr sz="1275" b="1">
                <a:solidFill>
                  <a:srgbClr val="F4F7FB"/>
                </a:solidFill>
                <a:latin typeface="Segoe UI"/>
                <a:ea typeface="Segoe UI"/>
                <a:cs typeface="Segoe UI"/>
              </a:defRPr>
            </a:pPr>
            <a:r>
              <a:rPr sz="1275" b="1">
                <a:solidFill>
                  <a:srgbClr val="F4F7FB"/>
                </a:solidFill>
                <a:latin typeface="Segoe UI"/>
                <a:ea typeface="Segoe UI"/>
                <a:cs typeface="Segoe UI"/>
              </a:rPr>
              <a:t>Người gửi</a:t>
            </a:r>
          </a:p>
        </p:txBody>
      </p:sp>
      <p:sp>
        <p:nvSpPr>
          <p:cNvPr id="30" name="S2_InputHumanDetail">
            <a:extLst xmlns:a="http://schemas.openxmlformats.org/drawingml/2006/main">
              <a:ext uri="{FF2B5EF4-FFF2-40B4-BE49-F238E27FC236}">
                <a16:creationId xmlns:a16="http://schemas.microsoft.com/office/drawing/2014/main" id="{1AF3A6FF-AA9F-4AAD-A659-AF2D3EBF5B51}"/>
              </a:ext>
            </a:extLst>
          </p:cNvPr>
          <p:cNvSpPr>
            <a:spLocks xmlns:a="http://schemas.openxmlformats.org/drawingml/2006/main" noGrp="1"/>
          </p:cNvSpPr>
          <p:nvPr/>
        </p:nvSpPr>
        <p:spPr>
          <a:xfrm xmlns:a="http://schemas.openxmlformats.org/drawingml/2006/main">
            <a:off x="2057400" y="476250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Chọn ảnh, nhập claimed amount và metadata.</a:t>
            </a:r>
          </a:p>
        </p:txBody>
      </p:sp>
      <p:sp>
        <p:nvSpPr>
          <p:cNvPr id="31" name="S2_ProcessHuman">
            <a:extLst xmlns:a="http://schemas.openxmlformats.org/drawingml/2006/main">
              <a:ext uri="{FF2B5EF4-FFF2-40B4-BE49-F238E27FC236}">
                <a16:creationId xmlns:a16="http://schemas.microsoft.com/office/drawing/2014/main" id="{B0AB34F2-E9B9-4C6C-B133-4A035966DB7F}"/>
              </a:ext>
            </a:extLst>
          </p:cNvPr>
          <p:cNvSpPr>
            <a:spLocks xmlns:a="http://schemas.openxmlformats.org/drawingml/2006/main" noGrp="1"/>
          </p:cNvSpPr>
          <p:nvPr/>
        </p:nvSpPr>
        <p:spPr>
          <a:xfrm xmlns:a="http://schemas.openxmlformats.org/drawingml/2006/main">
            <a:off x="5124450" y="4171950"/>
            <a:ext cx="3105150" cy="1352550"/>
          </a:xfrm>
          <a:prstGeom xmlns:a="http://schemas.openxmlformats.org/drawingml/2006/main" prst="roundRect">
            <a:avLst>
              <a:gd name="adj" fmla="val 4225"/>
            </a:avLst>
          </a:prstGeom>
          <a:solidFill xmlns:a="http://schemas.openxmlformats.org/drawingml/2006/main">
            <a:srgbClr val="162A42"/>
          </a:solidFill>
          <a:ln xmlns:a="http://schemas.openxmlformats.org/drawingml/2006/main" w="9525">
            <a:solidFill>
              <a:srgbClr val="4FAF91"/>
            </a:solidFill>
            <a:prstDash val="solid"/>
          </a:ln>
        </p:spPr>
      </p:sp>
      <p:sp>
        <p:nvSpPr>
          <p:cNvPr id="32" name="S2_ProcessHumanTitle">
            <a:extLst xmlns:a="http://schemas.openxmlformats.org/drawingml/2006/main">
              <a:ext uri="{FF2B5EF4-FFF2-40B4-BE49-F238E27FC236}">
                <a16:creationId xmlns:a16="http://schemas.microsoft.com/office/drawing/2014/main" id="{BF45CA82-05F1-4EC1-BFB8-69692C0B17A6}"/>
              </a:ext>
            </a:extLst>
          </p:cNvPr>
          <p:cNvSpPr>
            <a:spLocks xmlns:a="http://schemas.openxmlformats.org/drawingml/2006/main" noGrp="1"/>
          </p:cNvSpPr>
          <p:nvPr/>
        </p:nvSpPr>
        <p:spPr>
          <a:xfrm xmlns:a="http://schemas.openxmlformats.org/drawingml/2006/main">
            <a:off x="5295900" y="4362450"/>
            <a:ext cx="276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1">
                <a:solidFill>
                  <a:srgbClr val="F4F7FB"/>
                </a:solidFill>
                <a:latin typeface="Segoe UI"/>
                <a:ea typeface="Segoe UI"/>
                <a:cs typeface="Segoe UI"/>
              </a:defRPr>
            </a:defPPr>
          </a:lstStyle>
          <a:p xmlns:a="http://schemas.openxmlformats.org/drawingml/2006/main">
            <a:pPr algn="l">
              <a:defRPr sz="1275" b="1">
                <a:solidFill>
                  <a:srgbClr val="F4F7FB"/>
                </a:solidFill>
                <a:latin typeface="Segoe UI"/>
                <a:ea typeface="Segoe UI"/>
                <a:cs typeface="Segoe UI"/>
              </a:defRPr>
            </a:pPr>
            <a:r>
              <a:rPr sz="1275" b="1">
                <a:solidFill>
                  <a:srgbClr val="F4F7FB"/>
                </a:solidFill>
                <a:latin typeface="Segoe UI"/>
                <a:ea typeface="Segoe UI"/>
                <a:cs typeface="Segoe UI"/>
              </a:rPr>
              <a:t>Người vận hành</a:t>
            </a:r>
          </a:p>
        </p:txBody>
      </p:sp>
      <p:sp>
        <p:nvSpPr>
          <p:cNvPr id="33" name="S2_ProcessHumanDetail">
            <a:extLst xmlns:a="http://schemas.openxmlformats.org/drawingml/2006/main">
              <a:ext uri="{FF2B5EF4-FFF2-40B4-BE49-F238E27FC236}">
                <a16:creationId xmlns:a16="http://schemas.microsoft.com/office/drawing/2014/main" id="{5A66EE48-C056-4353-A589-6FB975D86B38}"/>
              </a:ext>
            </a:extLst>
          </p:cNvPr>
          <p:cNvSpPr>
            <a:spLocks xmlns:a="http://schemas.openxmlformats.org/drawingml/2006/main" noGrp="1"/>
          </p:cNvSpPr>
          <p:nvPr/>
        </p:nvSpPr>
        <p:spPr>
          <a:xfrm xmlns:a="http://schemas.openxmlformats.org/drawingml/2006/main">
            <a:off x="5295900" y="4714875"/>
            <a:ext cx="2762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Thấy trạng thái đã xếp hàng và tiếp tục thao tác; không chờ request AI.</a:t>
            </a:r>
          </a:p>
        </p:txBody>
      </p:sp>
      <p:sp>
        <p:nvSpPr>
          <p:cNvPr id="34" name="S2_OutputHuman">
            <a:extLst xmlns:a="http://schemas.openxmlformats.org/drawingml/2006/main">
              <a:ext uri="{FF2B5EF4-FFF2-40B4-BE49-F238E27FC236}">
                <a16:creationId xmlns:a16="http://schemas.microsoft.com/office/drawing/2014/main" id="{CD6DCC9D-3087-4605-A274-8B96DED02346}"/>
              </a:ext>
            </a:extLst>
          </p:cNvPr>
          <p:cNvSpPr>
            <a:spLocks xmlns:a="http://schemas.openxmlformats.org/drawingml/2006/main" noGrp="1"/>
          </p:cNvSpPr>
          <p:nvPr/>
        </p:nvSpPr>
        <p:spPr>
          <a:xfrm xmlns:a="http://schemas.openxmlformats.org/drawingml/2006/main">
            <a:off x="8362950" y="4171950"/>
            <a:ext cx="3105150" cy="1352550"/>
          </a:xfrm>
          <a:prstGeom xmlns:a="http://schemas.openxmlformats.org/drawingml/2006/main" prst="roundRect">
            <a:avLst>
              <a:gd name="adj" fmla="val 4225"/>
            </a:avLst>
          </a:prstGeom>
          <a:solidFill xmlns:a="http://schemas.openxmlformats.org/drawingml/2006/main">
            <a:srgbClr val="162A42"/>
          </a:solidFill>
          <a:ln xmlns:a="http://schemas.openxmlformats.org/drawingml/2006/main" w="9525">
            <a:solidFill>
              <a:srgbClr val="4FAF91"/>
            </a:solidFill>
            <a:prstDash val="solid"/>
          </a:ln>
        </p:spPr>
      </p:sp>
      <p:sp>
        <p:nvSpPr>
          <p:cNvPr id="35" name="S2_Gate9">
            <a:extLst xmlns:a="http://schemas.openxmlformats.org/drawingml/2006/main">
              <a:ext uri="{FF2B5EF4-FFF2-40B4-BE49-F238E27FC236}">
                <a16:creationId xmlns:a16="http://schemas.microsoft.com/office/drawing/2014/main" id="{E6167413-40CE-40C6-9DBA-4806E3B58A33}"/>
              </a:ext>
            </a:extLst>
          </p:cNvPr>
          <p:cNvSpPr>
            <a:spLocks xmlns:a="http://schemas.openxmlformats.org/drawingml/2006/main" noGrp="1"/>
          </p:cNvSpPr>
          <p:nvPr/>
        </p:nvSpPr>
        <p:spPr>
          <a:xfrm xmlns:a="http://schemas.openxmlformats.org/drawingml/2006/main">
            <a:off x="8534400" y="4324350"/>
            <a:ext cx="7810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GATE 9</a:t>
            </a:r>
          </a:p>
        </p:txBody>
      </p:sp>
      <p:sp>
        <p:nvSpPr>
          <p:cNvPr id="36" name="S2_OutputHumanDetail">
            <a:extLst xmlns:a="http://schemas.openxmlformats.org/drawingml/2006/main">
              <a:ext uri="{FF2B5EF4-FFF2-40B4-BE49-F238E27FC236}">
                <a16:creationId xmlns:a16="http://schemas.microsoft.com/office/drawing/2014/main" id="{FA410919-75C2-499B-9D45-F47472A9ED86}"/>
              </a:ext>
            </a:extLst>
          </p:cNvPr>
          <p:cNvSpPr>
            <a:spLocks xmlns:a="http://schemas.openxmlformats.org/drawingml/2006/main" noGrp="1"/>
          </p:cNvSpPr>
          <p:nvPr/>
        </p:nvSpPr>
        <p:spPr>
          <a:xfrm xmlns:a="http://schemas.openxmlformats.org/drawingml/2006/main">
            <a:off x="9467850" y="4305300"/>
            <a:ext cx="1828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F4F7FB"/>
                </a:solidFill>
                <a:latin typeface="Segoe UI"/>
                <a:ea typeface="Segoe UI"/>
                <a:cs typeface="Segoe UI"/>
              </a:defRPr>
            </a:defPPr>
          </a:lstStyle>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Nhân viên chuyển tiếp</a:t>
            </a:r>
          </a:p>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Quản lý trả lời CÓ / KHÔNG</a:t>
            </a:r>
          </a:p>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Undo ghi thêm event mới</a:t>
            </a:r>
          </a:p>
        </p:txBody>
      </p:sp>
      <p:sp>
        <p:nvSpPr>
          <p:cNvPr id="37" name="S2_AuthorityBand">
            <a:extLst xmlns:a="http://schemas.openxmlformats.org/drawingml/2006/main">
              <a:ext uri="{FF2B5EF4-FFF2-40B4-BE49-F238E27FC236}">
                <a16:creationId xmlns:a16="http://schemas.microsoft.com/office/drawing/2014/main" id="{EEDE4166-4176-459A-8FB1-313E92188428}"/>
              </a:ext>
            </a:extLst>
          </p:cNvPr>
          <p:cNvSpPr>
            <a:spLocks xmlns:a="http://schemas.openxmlformats.org/drawingml/2006/main" noGrp="1"/>
          </p:cNvSpPr>
          <p:nvPr/>
        </p:nvSpPr>
        <p:spPr>
          <a:xfrm xmlns:a="http://schemas.openxmlformats.org/drawingml/2006/main">
            <a:off x="552450" y="5772150"/>
            <a:ext cx="11087100" cy="457200"/>
          </a:xfrm>
          <a:prstGeom xmlns:a="http://schemas.openxmlformats.org/drawingml/2006/main" prst="roundRect">
            <a:avLst>
              <a:gd name="adj" fmla="val 12500"/>
            </a:avLst>
          </a:prstGeom>
          <a:solidFill xmlns:a="http://schemas.openxmlformats.org/drawingml/2006/main">
            <a:srgbClr val="162A42"/>
          </a:solidFill>
          <a:ln xmlns:a="http://schemas.openxmlformats.org/drawingml/2006/main" w="9525">
            <a:solidFill>
              <a:srgbClr val="31445C"/>
            </a:solidFill>
            <a:prstDash val="solid"/>
          </a:ln>
        </p:spPr>
      </p:sp>
      <p:sp>
        <p:nvSpPr>
          <p:cNvPr id="38" name="S2_AuthorityAI">
            <a:extLst xmlns:a="http://schemas.openxmlformats.org/drawingml/2006/main">
              <a:ext uri="{FF2B5EF4-FFF2-40B4-BE49-F238E27FC236}">
                <a16:creationId xmlns:a16="http://schemas.microsoft.com/office/drawing/2014/main" id="{F9BE096E-42CF-41F6-8CA8-6C8D79C00BFB}"/>
              </a:ext>
            </a:extLst>
          </p:cNvPr>
          <p:cNvSpPr>
            <a:spLocks xmlns:a="http://schemas.openxmlformats.org/drawingml/2006/main" noGrp="1"/>
          </p:cNvSpPr>
          <p:nvPr/>
        </p:nvSpPr>
        <p:spPr>
          <a:xfrm xmlns:a="http://schemas.openxmlformats.org/drawingml/2006/main">
            <a:off x="742950" y="5895975"/>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200" b="1">
                <a:solidFill>
                  <a:srgbClr val="5F8FD8"/>
                </a:solidFill>
                <a:latin typeface="Segoe UI"/>
                <a:ea typeface="Segoe UI"/>
                <a:cs typeface="Segoe UI"/>
              </a:defRPr>
            </a:defPPr>
          </a:lstStyle>
          <a:p xmlns:a="http://schemas.openxmlformats.org/drawingml/2006/main">
            <a:pPr algn="ctr">
              <a:defRPr sz="1200" b="1">
                <a:solidFill>
                  <a:srgbClr val="5F8FD8"/>
                </a:solidFill>
                <a:latin typeface="Segoe UI"/>
                <a:ea typeface="Segoe UI"/>
                <a:cs typeface="Segoe UI"/>
              </a:defRPr>
            </a:pPr>
            <a:r>
              <a:rPr sz="1200" b="1">
                <a:solidFill>
                  <a:srgbClr val="5F8FD8"/>
                </a:solidFill>
                <a:latin typeface="Segoe UI"/>
                <a:ea typeface="Segoe UI"/>
                <a:cs typeface="Segoe UI"/>
              </a:rPr>
              <a:t>AI: FACT</a:t>
            </a:r>
          </a:p>
        </p:txBody>
      </p:sp>
      <p:sp>
        <p:nvSpPr>
          <p:cNvPr id="39" name="S2_AuthorityPolicy">
            <a:extLst xmlns:a="http://schemas.openxmlformats.org/drawingml/2006/main">
              <a:ext uri="{FF2B5EF4-FFF2-40B4-BE49-F238E27FC236}">
                <a16:creationId xmlns:a16="http://schemas.microsoft.com/office/drawing/2014/main" id="{CFD8E7D4-0807-4425-ABE7-C14981770ED3}"/>
              </a:ext>
            </a:extLst>
          </p:cNvPr>
          <p:cNvSpPr>
            <a:spLocks xmlns:a="http://schemas.openxmlformats.org/drawingml/2006/main" noGrp="1"/>
          </p:cNvSpPr>
          <p:nvPr/>
        </p:nvSpPr>
        <p:spPr>
          <a:xfrm xmlns:a="http://schemas.openxmlformats.org/drawingml/2006/main">
            <a:off x="4667250" y="5895975"/>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200" b="1">
                <a:solidFill>
                  <a:srgbClr val="C59A4A"/>
                </a:solidFill>
                <a:latin typeface="Segoe UI"/>
                <a:ea typeface="Segoe UI"/>
                <a:cs typeface="Segoe UI"/>
              </a:defRPr>
            </a:defPPr>
          </a:lstStyle>
          <a:p xmlns:a="http://schemas.openxmlformats.org/drawingml/2006/main">
            <a:pPr algn="ctr">
              <a:defRPr sz="1200" b="1">
                <a:solidFill>
                  <a:srgbClr val="C59A4A"/>
                </a:solidFill>
                <a:latin typeface="Segoe UI"/>
                <a:ea typeface="Segoe UI"/>
                <a:cs typeface="Segoe UI"/>
              </a:defRPr>
            </a:pPr>
            <a:r>
              <a:rPr sz="1200" b="1">
                <a:solidFill>
                  <a:srgbClr val="C59A4A"/>
                </a:solidFill>
                <a:latin typeface="Segoe UI"/>
                <a:ea typeface="Segoe UI"/>
                <a:cs typeface="Segoe UI"/>
              </a:rPr>
              <a:t>C# ENGINE: POLICY</a:t>
            </a:r>
          </a:p>
        </p:txBody>
      </p:sp>
      <p:sp>
        <p:nvSpPr>
          <p:cNvPr id="40" name="S2_AuthorityHuman">
            <a:extLst xmlns:a="http://schemas.openxmlformats.org/drawingml/2006/main">
              <a:ext uri="{FF2B5EF4-FFF2-40B4-BE49-F238E27FC236}">
                <a16:creationId xmlns:a16="http://schemas.microsoft.com/office/drawing/2014/main" id="{33C321E1-B874-4CBF-84E2-A2C8908D75A5}"/>
              </a:ext>
            </a:extLst>
          </p:cNvPr>
          <p:cNvSpPr>
            <a:spLocks xmlns:a="http://schemas.openxmlformats.org/drawingml/2006/main" noGrp="1"/>
          </p:cNvSpPr>
          <p:nvPr/>
        </p:nvSpPr>
        <p:spPr>
          <a:xfrm xmlns:a="http://schemas.openxmlformats.org/drawingml/2006/main">
            <a:off x="8248650" y="5895975"/>
            <a:ext cx="3200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200" b="1">
                <a:solidFill>
                  <a:srgbClr val="4FAF91"/>
                </a:solidFill>
                <a:latin typeface="Segoe UI"/>
                <a:ea typeface="Segoe UI"/>
                <a:cs typeface="Segoe UI"/>
              </a:defRPr>
            </a:defPPr>
          </a:lstStyle>
          <a:p xmlns:a="http://schemas.openxmlformats.org/drawingml/2006/main">
            <a:pPr algn="ctr">
              <a:defRPr sz="1200" b="1">
                <a:solidFill>
                  <a:srgbClr val="4FAF91"/>
                </a:solidFill>
                <a:latin typeface="Segoe UI"/>
                <a:ea typeface="Segoe UI"/>
                <a:cs typeface="Segoe UI"/>
              </a:defRPr>
            </a:pPr>
            <a:r>
              <a:rPr sz="1200" b="1">
                <a:solidFill>
                  <a:srgbClr val="4FAF91"/>
                </a:solidFill>
                <a:latin typeface="Segoe UI"/>
                <a:ea typeface="Segoe UI"/>
                <a:cs typeface="Segoe UI"/>
              </a:rPr>
              <a:t>NHÂN VIÊN / QUẢN LÝ: AUTHORITY</a:t>
            </a:r>
          </a:p>
        </p:txBody>
      </p:sp>
    </p:spTree>
    <p:extLst>
      <p:ext uri="{BB962C8B-B14F-4D97-AF65-F5344CB8AC3E}">
        <p14:creationId xmlns:p14="http://schemas.microsoft.com/office/powerpoint/2010/main" val="937618715"/>
      </p:ext>
    </p:extLst>
  </p:cSld>
</p:sld>
</file>

<file path=ppt/slides/slide3.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11" name="Slide_Title">
            <a:extLst xmlns:a="http://schemas.openxmlformats.org/drawingml/2006/main">
              <a:ext uri="{FF2B5EF4-FFF2-40B4-BE49-F238E27FC236}">
                <a16:creationId xmlns:a16="http://schemas.microsoft.com/office/drawing/2014/main" id="{768069CE-C1D3-44FF-AADD-DD6043D8E84D}"/>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Đối chiếu trước và sau: phương pháp đã khóa, kết quả còn PENDING</a:t>
            </a:r>
          </a:p>
        </p:txBody>
      </p:sp>
      <p:sp>
        <p:nvSpPr>
          <p:cNvPr id="2" name="Slide_Subtitle">
            <a:extLst xmlns:a="http://schemas.openxmlformats.org/drawingml/2006/main">
              <a:ext uri="{FF2B5EF4-FFF2-40B4-BE49-F238E27FC236}">
                <a16:creationId xmlns:a16="http://schemas.microsoft.com/office/drawing/2014/main" id="{D5505B3C-2D0A-4543-A6E8-BFC93E78E957}"/>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Không suy tác động từ fixture; chỉ kết luận khi hai phía dùng cùng nhiệm vụ và tiêu chí.</a:t>
            </a:r>
          </a:p>
        </p:txBody>
      </p:sp>
      <p:graphicFrame>
        <p:nvGraphicFramePr>
          <p:cNvPr id="3" name="S3_BeforeAfterTable">
            <a:extLst xmlns:a="http://schemas.openxmlformats.org/drawingml/2006/main">
              <a:ext uri="{FF2B5EF4-FFF2-40B4-BE49-F238E27FC236}">
                <a16:creationId xmlns:a16="http://schemas.microsoft.com/office/drawing/2014/main" id="{D00D3CFD-EB04-4E2E-AD70-2C3433518990}"/>
              </a:ext>
            </a:extLst>
          </p:cNvPr>
          <p:cNvGraphicFramePr/>
          <p:nvPr/>
        </p:nvGraphicFramePr>
        <p:xfrm>
          <a:off xmlns:a="http://schemas.openxmlformats.org/drawingml/2006/main" x="552450" y="1409700"/>
          <a:ext xmlns:a="http://schemas.openxmlformats.org/drawingml/2006/main" cx="11087100" cy="2895600"/>
        </p:xfrm>
        <a:graphic xmlns:a="http://schemas.openxmlformats.org/drawingml/2006/main">
          <a:graphicData uri="http://schemas.openxmlformats.org/drawingml/2006/table">
            <a:tbl>
              <a:tblPr/>
              <a:tblGrid>
                <a:gridCol w="1809750"/>
                <a:gridCol w="2686050"/>
                <a:gridCol w="1905000"/>
                <a:gridCol w="1809750"/>
                <a:gridCol w="2876550"/>
              </a:tblGrid>
              <a:tr h="400050">
                <a:tc>
                  <a:txBody>
                    <a:bodyPr/>
                    <a:lstStyle/>
                    <a:p>
                      <a:r>
                        <a:rPr sz="900" b="1">
                          <a:solidFill>
                            <a:srgbClr val="A6B3C4"/>
                          </a:solidFill>
                          <a:latin typeface="Segoe UI"/>
                          <a:ea typeface="Segoe UI"/>
                          <a:cs typeface="Segoe UI"/>
                        </a:rPr>
                        <a:t>CHỈ SỐ</a:t>
                      </a:r>
                    </a:p>
                  </a:txBody>
                  <a:tcPr marL="95250" marR="95250" marT="66675" marB="66675">
                    <a:lnL w="9525">
                      <a:solidFill>
                        <a:srgbClr val="31445C"/>
                      </a:solidFill>
                      <a:prstDash val="solid"/>
                    </a:lnL>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CÁCH ĐO GIỐNG NHAU</a:t>
                      </a: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TRƯỚC: THỦ CÔNG</a:t>
                      </a: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SAU: AURA</a:t>
                      </a: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TRẠNG THÁI</a:t>
                      </a: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r>
              <a:tr h="495300">
                <a:tc>
                  <a:txBody>
                    <a:bodyPr/>
                    <a:lstStyle/>
                    <a:p>
                      <a:r>
                        <a:rPr sz="975" b="1">
                          <a:solidFill>
                            <a:srgbClr val="F4F7FB"/>
                          </a:solidFill>
                          <a:latin typeface="Segoe UI"/>
                          <a:ea typeface="Segoe UI"/>
                          <a:cs typeface="Segoe UI"/>
                        </a:rPr>
                        <a:t>ΔT</a:t>
                      </a:r>
                    </a:p>
                    <a:p>
                      <a:r>
                        <a:rPr sz="975" b="1">
                          <a:solidFill>
                            <a:srgbClr val="F4F7FB"/>
                          </a:solidFill>
                          <a:latin typeface="Segoe UI"/>
                          <a:ea typeface="Segoe UI"/>
                          <a:cs typeface="Segoe UI"/>
                        </a:rPr>
                        <a:t>Thời gian đến kết quả cuối</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Timestamp; lấy median</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PENDING</a:t>
                      </a: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a:ea typeface="Segoe UI"/>
                          <a:cs typeface="Segoe UI"/>
                        </a:rPr>
                        <a:t>ΔH</a:t>
                      </a:r>
                    </a:p>
                    <a:p>
                      <a:r>
                        <a:rPr sz="975" b="1">
                          <a:solidFill>
                            <a:srgbClr val="F4F7FB"/>
                          </a:solidFill>
                          <a:latin typeface="Segoe UI"/>
                          <a:ea typeface="Segoe UI"/>
                          <a:cs typeface="Segoe UI"/>
                        </a:rPr>
                        <a:t>Số lần chạm</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Đếm thao tác mỗi hồ sơ</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PENDING</a:t>
                      </a: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a:ea typeface="Segoe UI"/>
                          <a:cs typeface="Segoe UI"/>
                        </a:rPr>
                        <a:t>E_missed</a:t>
                      </a:r>
                    </a:p>
                    <a:p>
                      <a:r>
                        <a:rPr sz="975" b="1">
                          <a:solidFill>
                            <a:srgbClr val="F4F7FB"/>
                          </a:solidFill>
                          <a:latin typeface="Segoe UI"/>
                          <a:ea typeface="Segoe UI"/>
                          <a:cs typeface="Segoe UI"/>
                        </a:rPr>
                        <a:t>Bỏ sót ca cần chuyển</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So với đáp án chuẩn</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0/10</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Thiếu baseline</a:t>
                      </a: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a:ea typeface="Segoe UI"/>
                          <a:cs typeface="Segoe UI"/>
                        </a:rPr>
                        <a:t>E_over</a:t>
                      </a:r>
                    </a:p>
                    <a:p>
                      <a:r>
                        <a:rPr sz="975" b="1">
                          <a:solidFill>
                            <a:srgbClr val="F4F7FB"/>
                          </a:solidFill>
                          <a:latin typeface="Segoe UI"/>
                          <a:ea typeface="Segoe UI"/>
                          <a:cs typeface="Segoe UI"/>
                        </a:rPr>
                        <a:t>Chuyển thừa</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So với đáp án chuẩn</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2/10</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Thiếu baseline</a:t>
                      </a: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a:ea typeface="Segoe UI"/>
                          <a:cs typeface="Segoe UI"/>
                        </a:rPr>
                        <a:t>A_trace</a:t>
                      </a:r>
                    </a:p>
                    <a:p>
                      <a:r>
                        <a:rPr sz="975" b="1">
                          <a:solidFill>
                            <a:srgbClr val="F4F7FB"/>
                          </a:solidFill>
                          <a:latin typeface="Segoe UI"/>
                          <a:ea typeface="Segoe UI"/>
                          <a:cs typeface="Segoe UI"/>
                        </a:rPr>
                        <a:t>Đủ dấu vết</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Kiểm tra audit timeline</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Có timeline</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Thiếu baseline</a:t>
                      </a:r>
                    </a:p>
                  </a:txBody>
                  <a:tcPr marL="95250" marR="95250" marT="66675" marB="66675">
                    <a:lnR w="9525">
                      <a:solidFill>
                        <a:srgbClr val="31445C"/>
                      </a:solidFill>
                      <a:prstDash val="solid"/>
                    </a:lnR>
                    <a:lnB w="9525">
                      <a:solidFill>
                        <a:srgbClr val="31445C"/>
                      </a:solidFill>
                      <a:prstDash val="solid"/>
                    </a:lnB>
                    <a:solidFill>
                      <a:srgbClr val="112338"/>
                    </a:solidFill>
                  </a:tcPr>
                </a:tc>
              </a:tr>
            </a:tbl>
          </a:graphicData>
        </a:graphic>
      </p:graphicFrame>
      <p:sp>
        <p:nvSpPr>
          <p:cNvPr id="4" name="S3_ProtocolBand">
            <a:extLst xmlns:a="http://schemas.openxmlformats.org/drawingml/2006/main">
              <a:ext uri="{FF2B5EF4-FFF2-40B4-BE49-F238E27FC236}">
                <a16:creationId xmlns:a16="http://schemas.microsoft.com/office/drawing/2014/main" id="{5288FE91-73B3-40F5-9BD3-DF7D41029989}"/>
              </a:ext>
            </a:extLst>
          </p:cNvPr>
          <p:cNvSpPr>
            <a:spLocks xmlns:a="http://schemas.openxmlformats.org/drawingml/2006/main" noGrp="1"/>
          </p:cNvSpPr>
          <p:nvPr/>
        </p:nvSpPr>
        <p:spPr>
          <a:xfrm xmlns:a="http://schemas.openxmlformats.org/drawingml/2006/main">
            <a:off x="552450" y="4495800"/>
            <a:ext cx="11087100" cy="990600"/>
          </a:xfrm>
          <a:prstGeom xmlns:a="http://schemas.openxmlformats.org/drawingml/2006/main" prst="roundRect">
            <a:avLst>
              <a:gd name="adj" fmla="val 5769"/>
            </a:avLst>
          </a:prstGeom>
          <a:solidFill xmlns:a="http://schemas.openxmlformats.org/drawingml/2006/main">
            <a:srgbClr val="162A42"/>
          </a:solidFill>
          <a:ln xmlns:a="http://schemas.openxmlformats.org/drawingml/2006/main" w="9525">
            <a:solidFill>
              <a:srgbClr val="31445C"/>
            </a:solidFill>
            <a:prstDash val="solid"/>
          </a:ln>
        </p:spPr>
      </p:sp>
      <p:sp>
        <p:nvSpPr>
          <p:cNvPr id="5" name="S3_ProtocolLabel">
            <a:extLst xmlns:a="http://schemas.openxmlformats.org/drawingml/2006/main">
              <a:ext uri="{FF2B5EF4-FFF2-40B4-BE49-F238E27FC236}">
                <a16:creationId xmlns:a16="http://schemas.microsoft.com/office/drawing/2014/main" id="{1226A5EF-74D7-4A3A-99FB-E0FEF14632D8}"/>
              </a:ext>
            </a:extLst>
          </p:cNvPr>
          <p:cNvSpPr>
            <a:spLocks xmlns:a="http://schemas.openxmlformats.org/drawingml/2006/main" noGrp="1"/>
          </p:cNvSpPr>
          <p:nvPr/>
        </p:nvSpPr>
        <p:spPr>
          <a:xfrm xmlns:a="http://schemas.openxmlformats.org/drawingml/2006/main">
            <a:off x="723900" y="4629150"/>
            <a:ext cx="247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1">
                <a:solidFill>
                  <a:srgbClr val="4FAF91"/>
                </a:solidFill>
                <a:latin typeface="Segoe UI"/>
                <a:ea typeface="Segoe UI"/>
                <a:cs typeface="Segoe UI"/>
              </a:defRPr>
            </a:defPPr>
          </a:lstStyle>
          <a:p xmlns:a="http://schemas.openxmlformats.org/drawingml/2006/main">
            <a:pPr algn="l">
              <a:defRPr sz="975" b="1">
                <a:solidFill>
                  <a:srgbClr val="4FAF91"/>
                </a:solidFill>
                <a:latin typeface="Segoe UI"/>
                <a:ea typeface="Segoe UI"/>
                <a:cs typeface="Segoe UI"/>
              </a:defRPr>
            </a:pPr>
            <a:r>
              <a:rPr sz="975" b="1">
                <a:solidFill>
                  <a:srgbClr val="4FAF91"/>
                </a:solidFill>
                <a:latin typeface="Segoe UI"/>
                <a:ea typeface="Segoe UI"/>
                <a:cs typeface="Segoe UI"/>
              </a:rPr>
              <a:t>GIAO THỨC ĐO TÁC ĐỘNG</a:t>
            </a:r>
          </a:p>
        </p:txBody>
      </p:sp>
      <p:sp>
        <p:nvSpPr>
          <p:cNvPr id="6" name="S3_ProtocolLine1">
            <a:extLst xmlns:a="http://schemas.openxmlformats.org/drawingml/2006/main">
              <a:ext uri="{FF2B5EF4-FFF2-40B4-BE49-F238E27FC236}">
                <a16:creationId xmlns:a16="http://schemas.microsoft.com/office/drawing/2014/main" id="{BD8474EC-6BED-46B3-A248-86C8DE5C638C}"/>
              </a:ext>
            </a:extLst>
          </p:cNvPr>
          <p:cNvSpPr>
            <a:spLocks xmlns:a="http://schemas.openxmlformats.org/drawingml/2006/main" noGrp="1"/>
          </p:cNvSpPr>
          <p:nvPr/>
        </p:nvSpPr>
        <p:spPr>
          <a:xfrm xmlns:a="http://schemas.openxmlformats.org/drawingml/2006/main">
            <a:off x="723900" y="4914900"/>
            <a:ext cx="10744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00" b="1">
                <a:solidFill>
                  <a:srgbClr val="F4F7FB"/>
                </a:solidFill>
                <a:latin typeface="Segoe UI"/>
                <a:ea typeface="Segoe UI"/>
                <a:cs typeface="Segoe UI"/>
              </a:defRPr>
            </a:defPPr>
          </a:lstStyle>
          <a:p xmlns:a="http://schemas.openxmlformats.org/drawingml/2006/main">
            <a:pPr algn="l">
              <a:defRPr sz="1200" b="1">
                <a:solidFill>
                  <a:srgbClr val="F4F7FB"/>
                </a:solidFill>
                <a:latin typeface="Segoe UI"/>
                <a:ea typeface="Segoe UI"/>
                <a:cs typeface="Segoe UI"/>
              </a:defRPr>
            </a:pPr>
            <a:r>
              <a:rPr sz="1200" b="1">
                <a:solidFill>
                  <a:srgbClr val="F4F7FB"/>
                </a:solidFill>
                <a:latin typeface="Segoe UI"/>
                <a:ea typeface="Segoe UI"/>
                <a:cs typeface="Segoe UI"/>
              </a:rPr>
              <a:t>3 người dùng × cùng 3 nhiệm vụ × cùng bộ hóa đơn; so median trước và sau; giữ cả phản hồi tiêu cực.</a:t>
            </a:r>
          </a:p>
        </p:txBody>
      </p:sp>
      <p:sp>
        <p:nvSpPr>
          <p:cNvPr id="7" name="S3_ProtocolLine2">
            <a:extLst xmlns:a="http://schemas.openxmlformats.org/drawingml/2006/main">
              <a:ext uri="{FF2B5EF4-FFF2-40B4-BE49-F238E27FC236}">
                <a16:creationId xmlns:a16="http://schemas.microsoft.com/office/drawing/2014/main" id="{4B556B20-151A-45E1-9C55-1497E2BD2944}"/>
              </a:ext>
            </a:extLst>
          </p:cNvPr>
          <p:cNvSpPr>
            <a:spLocks xmlns:a="http://schemas.openxmlformats.org/drawingml/2006/main" noGrp="1"/>
          </p:cNvSpPr>
          <p:nvPr/>
        </p:nvSpPr>
        <p:spPr>
          <a:xfrm xmlns:a="http://schemas.openxmlformats.org/drawingml/2006/main">
            <a:off x="723900" y="5219700"/>
            <a:ext cx="10744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1">
                <a:solidFill>
                  <a:srgbClr val="C59A4A"/>
                </a:solidFill>
                <a:latin typeface="Segoe UI"/>
                <a:ea typeface="Segoe UI"/>
                <a:cs typeface="Segoe UI"/>
              </a:defRPr>
            </a:defPPr>
          </a:lstStyle>
          <a:p xmlns:a="http://schemas.openxmlformats.org/drawingml/2006/main">
            <a:pPr algn="l">
              <a:defRPr sz="1050" b="1">
                <a:solidFill>
                  <a:srgbClr val="C59A4A"/>
                </a:solidFill>
                <a:latin typeface="Segoe UI"/>
                <a:ea typeface="Segoe UI"/>
                <a:cs typeface="Segoe UI"/>
              </a:defRPr>
            </a:pPr>
            <a:r>
              <a:rPr sz="1050" b="1">
                <a:solidFill>
                  <a:srgbClr val="C59A4A"/>
                </a:solidFill>
                <a:latin typeface="Segoe UI"/>
                <a:ea typeface="Segoe UI"/>
                <a:cs typeface="Segoe UI"/>
              </a:rPr>
              <a:t>Ngưỡng đạt / không đạt sẽ được khóa trước khi mở kết quả. Hiện chưa có record người dùng thật.</a:t>
            </a:r>
          </a:p>
        </p:txBody>
      </p:sp>
      <p:sp>
        <p:nvSpPr>
          <p:cNvPr id="8" name="S3_TechnicalStrip">
            <a:extLst xmlns:a="http://schemas.openxmlformats.org/drawingml/2006/main">
              <a:ext uri="{FF2B5EF4-FFF2-40B4-BE49-F238E27FC236}">
                <a16:creationId xmlns:a16="http://schemas.microsoft.com/office/drawing/2014/main" id="{FCEAAF75-C67E-4456-81DA-06362E4C043D}"/>
              </a:ext>
            </a:extLst>
          </p:cNvPr>
          <p:cNvSpPr>
            <a:spLocks xmlns:a="http://schemas.openxmlformats.org/drawingml/2006/main" noGrp="1"/>
          </p:cNvSpPr>
          <p:nvPr/>
        </p:nvSpPr>
        <p:spPr>
          <a:xfrm xmlns:a="http://schemas.openxmlformats.org/drawingml/2006/main">
            <a:off x="552450" y="5676900"/>
            <a:ext cx="11087100" cy="495300"/>
          </a:xfrm>
          <a:prstGeom xmlns:a="http://schemas.openxmlformats.org/drawingml/2006/main" prst="roundRect">
            <a:avLst>
              <a:gd name="adj" fmla="val 11538"/>
            </a:avLst>
          </a:prstGeom>
          <a:solidFill xmlns:a="http://schemas.openxmlformats.org/drawingml/2006/main">
            <a:srgbClr val="112338"/>
          </a:solidFill>
          <a:ln xmlns:a="http://schemas.openxmlformats.org/drawingml/2006/main" w="9525">
            <a:solidFill>
              <a:srgbClr val="31445C"/>
            </a:solidFill>
            <a:prstDash val="solid"/>
          </a:ln>
        </p:spPr>
      </p:sp>
      <p:sp>
        <p:nvSpPr>
          <p:cNvPr id="9" name="S3_TechnicalLabel">
            <a:extLst xmlns:a="http://schemas.openxmlformats.org/drawingml/2006/main">
              <a:ext uri="{FF2B5EF4-FFF2-40B4-BE49-F238E27FC236}">
                <a16:creationId xmlns:a16="http://schemas.microsoft.com/office/drawing/2014/main" id="{D2F10A69-507C-4565-9B87-9BBE89321444}"/>
              </a:ext>
            </a:extLst>
          </p:cNvPr>
          <p:cNvSpPr>
            <a:spLocks xmlns:a="http://schemas.openxmlformats.org/drawingml/2006/main" noGrp="1"/>
          </p:cNvSpPr>
          <p:nvPr/>
        </p:nvSpPr>
        <p:spPr>
          <a:xfrm xmlns:a="http://schemas.openxmlformats.org/drawingml/2006/main">
            <a:off x="704850" y="5819775"/>
            <a:ext cx="3714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00" b="1">
                <a:solidFill>
                  <a:srgbClr val="A6B3C4"/>
                </a:solidFill>
                <a:latin typeface="Segoe UI"/>
                <a:ea typeface="Segoe UI"/>
                <a:cs typeface="Segoe UI"/>
              </a:defRPr>
            </a:defPPr>
          </a:lstStyle>
          <a:p xmlns:a="http://schemas.openxmlformats.org/drawingml/2006/main">
            <a:pPr algn="l">
              <a:defRPr sz="900" b="1">
                <a:solidFill>
                  <a:srgbClr val="A6B3C4"/>
                </a:solidFill>
                <a:latin typeface="Segoe UI"/>
                <a:ea typeface="Segoe UI"/>
                <a:cs typeface="Segoe UI"/>
              </a:defRPr>
            </a:pPr>
            <a:r>
              <a:rPr sz="900" b="1">
                <a:solidFill>
                  <a:srgbClr val="A6B3C4"/>
                </a:solidFill>
                <a:latin typeface="Segoe UI"/>
                <a:ea typeface="Segoe UI"/>
                <a:cs typeface="Segoe UI"/>
              </a:rPr>
              <a:t>BẰNG CHỨNG KỸ THUẬT, KHÔNG PHẢI TÁC ĐỘNG</a:t>
            </a:r>
          </a:p>
        </p:txBody>
      </p:sp>
      <p:sp>
        <p:nvSpPr>
          <p:cNvPr id="10" name="S3_TechnicalValues">
            <a:extLst xmlns:a="http://schemas.openxmlformats.org/drawingml/2006/main">
              <a:ext uri="{FF2B5EF4-FFF2-40B4-BE49-F238E27FC236}">
                <a16:creationId xmlns:a16="http://schemas.microsoft.com/office/drawing/2014/main" id="{3EC6B68C-D9EF-431A-8F39-CC74E8B77AFA}"/>
              </a:ext>
            </a:extLst>
          </p:cNvPr>
          <p:cNvSpPr>
            <a:spLocks xmlns:a="http://schemas.openxmlformats.org/drawingml/2006/main" noGrp="1"/>
          </p:cNvSpPr>
          <p:nvPr/>
        </p:nvSpPr>
        <p:spPr>
          <a:xfrm xmlns:a="http://schemas.openxmlformats.org/drawingml/2006/main">
            <a:off x="4648200" y="5791200"/>
            <a:ext cx="6838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00" b="1">
                <a:solidFill>
                  <a:srgbClr val="45A9BE"/>
                </a:solidFill>
                <a:latin typeface="Segoe UI"/>
                <a:ea typeface="Segoe UI"/>
                <a:cs typeface="Segoe UI"/>
              </a:defRPr>
            </a:defPPr>
          </a:lstStyle>
          <a:p xmlns:a="http://schemas.openxmlformats.org/drawingml/2006/main">
            <a:pPr algn="r">
              <a:defRPr sz="1200" b="1">
                <a:solidFill>
                  <a:srgbClr val="45A9BE"/>
                </a:solidFill>
                <a:latin typeface="Segoe UI"/>
                <a:ea typeface="Segoe UI"/>
                <a:cs typeface="Segoe UI"/>
              </a:defRPr>
            </a:pPr>
            <a:r>
              <a:rPr sz="1200" b="1">
                <a:solidFill>
                  <a:srgbClr val="45A9BE"/>
                </a:solidFill>
                <a:latin typeface="Segoe UI"/>
                <a:ea typeface="Segoe UI"/>
                <a:cs typeface="Segoe UI"/>
              </a:rPr>
              <a:t>163/163 offline tests    5/5 Verify live    65.004s</a:t>
            </a:r>
          </a:p>
        </p:txBody>
      </p:sp>
    </p:spTree>
    <p:extLst>
      <p:ext uri="{BB962C8B-B14F-4D97-AF65-F5344CB8AC3E}">
        <p14:creationId xmlns:p14="http://schemas.microsoft.com/office/powerpoint/2010/main" val="1468386153"/>
      </p:ext>
    </p:extLst>
  </p:cSld>
</p:sld>
</file>

<file path=ppt/slides/slide4.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39" name="Slide_Title">
            <a:extLst xmlns:a="http://schemas.openxmlformats.org/drawingml/2006/main">
              <a:ext uri="{FF2B5EF4-FFF2-40B4-BE49-F238E27FC236}">
                <a16:creationId xmlns:a16="http://schemas.microsoft.com/office/drawing/2014/main" id="{F369627E-A405-4256-9943-3184D143A495}"/>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Kiến trúc triển khai và phạm vi evidence</a:t>
            </a:r>
          </a:p>
        </p:txBody>
      </p:sp>
      <p:sp>
        <p:nvSpPr>
          <p:cNvPr id="2" name="Slide_Subtitle">
            <a:extLst xmlns:a="http://schemas.openxmlformats.org/drawingml/2006/main">
              <a:ext uri="{FF2B5EF4-FFF2-40B4-BE49-F238E27FC236}">
                <a16:creationId xmlns:a16="http://schemas.microsoft.com/office/drawing/2014/main" id="{451F509F-516A-4EC1-9E63-850A865D2C8C}"/>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Nhãn CHẠY THẬT hoặc MÔ PHỎNG / TEST nằm trực tiếp trên từng khối.</a:t>
            </a:r>
          </a:p>
        </p:txBody>
      </p:sp>
      <p:sp>
        <p:nvSpPr>
          <p:cNvPr id="3" name="S4_Layer_1">
            <a:extLst xmlns:a="http://schemas.openxmlformats.org/drawingml/2006/main">
              <a:ext uri="{FF2B5EF4-FFF2-40B4-BE49-F238E27FC236}">
                <a16:creationId xmlns:a16="http://schemas.microsoft.com/office/drawing/2014/main" id="{A7E4213F-B54D-4B92-A0CF-180EB1B06BB5}"/>
              </a:ext>
            </a:extLst>
          </p:cNvPr>
          <p:cNvSpPr>
            <a:spLocks xmlns:a="http://schemas.openxmlformats.org/drawingml/2006/main" noGrp="1"/>
          </p:cNvSpPr>
          <p:nvPr/>
        </p:nvSpPr>
        <p:spPr>
          <a:xfrm xmlns:a="http://schemas.openxmlformats.org/drawingml/2006/main">
            <a:off x="552450" y="1428750"/>
            <a:ext cx="7334250" cy="704850"/>
          </a:xfrm>
          <a:prstGeom xmlns:a="http://schemas.openxmlformats.org/drawingml/2006/main" prst="roundRect">
            <a:avLst>
              <a:gd name="adj" fmla="val 8108"/>
            </a:avLst>
          </a:prstGeom>
          <a:solidFill xmlns:a="http://schemas.openxmlformats.org/drawingml/2006/main">
            <a:srgbClr val="112338"/>
          </a:solidFill>
          <a:ln xmlns:a="http://schemas.openxmlformats.org/drawingml/2006/main" w="9525">
            <a:solidFill>
              <a:srgbClr val="31445C"/>
            </a:solidFill>
            <a:prstDash val="solid"/>
          </a:ln>
        </p:spPr>
      </p:sp>
      <p:sp>
        <p:nvSpPr>
          <p:cNvPr id="4" name="S4_LiveBadge_1">
            <a:extLst xmlns:a="http://schemas.openxmlformats.org/drawingml/2006/main">
              <a:ext uri="{FF2B5EF4-FFF2-40B4-BE49-F238E27FC236}">
                <a16:creationId xmlns:a16="http://schemas.microsoft.com/office/drawing/2014/main" id="{B07C72AD-B5DB-415F-8B6C-8973630B5E36}"/>
              </a:ext>
            </a:extLst>
          </p:cNvPr>
          <p:cNvSpPr>
            <a:spLocks xmlns:a="http://schemas.openxmlformats.org/drawingml/2006/main" noGrp="1"/>
          </p:cNvSpPr>
          <p:nvPr/>
        </p:nvSpPr>
        <p:spPr>
          <a:xfrm xmlns:a="http://schemas.openxmlformats.org/drawingml/2006/main">
            <a:off x="704850" y="1524000"/>
            <a:ext cx="10477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CHẠY THẬT</a:t>
            </a:r>
          </a:p>
        </p:txBody>
      </p:sp>
      <p:sp>
        <p:nvSpPr>
          <p:cNvPr id="5" name="S4_LayerLabel_1">
            <a:extLst xmlns:a="http://schemas.openxmlformats.org/drawingml/2006/main">
              <a:ext uri="{FF2B5EF4-FFF2-40B4-BE49-F238E27FC236}">
                <a16:creationId xmlns:a16="http://schemas.microsoft.com/office/drawing/2014/main" id="{DF3D1764-99C6-4AC2-A86A-009E68ED0859}"/>
              </a:ext>
            </a:extLst>
          </p:cNvPr>
          <p:cNvSpPr>
            <a:spLocks xmlns:a="http://schemas.openxmlformats.org/drawingml/2006/main" noGrp="1"/>
          </p:cNvSpPr>
          <p:nvPr/>
        </p:nvSpPr>
        <p:spPr>
          <a:xfrm xmlns:a="http://schemas.openxmlformats.org/drawingml/2006/main">
            <a:off x="1962150" y="15430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45A9BE"/>
                </a:solidFill>
                <a:latin typeface="Segoe UI"/>
                <a:ea typeface="Segoe UI"/>
                <a:cs typeface="Segoe UI"/>
              </a:defRPr>
            </a:defPPr>
          </a:lstStyle>
          <a:p xmlns:a="http://schemas.openxmlformats.org/drawingml/2006/main">
            <a:pPr algn="l">
              <a:defRPr sz="1125" b="1">
                <a:solidFill>
                  <a:srgbClr val="45A9BE"/>
                </a:solidFill>
                <a:latin typeface="Segoe UI"/>
                <a:ea typeface="Segoe UI"/>
                <a:cs typeface="Segoe UI"/>
              </a:defRPr>
            </a:pPr>
            <a:r>
              <a:rPr sz="1125" b="1">
                <a:solidFill>
                  <a:srgbClr val="45A9BE"/>
                </a:solidFill>
                <a:latin typeface="Segoe UI"/>
                <a:ea typeface="Segoe UI"/>
                <a:cs typeface="Segoe UI"/>
              </a:rPr>
              <a:t>GIAO DIỆN</a:t>
            </a:r>
          </a:p>
        </p:txBody>
      </p:sp>
      <p:sp>
        <p:nvSpPr>
          <p:cNvPr id="6" name="S4_LayerText_1">
            <a:extLst xmlns:a="http://schemas.openxmlformats.org/drawingml/2006/main">
              <a:ext uri="{FF2B5EF4-FFF2-40B4-BE49-F238E27FC236}">
                <a16:creationId xmlns:a16="http://schemas.microsoft.com/office/drawing/2014/main" id="{EFBE5DC4-D26A-46CB-A472-DBB04A285647}"/>
              </a:ext>
            </a:extLst>
          </p:cNvPr>
          <p:cNvSpPr>
            <a:spLocks xmlns:a="http://schemas.openxmlformats.org/drawingml/2006/main" noGrp="1"/>
          </p:cNvSpPr>
          <p:nvPr/>
        </p:nvSpPr>
        <p:spPr>
          <a:xfrm xmlns:a="http://schemas.openxmlformats.org/drawingml/2006/main">
            <a:off x="1962150" y="180975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Razor MVC • HTTP 202 • polling trạng thái</a:t>
            </a:r>
          </a:p>
        </p:txBody>
      </p:sp>
      <p:sp>
        <p:nvSpPr>
          <p:cNvPr id="7" name="S4_LayerConnector_1">
            <a:extLst xmlns:a="http://schemas.openxmlformats.org/drawingml/2006/main">
              <a:ext uri="{FF2B5EF4-FFF2-40B4-BE49-F238E27FC236}">
                <a16:creationId xmlns:a16="http://schemas.microsoft.com/office/drawing/2014/main" id="{AF4550A0-6325-43DD-A04A-55FB7B84E76A}"/>
              </a:ext>
            </a:extLst>
          </p:cNvPr>
          <p:cNvSpPr>
            <a:spLocks xmlns:a="http://schemas.openxmlformats.org/drawingml/2006/main" noGrp="1"/>
          </p:cNvSpPr>
          <p:nvPr/>
        </p:nvSpPr>
        <p:spPr>
          <a:xfrm xmlns:a="http://schemas.openxmlformats.org/drawingml/2006/main">
            <a:off x="4219575" y="2133600"/>
            <a:ext cx="0" cy="171450"/>
          </a:xfrm>
          <a:prstGeom xmlns:a="http://schemas.openxmlformats.org/drawingml/2006/main" prst="line">
            <a:avLst/>
          </a:prstGeom>
          <a:noFill xmlns:a="http://schemas.openxmlformats.org/drawingml/2006/main"/>
          <a:ln xmlns:a="http://schemas.openxmlformats.org/drawingml/2006/main" w="14288">
            <a:solidFill>
              <a:srgbClr val="31445C"/>
            </a:solidFill>
            <a:prstDash val="solid"/>
          </a:ln>
        </p:spPr>
      </p:sp>
      <p:sp>
        <p:nvSpPr>
          <p:cNvPr id="8" name="S4_Layer_2">
            <a:extLst xmlns:a="http://schemas.openxmlformats.org/drawingml/2006/main">
              <a:ext uri="{FF2B5EF4-FFF2-40B4-BE49-F238E27FC236}">
                <a16:creationId xmlns:a16="http://schemas.microsoft.com/office/drawing/2014/main" id="{E451F622-F6A2-46B1-AE43-25E913C66B58}"/>
              </a:ext>
            </a:extLst>
          </p:cNvPr>
          <p:cNvSpPr>
            <a:spLocks xmlns:a="http://schemas.openxmlformats.org/drawingml/2006/main" noGrp="1"/>
          </p:cNvSpPr>
          <p:nvPr/>
        </p:nvSpPr>
        <p:spPr>
          <a:xfrm xmlns:a="http://schemas.openxmlformats.org/drawingml/2006/main">
            <a:off x="552450" y="2305050"/>
            <a:ext cx="7334250" cy="704850"/>
          </a:xfrm>
          <a:prstGeom xmlns:a="http://schemas.openxmlformats.org/drawingml/2006/main" prst="roundRect">
            <a:avLst>
              <a:gd name="adj" fmla="val 8108"/>
            </a:avLst>
          </a:prstGeom>
          <a:solidFill xmlns:a="http://schemas.openxmlformats.org/drawingml/2006/main">
            <a:srgbClr val="112338"/>
          </a:solidFill>
          <a:ln xmlns:a="http://schemas.openxmlformats.org/drawingml/2006/main" w="9525">
            <a:solidFill>
              <a:srgbClr val="31445C"/>
            </a:solidFill>
            <a:prstDash val="solid"/>
          </a:ln>
        </p:spPr>
      </p:sp>
      <p:sp>
        <p:nvSpPr>
          <p:cNvPr id="9" name="S4_LiveBadge_2">
            <a:extLst xmlns:a="http://schemas.openxmlformats.org/drawingml/2006/main">
              <a:ext uri="{FF2B5EF4-FFF2-40B4-BE49-F238E27FC236}">
                <a16:creationId xmlns:a16="http://schemas.microsoft.com/office/drawing/2014/main" id="{4BF05781-E45A-4E1B-A65B-192B93C2451B}"/>
              </a:ext>
            </a:extLst>
          </p:cNvPr>
          <p:cNvSpPr>
            <a:spLocks xmlns:a="http://schemas.openxmlformats.org/drawingml/2006/main" noGrp="1"/>
          </p:cNvSpPr>
          <p:nvPr/>
        </p:nvSpPr>
        <p:spPr>
          <a:xfrm xmlns:a="http://schemas.openxmlformats.org/drawingml/2006/main">
            <a:off x="704850" y="2400300"/>
            <a:ext cx="10477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CHẠY THẬT</a:t>
            </a:r>
          </a:p>
        </p:txBody>
      </p:sp>
      <p:sp>
        <p:nvSpPr>
          <p:cNvPr id="10" name="S4_LayerLabel_2">
            <a:extLst xmlns:a="http://schemas.openxmlformats.org/drawingml/2006/main">
              <a:ext uri="{FF2B5EF4-FFF2-40B4-BE49-F238E27FC236}">
                <a16:creationId xmlns:a16="http://schemas.microsoft.com/office/drawing/2014/main" id="{ED04D858-ADC1-4EA7-9BBA-07205550AE35}"/>
              </a:ext>
            </a:extLst>
          </p:cNvPr>
          <p:cNvSpPr>
            <a:spLocks xmlns:a="http://schemas.openxmlformats.org/drawingml/2006/main" noGrp="1"/>
          </p:cNvSpPr>
          <p:nvPr/>
        </p:nvSpPr>
        <p:spPr>
          <a:xfrm xmlns:a="http://schemas.openxmlformats.org/drawingml/2006/main">
            <a:off x="1962150" y="24193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45A9BE"/>
                </a:solidFill>
                <a:latin typeface="Segoe UI"/>
                <a:ea typeface="Segoe UI"/>
                <a:cs typeface="Segoe UI"/>
              </a:defRPr>
            </a:defPPr>
          </a:lstStyle>
          <a:p xmlns:a="http://schemas.openxmlformats.org/drawingml/2006/main">
            <a:pPr algn="l">
              <a:defRPr sz="1125" b="1">
                <a:solidFill>
                  <a:srgbClr val="45A9BE"/>
                </a:solidFill>
                <a:latin typeface="Segoe UI"/>
                <a:ea typeface="Segoe UI"/>
                <a:cs typeface="Segoe UI"/>
              </a:defRPr>
            </a:pPr>
            <a:r>
              <a:rPr sz="1125" b="1">
                <a:solidFill>
                  <a:srgbClr val="45A9BE"/>
                </a:solidFill>
                <a:latin typeface="Segoe UI"/>
                <a:ea typeface="Segoe UI"/>
                <a:cs typeface="Segoe UI"/>
              </a:rPr>
              <a:t>QUEUE / WORKER</a:t>
            </a:r>
          </a:p>
        </p:txBody>
      </p:sp>
      <p:sp>
        <p:nvSpPr>
          <p:cNvPr id="11" name="S4_LayerText_2">
            <a:extLst xmlns:a="http://schemas.openxmlformats.org/drawingml/2006/main">
              <a:ext uri="{FF2B5EF4-FFF2-40B4-BE49-F238E27FC236}">
                <a16:creationId xmlns:a16="http://schemas.microsoft.com/office/drawing/2014/main" id="{4CA0F23E-2493-4DDF-A650-ECF931085DC0}"/>
              </a:ext>
            </a:extLst>
          </p:cNvPr>
          <p:cNvSpPr>
            <a:spLocks xmlns:a="http://schemas.openxmlformats.org/drawingml/2006/main" noGrp="1"/>
          </p:cNvSpPr>
          <p:nvPr/>
        </p:nvSpPr>
        <p:spPr>
          <a:xfrm xmlns:a="http://schemas.openxmlformats.org/drawingml/2006/main">
            <a:off x="1962150" y="268605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SQL job • lease 600s • retry / circuit</a:t>
            </a:r>
          </a:p>
        </p:txBody>
      </p:sp>
      <p:sp>
        <p:nvSpPr>
          <p:cNvPr id="12" name="S4_LayerConnector_2">
            <a:extLst xmlns:a="http://schemas.openxmlformats.org/drawingml/2006/main">
              <a:ext uri="{FF2B5EF4-FFF2-40B4-BE49-F238E27FC236}">
                <a16:creationId xmlns:a16="http://schemas.microsoft.com/office/drawing/2014/main" id="{570078C5-D243-4652-A9CC-C4410342DE18}"/>
              </a:ext>
            </a:extLst>
          </p:cNvPr>
          <p:cNvSpPr>
            <a:spLocks xmlns:a="http://schemas.openxmlformats.org/drawingml/2006/main" noGrp="1"/>
          </p:cNvSpPr>
          <p:nvPr/>
        </p:nvSpPr>
        <p:spPr>
          <a:xfrm xmlns:a="http://schemas.openxmlformats.org/drawingml/2006/main">
            <a:off x="4219575" y="3009900"/>
            <a:ext cx="0" cy="171450"/>
          </a:xfrm>
          <a:prstGeom xmlns:a="http://schemas.openxmlformats.org/drawingml/2006/main" prst="line">
            <a:avLst/>
          </a:prstGeom>
          <a:noFill xmlns:a="http://schemas.openxmlformats.org/drawingml/2006/main"/>
          <a:ln xmlns:a="http://schemas.openxmlformats.org/drawingml/2006/main" w="14288">
            <a:solidFill>
              <a:srgbClr val="31445C"/>
            </a:solidFill>
            <a:prstDash val="solid"/>
          </a:ln>
        </p:spPr>
      </p:sp>
      <p:sp>
        <p:nvSpPr>
          <p:cNvPr id="13" name="S4_Layer_3">
            <a:extLst xmlns:a="http://schemas.openxmlformats.org/drawingml/2006/main">
              <a:ext uri="{FF2B5EF4-FFF2-40B4-BE49-F238E27FC236}">
                <a16:creationId xmlns:a16="http://schemas.microsoft.com/office/drawing/2014/main" id="{0476C54E-637B-430A-BB57-183B7168FFCA}"/>
              </a:ext>
            </a:extLst>
          </p:cNvPr>
          <p:cNvSpPr>
            <a:spLocks xmlns:a="http://schemas.openxmlformats.org/drawingml/2006/main" noGrp="1"/>
          </p:cNvSpPr>
          <p:nvPr/>
        </p:nvSpPr>
        <p:spPr>
          <a:xfrm xmlns:a="http://schemas.openxmlformats.org/drawingml/2006/main">
            <a:off x="552450" y="3181350"/>
            <a:ext cx="7334250" cy="704850"/>
          </a:xfrm>
          <a:prstGeom xmlns:a="http://schemas.openxmlformats.org/drawingml/2006/main" prst="roundRect">
            <a:avLst>
              <a:gd name="adj" fmla="val 8108"/>
            </a:avLst>
          </a:prstGeom>
          <a:solidFill xmlns:a="http://schemas.openxmlformats.org/drawingml/2006/main">
            <a:srgbClr val="112338"/>
          </a:solidFill>
          <a:ln xmlns:a="http://schemas.openxmlformats.org/drawingml/2006/main" w="9525">
            <a:solidFill>
              <a:srgbClr val="31445C"/>
            </a:solidFill>
            <a:prstDash val="solid"/>
          </a:ln>
        </p:spPr>
      </p:sp>
      <p:sp>
        <p:nvSpPr>
          <p:cNvPr id="14" name="S4_LiveBadge_3">
            <a:extLst xmlns:a="http://schemas.openxmlformats.org/drawingml/2006/main">
              <a:ext uri="{FF2B5EF4-FFF2-40B4-BE49-F238E27FC236}">
                <a16:creationId xmlns:a16="http://schemas.microsoft.com/office/drawing/2014/main" id="{84EF7B91-CFDD-4747-A66F-67C076B96CC4}"/>
              </a:ext>
            </a:extLst>
          </p:cNvPr>
          <p:cNvSpPr>
            <a:spLocks xmlns:a="http://schemas.openxmlformats.org/drawingml/2006/main" noGrp="1"/>
          </p:cNvSpPr>
          <p:nvPr/>
        </p:nvSpPr>
        <p:spPr>
          <a:xfrm xmlns:a="http://schemas.openxmlformats.org/drawingml/2006/main">
            <a:off x="704850" y="3276600"/>
            <a:ext cx="10477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CHẠY THẬT</a:t>
            </a:r>
          </a:p>
        </p:txBody>
      </p:sp>
      <p:sp>
        <p:nvSpPr>
          <p:cNvPr id="15" name="S4_LayerLabel_3">
            <a:extLst xmlns:a="http://schemas.openxmlformats.org/drawingml/2006/main">
              <a:ext uri="{FF2B5EF4-FFF2-40B4-BE49-F238E27FC236}">
                <a16:creationId xmlns:a16="http://schemas.microsoft.com/office/drawing/2014/main" id="{79FCD3ED-E94D-41AD-8C1F-74E73F2D8B4F}"/>
              </a:ext>
            </a:extLst>
          </p:cNvPr>
          <p:cNvSpPr>
            <a:spLocks xmlns:a="http://schemas.openxmlformats.org/drawingml/2006/main" noGrp="1"/>
          </p:cNvSpPr>
          <p:nvPr/>
        </p:nvSpPr>
        <p:spPr>
          <a:xfrm xmlns:a="http://schemas.openxmlformats.org/drawingml/2006/main">
            <a:off x="1962150" y="32956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5F8FD8"/>
                </a:solidFill>
                <a:latin typeface="Segoe UI"/>
                <a:ea typeface="Segoe UI"/>
                <a:cs typeface="Segoe UI"/>
              </a:defRPr>
            </a:defPPr>
          </a:lstStyle>
          <a:p xmlns:a="http://schemas.openxmlformats.org/drawingml/2006/main">
            <a:pPr algn="l">
              <a:defRPr sz="1125" b="1">
                <a:solidFill>
                  <a:srgbClr val="5F8FD8"/>
                </a:solidFill>
                <a:latin typeface="Segoe UI"/>
                <a:ea typeface="Segoe UI"/>
                <a:cs typeface="Segoe UI"/>
              </a:defRPr>
            </a:pPr>
            <a:r>
              <a:rPr sz="1125" b="1">
                <a:solidFill>
                  <a:srgbClr val="5F8FD8"/>
                </a:solidFill>
                <a:latin typeface="Segoe UI"/>
                <a:ea typeface="Segoe UI"/>
                <a:cs typeface="Segoe UI"/>
              </a:rPr>
              <a:t>AI ADAPTER + CONTRACT</a:t>
            </a:r>
          </a:p>
        </p:txBody>
      </p:sp>
      <p:sp>
        <p:nvSpPr>
          <p:cNvPr id="16" name="S4_LayerText_3">
            <a:extLst xmlns:a="http://schemas.openxmlformats.org/drawingml/2006/main">
              <a:ext uri="{FF2B5EF4-FFF2-40B4-BE49-F238E27FC236}">
                <a16:creationId xmlns:a16="http://schemas.microsoft.com/office/drawing/2014/main" id="{F7183442-BE18-4142-9035-562BDA0AB2F8}"/>
              </a:ext>
            </a:extLst>
          </p:cNvPr>
          <p:cNvSpPr>
            <a:spLocks xmlns:a="http://schemas.openxmlformats.org/drawingml/2006/main" noGrp="1"/>
          </p:cNvSpPr>
          <p:nvPr/>
        </p:nvSpPr>
        <p:spPr>
          <a:xfrm xmlns:a="http://schemas.openxmlformats.org/drawingml/2006/main">
            <a:off x="1962150" y="356235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OpenRouter • Qwen3.8 Flash • Schema → DTO → semantic → repair ≤ 1</a:t>
            </a:r>
          </a:p>
        </p:txBody>
      </p:sp>
      <p:sp>
        <p:nvSpPr>
          <p:cNvPr id="17" name="S4_LayerConnector_3">
            <a:extLst xmlns:a="http://schemas.openxmlformats.org/drawingml/2006/main">
              <a:ext uri="{FF2B5EF4-FFF2-40B4-BE49-F238E27FC236}">
                <a16:creationId xmlns:a16="http://schemas.microsoft.com/office/drawing/2014/main" id="{98057916-CB30-45E2-B0F8-B2601FBADE25}"/>
              </a:ext>
            </a:extLst>
          </p:cNvPr>
          <p:cNvSpPr>
            <a:spLocks xmlns:a="http://schemas.openxmlformats.org/drawingml/2006/main" noGrp="1"/>
          </p:cNvSpPr>
          <p:nvPr/>
        </p:nvSpPr>
        <p:spPr>
          <a:xfrm xmlns:a="http://schemas.openxmlformats.org/drawingml/2006/main">
            <a:off x="4219575" y="3886200"/>
            <a:ext cx="0" cy="171450"/>
          </a:xfrm>
          <a:prstGeom xmlns:a="http://schemas.openxmlformats.org/drawingml/2006/main" prst="line">
            <a:avLst/>
          </a:prstGeom>
          <a:noFill xmlns:a="http://schemas.openxmlformats.org/drawingml/2006/main"/>
          <a:ln xmlns:a="http://schemas.openxmlformats.org/drawingml/2006/main" w="14288">
            <a:solidFill>
              <a:srgbClr val="31445C"/>
            </a:solidFill>
            <a:prstDash val="solid"/>
          </a:ln>
        </p:spPr>
      </p:sp>
      <p:sp>
        <p:nvSpPr>
          <p:cNvPr id="18" name="S4_Layer_4">
            <a:extLst xmlns:a="http://schemas.openxmlformats.org/drawingml/2006/main">
              <a:ext uri="{FF2B5EF4-FFF2-40B4-BE49-F238E27FC236}">
                <a16:creationId xmlns:a16="http://schemas.microsoft.com/office/drawing/2014/main" id="{B35F2A51-6E0F-4EBD-A3F4-AB4C675C1130}"/>
              </a:ext>
            </a:extLst>
          </p:cNvPr>
          <p:cNvSpPr>
            <a:spLocks xmlns:a="http://schemas.openxmlformats.org/drawingml/2006/main" noGrp="1"/>
          </p:cNvSpPr>
          <p:nvPr/>
        </p:nvSpPr>
        <p:spPr>
          <a:xfrm xmlns:a="http://schemas.openxmlformats.org/drawingml/2006/main">
            <a:off x="552450" y="4057650"/>
            <a:ext cx="7334250" cy="704850"/>
          </a:xfrm>
          <a:prstGeom xmlns:a="http://schemas.openxmlformats.org/drawingml/2006/main" prst="roundRect">
            <a:avLst>
              <a:gd name="adj" fmla="val 8108"/>
            </a:avLst>
          </a:prstGeom>
          <a:solidFill xmlns:a="http://schemas.openxmlformats.org/drawingml/2006/main">
            <a:srgbClr val="112338"/>
          </a:solidFill>
          <a:ln xmlns:a="http://schemas.openxmlformats.org/drawingml/2006/main" w="9525">
            <a:solidFill>
              <a:srgbClr val="31445C"/>
            </a:solidFill>
            <a:prstDash val="solid"/>
          </a:ln>
        </p:spPr>
      </p:sp>
      <p:sp>
        <p:nvSpPr>
          <p:cNvPr id="19" name="S4_LiveBadge_4">
            <a:extLst xmlns:a="http://schemas.openxmlformats.org/drawingml/2006/main">
              <a:ext uri="{FF2B5EF4-FFF2-40B4-BE49-F238E27FC236}">
                <a16:creationId xmlns:a16="http://schemas.microsoft.com/office/drawing/2014/main" id="{8BFA26CA-7C71-4B06-9A9E-3D92F51F0662}"/>
              </a:ext>
            </a:extLst>
          </p:cNvPr>
          <p:cNvSpPr>
            <a:spLocks xmlns:a="http://schemas.openxmlformats.org/drawingml/2006/main" noGrp="1"/>
          </p:cNvSpPr>
          <p:nvPr/>
        </p:nvSpPr>
        <p:spPr>
          <a:xfrm xmlns:a="http://schemas.openxmlformats.org/drawingml/2006/main">
            <a:off x="704850" y="4152900"/>
            <a:ext cx="10477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CHẠY THẬT</a:t>
            </a:r>
          </a:p>
        </p:txBody>
      </p:sp>
      <p:sp>
        <p:nvSpPr>
          <p:cNvPr id="20" name="S4_LayerLabel_4">
            <a:extLst xmlns:a="http://schemas.openxmlformats.org/drawingml/2006/main">
              <a:ext uri="{FF2B5EF4-FFF2-40B4-BE49-F238E27FC236}">
                <a16:creationId xmlns:a16="http://schemas.microsoft.com/office/drawing/2014/main" id="{80494153-ED77-4E1F-9A6C-16BF43606E58}"/>
              </a:ext>
            </a:extLst>
          </p:cNvPr>
          <p:cNvSpPr>
            <a:spLocks xmlns:a="http://schemas.openxmlformats.org/drawingml/2006/main" noGrp="1"/>
          </p:cNvSpPr>
          <p:nvPr/>
        </p:nvSpPr>
        <p:spPr>
          <a:xfrm xmlns:a="http://schemas.openxmlformats.org/drawingml/2006/main">
            <a:off x="1962150" y="41719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C59A4A"/>
                </a:solidFill>
                <a:latin typeface="Segoe UI"/>
                <a:ea typeface="Segoe UI"/>
                <a:cs typeface="Segoe UI"/>
              </a:defRPr>
            </a:def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POLICY + DỮ LIỆU</a:t>
            </a:r>
          </a:p>
        </p:txBody>
      </p:sp>
      <p:sp>
        <p:nvSpPr>
          <p:cNvPr id="21" name="S4_LayerText_4">
            <a:extLst xmlns:a="http://schemas.openxmlformats.org/drawingml/2006/main">
              <a:ext uri="{FF2B5EF4-FFF2-40B4-BE49-F238E27FC236}">
                <a16:creationId xmlns:a16="http://schemas.microsoft.com/office/drawing/2014/main" id="{70B65F5C-3B4B-4DA1-A913-11D008995671}"/>
              </a:ext>
            </a:extLst>
          </p:cNvPr>
          <p:cNvSpPr>
            <a:spLocks xmlns:a="http://schemas.openxmlformats.org/drawingml/2006/main" noGrp="1"/>
          </p:cNvSpPr>
          <p:nvPr/>
        </p:nvSpPr>
        <p:spPr>
          <a:xfrm xmlns:a="http://schemas.openxmlformats.org/drawingml/2006/main">
            <a:off x="1962150" y="443865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PolicyDecisionEngine C# • EF Core • SQL Server • private storage • Undo event</a:t>
            </a:r>
          </a:p>
        </p:txBody>
      </p:sp>
      <p:sp>
        <p:nvSpPr>
          <p:cNvPr id="22" name="S4_TestBoundary">
            <a:extLst xmlns:a="http://schemas.openxmlformats.org/drawingml/2006/main">
              <a:ext uri="{FF2B5EF4-FFF2-40B4-BE49-F238E27FC236}">
                <a16:creationId xmlns:a16="http://schemas.microsoft.com/office/drawing/2014/main" id="{2DC7D051-B04F-416E-83BA-9A575E8C3C83}"/>
              </a:ext>
            </a:extLst>
          </p:cNvPr>
          <p:cNvSpPr>
            <a:spLocks xmlns:a="http://schemas.openxmlformats.org/drawingml/2006/main" noGrp="1"/>
          </p:cNvSpPr>
          <p:nvPr/>
        </p:nvSpPr>
        <p:spPr>
          <a:xfrm xmlns:a="http://schemas.openxmlformats.org/drawingml/2006/main">
            <a:off x="8153400" y="1428750"/>
            <a:ext cx="3486150" cy="3333750"/>
          </a:xfrm>
          <a:prstGeom xmlns:a="http://schemas.openxmlformats.org/drawingml/2006/main" prst="roundRect">
            <a:avLst>
              <a:gd name="adj" fmla="val 1714"/>
            </a:avLst>
          </a:prstGeom>
          <a:solidFill xmlns:a="http://schemas.openxmlformats.org/drawingml/2006/main">
            <a:srgbClr val="162A42"/>
          </a:solidFill>
          <a:ln xmlns:a="http://schemas.openxmlformats.org/drawingml/2006/main" w="9525">
            <a:solidFill>
              <a:srgbClr val="C59A4A"/>
            </a:solidFill>
            <a:prstDash val="solid"/>
          </a:ln>
        </p:spPr>
      </p:sp>
      <p:sp>
        <p:nvSpPr>
          <p:cNvPr id="23" name="S4_TestTitle">
            <a:extLst xmlns:a="http://schemas.openxmlformats.org/drawingml/2006/main">
              <a:ext uri="{FF2B5EF4-FFF2-40B4-BE49-F238E27FC236}">
                <a16:creationId xmlns:a16="http://schemas.microsoft.com/office/drawing/2014/main" id="{B0DBC4F5-4F2A-499A-B048-2B0DB1CCFB0A}"/>
              </a:ext>
            </a:extLst>
          </p:cNvPr>
          <p:cNvSpPr>
            <a:spLocks xmlns:a="http://schemas.openxmlformats.org/drawingml/2006/main" noGrp="1"/>
          </p:cNvSpPr>
          <p:nvPr/>
        </p:nvSpPr>
        <p:spPr>
          <a:xfrm xmlns:a="http://schemas.openxmlformats.org/drawingml/2006/main">
            <a:off x="8343900" y="16002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1">
                <a:solidFill>
                  <a:srgbClr val="C59A4A"/>
                </a:solidFill>
                <a:latin typeface="Segoe UI"/>
                <a:ea typeface="Segoe UI"/>
                <a:cs typeface="Segoe UI"/>
              </a:defRPr>
            </a:def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DỮ LIỆU VÀ PROTOTYPE</a:t>
            </a:r>
          </a:p>
        </p:txBody>
      </p:sp>
      <p:sp>
        <p:nvSpPr>
          <p:cNvPr id="24" name="S4_TestItem_1">
            <a:extLst xmlns:a="http://schemas.openxmlformats.org/drawingml/2006/main">
              <a:ext uri="{FF2B5EF4-FFF2-40B4-BE49-F238E27FC236}">
                <a16:creationId xmlns:a16="http://schemas.microsoft.com/office/drawing/2014/main" id="{5884FF3D-B49E-4475-B204-3FF9EA41E26A}"/>
              </a:ext>
            </a:extLst>
          </p:cNvPr>
          <p:cNvSpPr>
            <a:spLocks xmlns:a="http://schemas.openxmlformats.org/drawingml/2006/main" noGrp="1"/>
          </p:cNvSpPr>
          <p:nvPr/>
        </p:nvSpPr>
        <p:spPr>
          <a:xfrm xmlns:a="http://schemas.openxmlformats.org/drawingml/2006/main">
            <a:off x="8343900" y="2000250"/>
            <a:ext cx="3105150" cy="666750"/>
          </a:xfrm>
          <a:prstGeom xmlns:a="http://schemas.openxmlformats.org/drawingml/2006/main" prst="roundRect">
            <a:avLst>
              <a:gd name="adj" fmla="val 8571"/>
            </a:avLst>
          </a:prstGeom>
          <a:solidFill xmlns:a="http://schemas.openxmlformats.org/drawingml/2006/main">
            <a:srgbClr val="112338"/>
          </a:solidFill>
          <a:ln xmlns:a="http://schemas.openxmlformats.org/drawingml/2006/main" w="9525">
            <a:solidFill>
              <a:srgbClr val="31445C"/>
            </a:solidFill>
            <a:prstDash val="solid"/>
          </a:ln>
        </p:spPr>
      </p:sp>
      <p:sp>
        <p:nvSpPr>
          <p:cNvPr id="25" name="S4_TestBadge_1">
            <a:extLst xmlns:a="http://schemas.openxmlformats.org/drawingml/2006/main">
              <a:ext uri="{FF2B5EF4-FFF2-40B4-BE49-F238E27FC236}">
                <a16:creationId xmlns:a16="http://schemas.microsoft.com/office/drawing/2014/main" id="{98E56E39-5159-4CC7-8B9E-D939854C0118}"/>
              </a:ext>
            </a:extLst>
          </p:cNvPr>
          <p:cNvSpPr>
            <a:spLocks xmlns:a="http://schemas.openxmlformats.org/drawingml/2006/main" noGrp="1"/>
          </p:cNvSpPr>
          <p:nvPr/>
        </p:nvSpPr>
        <p:spPr>
          <a:xfrm xmlns:a="http://schemas.openxmlformats.org/drawingml/2006/main">
            <a:off x="8458200" y="2095500"/>
            <a:ext cx="1409700" cy="266700"/>
          </a:xfrm>
          <a:prstGeom xmlns:a="http://schemas.openxmlformats.org/drawingml/2006/main" prst="roundRect">
            <a:avLst>
              <a:gd name="adj" fmla="val 21429"/>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MÔ PHỎNG / TEST</a:t>
            </a:r>
          </a:p>
        </p:txBody>
      </p:sp>
      <p:sp>
        <p:nvSpPr>
          <p:cNvPr id="26" name="S4_TestLabel_1">
            <a:extLst xmlns:a="http://schemas.openxmlformats.org/drawingml/2006/main">
              <a:ext uri="{FF2B5EF4-FFF2-40B4-BE49-F238E27FC236}">
                <a16:creationId xmlns:a16="http://schemas.microsoft.com/office/drawing/2014/main" id="{5B1F1140-1FA6-42DF-9FCE-46D31AF929E6}"/>
              </a:ext>
            </a:extLst>
          </p:cNvPr>
          <p:cNvSpPr>
            <a:spLocks xmlns:a="http://schemas.openxmlformats.org/drawingml/2006/main" noGrp="1"/>
          </p:cNvSpPr>
          <p:nvPr/>
        </p:nvSpPr>
        <p:spPr>
          <a:xfrm xmlns:a="http://schemas.openxmlformats.org/drawingml/2006/main">
            <a:off x="10001250" y="2095500"/>
            <a:ext cx="1314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30 ảnh tổng hợp</a:t>
            </a:r>
          </a:p>
        </p:txBody>
      </p:sp>
      <p:sp>
        <p:nvSpPr>
          <p:cNvPr id="27" name="S4_TestDetail_1">
            <a:extLst xmlns:a="http://schemas.openxmlformats.org/drawingml/2006/main">
              <a:ext uri="{FF2B5EF4-FFF2-40B4-BE49-F238E27FC236}">
                <a16:creationId xmlns:a16="http://schemas.microsoft.com/office/drawing/2014/main" id="{9E9F4E61-F59D-4AA3-BDDC-DD7A7C7BD7D5}"/>
              </a:ext>
            </a:extLst>
          </p:cNvPr>
          <p:cNvSpPr>
            <a:spLocks xmlns:a="http://schemas.openxmlformats.org/drawingml/2006/main" noGrp="1"/>
          </p:cNvSpPr>
          <p:nvPr/>
        </p:nvSpPr>
        <p:spPr>
          <a:xfrm xmlns:a="http://schemas.openxmlformats.org/drawingml/2006/main">
            <a:off x="8458200" y="2400300"/>
            <a:ext cx="276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975" b="0">
                <a:solidFill>
                  <a:srgbClr val="A6B3C4"/>
                </a:solidFill>
                <a:latin typeface="Segoe UI"/>
                <a:ea typeface="Segoe UI"/>
                <a:cs typeface="Segoe UI"/>
              </a:defRPr>
            </a:defPPr>
          </a:lstStyle>
          <a:p xmlns:a="http://schemas.openxmlformats.org/drawingml/2006/main">
            <a:pPr algn="l">
              <a:defRPr sz="975" b="0">
                <a:solidFill>
                  <a:srgbClr val="A6B3C4"/>
                </a:solidFill>
                <a:latin typeface="Segoe UI"/>
                <a:ea typeface="Segoe UI"/>
                <a:cs typeface="Segoe UI"/>
              </a:defRPr>
            </a:pPr>
            <a:r>
              <a:rPr sz="975" b="0">
                <a:solidFill>
                  <a:srgbClr val="A6B3C4"/>
                </a:solidFill>
                <a:latin typeface="Segoe UI"/>
                <a:ea typeface="Segoe UI"/>
                <a:cs typeface="Segoe UI"/>
              </a:rPr>
              <a:t>Dữ liệu synthetic dùng cho test</a:t>
            </a:r>
          </a:p>
        </p:txBody>
      </p:sp>
      <p:sp>
        <p:nvSpPr>
          <p:cNvPr id="28" name="S4_TestItem_2">
            <a:extLst xmlns:a="http://schemas.openxmlformats.org/drawingml/2006/main">
              <a:ext uri="{FF2B5EF4-FFF2-40B4-BE49-F238E27FC236}">
                <a16:creationId xmlns:a16="http://schemas.microsoft.com/office/drawing/2014/main" id="{273EDD10-DF9B-4DF9-BBB1-A9D64F91EFFC}"/>
              </a:ext>
            </a:extLst>
          </p:cNvPr>
          <p:cNvSpPr>
            <a:spLocks xmlns:a="http://schemas.openxmlformats.org/drawingml/2006/main" noGrp="1"/>
          </p:cNvSpPr>
          <p:nvPr/>
        </p:nvSpPr>
        <p:spPr>
          <a:xfrm xmlns:a="http://schemas.openxmlformats.org/drawingml/2006/main">
            <a:off x="8343900" y="2838450"/>
            <a:ext cx="3105150" cy="666750"/>
          </a:xfrm>
          <a:prstGeom xmlns:a="http://schemas.openxmlformats.org/drawingml/2006/main" prst="roundRect">
            <a:avLst>
              <a:gd name="adj" fmla="val 8571"/>
            </a:avLst>
          </a:prstGeom>
          <a:solidFill xmlns:a="http://schemas.openxmlformats.org/drawingml/2006/main">
            <a:srgbClr val="112338"/>
          </a:solidFill>
          <a:ln xmlns:a="http://schemas.openxmlformats.org/drawingml/2006/main" w="9525">
            <a:solidFill>
              <a:srgbClr val="31445C"/>
            </a:solidFill>
            <a:prstDash val="solid"/>
          </a:ln>
        </p:spPr>
      </p:sp>
      <p:sp>
        <p:nvSpPr>
          <p:cNvPr id="29" name="S4_TestBadge_2">
            <a:extLst xmlns:a="http://schemas.openxmlformats.org/drawingml/2006/main">
              <a:ext uri="{FF2B5EF4-FFF2-40B4-BE49-F238E27FC236}">
                <a16:creationId xmlns:a16="http://schemas.microsoft.com/office/drawing/2014/main" id="{5245BBEA-6F50-4CB8-9FAA-FF867D6A2EC4}"/>
              </a:ext>
            </a:extLst>
          </p:cNvPr>
          <p:cNvSpPr>
            <a:spLocks xmlns:a="http://schemas.openxmlformats.org/drawingml/2006/main" noGrp="1"/>
          </p:cNvSpPr>
          <p:nvPr/>
        </p:nvSpPr>
        <p:spPr>
          <a:xfrm xmlns:a="http://schemas.openxmlformats.org/drawingml/2006/main">
            <a:off x="8458200" y="2933700"/>
            <a:ext cx="1409700" cy="266700"/>
          </a:xfrm>
          <a:prstGeom xmlns:a="http://schemas.openxmlformats.org/drawingml/2006/main" prst="roundRect">
            <a:avLst>
              <a:gd name="adj" fmla="val 21429"/>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MÔ PHỎNG / TEST</a:t>
            </a:r>
          </a:p>
        </p:txBody>
      </p:sp>
      <p:sp>
        <p:nvSpPr>
          <p:cNvPr id="30" name="S4_TestLabel_2">
            <a:extLst xmlns:a="http://schemas.openxmlformats.org/drawingml/2006/main">
              <a:ext uri="{FF2B5EF4-FFF2-40B4-BE49-F238E27FC236}">
                <a16:creationId xmlns:a16="http://schemas.microsoft.com/office/drawing/2014/main" id="{56177B48-A4FC-4B14-A95F-C6B43F9BF56A}"/>
              </a:ext>
            </a:extLst>
          </p:cNvPr>
          <p:cNvSpPr>
            <a:spLocks xmlns:a="http://schemas.openxmlformats.org/drawingml/2006/main" noGrp="1"/>
          </p:cNvSpPr>
          <p:nvPr/>
        </p:nvSpPr>
        <p:spPr>
          <a:xfrm xmlns:a="http://schemas.openxmlformats.org/drawingml/2006/main">
            <a:off x="10001250" y="2933700"/>
            <a:ext cx="1314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5 fixture Verify</a:t>
            </a:r>
          </a:p>
        </p:txBody>
      </p:sp>
      <p:sp>
        <p:nvSpPr>
          <p:cNvPr id="31" name="S4_TestDetail_2">
            <a:extLst xmlns:a="http://schemas.openxmlformats.org/drawingml/2006/main">
              <a:ext uri="{FF2B5EF4-FFF2-40B4-BE49-F238E27FC236}">
                <a16:creationId xmlns:a16="http://schemas.microsoft.com/office/drawing/2014/main" id="{75DD59B3-BFFD-41DB-94D7-A4A9BC1BEE06}"/>
              </a:ext>
            </a:extLst>
          </p:cNvPr>
          <p:cNvSpPr>
            <a:spLocks xmlns:a="http://schemas.openxmlformats.org/drawingml/2006/main" noGrp="1"/>
          </p:cNvSpPr>
          <p:nvPr/>
        </p:nvSpPr>
        <p:spPr>
          <a:xfrm xmlns:a="http://schemas.openxmlformats.org/drawingml/2006/main">
            <a:off x="8458200" y="3238500"/>
            <a:ext cx="276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975" b="0">
                <a:solidFill>
                  <a:srgbClr val="A6B3C4"/>
                </a:solidFill>
                <a:latin typeface="Segoe UI"/>
                <a:ea typeface="Segoe UI"/>
                <a:cs typeface="Segoe UI"/>
              </a:defRPr>
            </a:defPPr>
          </a:lstStyle>
          <a:p xmlns:a="http://schemas.openxmlformats.org/drawingml/2006/main">
            <a:pPr algn="l">
              <a:defRPr sz="975" b="0">
                <a:solidFill>
                  <a:srgbClr val="A6B3C4"/>
                </a:solidFill>
                <a:latin typeface="Segoe UI"/>
                <a:ea typeface="Segoe UI"/>
                <a:cs typeface="Segoe UI"/>
              </a:defRPr>
            </a:pPr>
            <a:r>
              <a:rPr sz="975" b="0">
                <a:solidFill>
                  <a:srgbClr val="A6B3C4"/>
                </a:solidFill>
                <a:latin typeface="Segoe UI"/>
                <a:ea typeface="Segoe UI"/>
                <a:cs typeface="Segoe UI"/>
              </a:rPr>
              <a:t>Bộ minh họa chạy trên UI</a:t>
            </a:r>
          </a:p>
        </p:txBody>
      </p:sp>
      <p:sp>
        <p:nvSpPr>
          <p:cNvPr id="32" name="S4_TestItem_3">
            <a:extLst xmlns:a="http://schemas.openxmlformats.org/drawingml/2006/main">
              <a:ext uri="{FF2B5EF4-FFF2-40B4-BE49-F238E27FC236}">
                <a16:creationId xmlns:a16="http://schemas.microsoft.com/office/drawing/2014/main" id="{1F9F4C1D-B7AD-4768-8AEB-3E27B5D4315B}"/>
              </a:ext>
            </a:extLst>
          </p:cNvPr>
          <p:cNvSpPr>
            <a:spLocks xmlns:a="http://schemas.openxmlformats.org/drawingml/2006/main" noGrp="1"/>
          </p:cNvSpPr>
          <p:nvPr/>
        </p:nvSpPr>
        <p:spPr>
          <a:xfrm xmlns:a="http://schemas.openxmlformats.org/drawingml/2006/main">
            <a:off x="8343900" y="3676650"/>
            <a:ext cx="3105150" cy="666750"/>
          </a:xfrm>
          <a:prstGeom xmlns:a="http://schemas.openxmlformats.org/drawingml/2006/main" prst="roundRect">
            <a:avLst>
              <a:gd name="adj" fmla="val 8571"/>
            </a:avLst>
          </a:prstGeom>
          <a:solidFill xmlns:a="http://schemas.openxmlformats.org/drawingml/2006/main">
            <a:srgbClr val="112338"/>
          </a:solidFill>
          <a:ln xmlns:a="http://schemas.openxmlformats.org/drawingml/2006/main" w="9525">
            <a:solidFill>
              <a:srgbClr val="31445C"/>
            </a:solidFill>
            <a:prstDash val="solid"/>
          </a:ln>
        </p:spPr>
      </p:sp>
      <p:sp>
        <p:nvSpPr>
          <p:cNvPr id="33" name="S4_TestBadge_3">
            <a:extLst xmlns:a="http://schemas.openxmlformats.org/drawingml/2006/main">
              <a:ext uri="{FF2B5EF4-FFF2-40B4-BE49-F238E27FC236}">
                <a16:creationId xmlns:a16="http://schemas.microsoft.com/office/drawing/2014/main" id="{08F259A7-8E0F-4B2A-B81E-394D1580AF27}"/>
              </a:ext>
            </a:extLst>
          </p:cNvPr>
          <p:cNvSpPr>
            <a:spLocks xmlns:a="http://schemas.openxmlformats.org/drawingml/2006/main" noGrp="1"/>
          </p:cNvSpPr>
          <p:nvPr/>
        </p:nvSpPr>
        <p:spPr>
          <a:xfrm xmlns:a="http://schemas.openxmlformats.org/drawingml/2006/main">
            <a:off x="8458200" y="3771900"/>
            <a:ext cx="1409700" cy="266700"/>
          </a:xfrm>
          <a:prstGeom xmlns:a="http://schemas.openxmlformats.org/drawingml/2006/main" prst="roundRect">
            <a:avLst>
              <a:gd name="adj" fmla="val 21429"/>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MÔ PHỎNG / TEST</a:t>
            </a:r>
          </a:p>
        </p:txBody>
      </p:sp>
      <p:sp>
        <p:nvSpPr>
          <p:cNvPr id="34" name="S4_TestLabel_3">
            <a:extLst xmlns:a="http://schemas.openxmlformats.org/drawingml/2006/main">
              <a:ext uri="{FF2B5EF4-FFF2-40B4-BE49-F238E27FC236}">
                <a16:creationId xmlns:a16="http://schemas.microsoft.com/office/drawing/2014/main" id="{54B7EA5C-3C51-462D-A6C0-C0D492276426}"/>
              </a:ext>
            </a:extLst>
          </p:cNvPr>
          <p:cNvSpPr>
            <a:spLocks xmlns:a="http://schemas.openxmlformats.org/drawingml/2006/main" noGrp="1"/>
          </p:cNvSpPr>
          <p:nvPr/>
        </p:nvSpPr>
        <p:spPr>
          <a:xfrm xmlns:a="http://schemas.openxmlformats.org/drawingml/2006/main">
            <a:off x="10001250" y="3771900"/>
            <a:ext cx="1314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Evidence overlay</a:t>
            </a:r>
          </a:p>
        </p:txBody>
      </p:sp>
      <p:sp>
        <p:nvSpPr>
          <p:cNvPr id="35" name="S4_TestDetail_3">
            <a:extLst xmlns:a="http://schemas.openxmlformats.org/drawingml/2006/main">
              <a:ext uri="{FF2B5EF4-FFF2-40B4-BE49-F238E27FC236}">
                <a16:creationId xmlns:a16="http://schemas.microsoft.com/office/drawing/2014/main" id="{F6A38BDB-3887-4F83-8555-0A665B0FCDA5}"/>
              </a:ext>
            </a:extLst>
          </p:cNvPr>
          <p:cNvSpPr>
            <a:spLocks xmlns:a="http://schemas.openxmlformats.org/drawingml/2006/main" noGrp="1"/>
          </p:cNvSpPr>
          <p:nvPr/>
        </p:nvSpPr>
        <p:spPr>
          <a:xfrm xmlns:a="http://schemas.openxmlformats.org/drawingml/2006/main">
            <a:off x="8458200" y="4076700"/>
            <a:ext cx="276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975" b="0">
                <a:solidFill>
                  <a:srgbClr val="A6B3C4"/>
                </a:solidFill>
                <a:latin typeface="Segoe UI"/>
                <a:ea typeface="Segoe UI"/>
                <a:cs typeface="Segoe UI"/>
              </a:defRPr>
            </a:defPPr>
          </a:lstStyle>
          <a:p xmlns:a="http://schemas.openxmlformats.org/drawingml/2006/main">
            <a:pPr algn="l">
              <a:defRPr sz="975" b="0">
                <a:solidFill>
                  <a:srgbClr val="A6B3C4"/>
                </a:solidFill>
                <a:latin typeface="Segoe UI"/>
                <a:ea typeface="Segoe UI"/>
                <a:cs typeface="Segoe UI"/>
              </a:defRPr>
            </a:pPr>
            <a:r>
              <a:rPr sz="975" b="0">
                <a:solidFill>
                  <a:srgbClr val="A6B3C4"/>
                </a:solidFill>
                <a:latin typeface="Segoe UI"/>
                <a:ea typeface="Segoe UI"/>
                <a:cs typeface="Segoe UI"/>
              </a:rPr>
              <a:t>Prototype gắn hash; chưa nối extraction</a:t>
            </a:r>
          </a:p>
        </p:txBody>
      </p:sp>
      <p:sp>
        <p:nvSpPr>
          <p:cNvPr id="36" name="S4_DeploymentBand">
            <a:extLst xmlns:a="http://schemas.openxmlformats.org/drawingml/2006/main">
              <a:ext uri="{FF2B5EF4-FFF2-40B4-BE49-F238E27FC236}">
                <a16:creationId xmlns:a16="http://schemas.microsoft.com/office/drawing/2014/main" id="{E03C8C77-CD2D-42FE-B62A-3F0766CFB734}"/>
              </a:ext>
            </a:extLst>
          </p:cNvPr>
          <p:cNvSpPr>
            <a:spLocks xmlns:a="http://schemas.openxmlformats.org/drawingml/2006/main" noGrp="1"/>
          </p:cNvSpPr>
          <p:nvPr/>
        </p:nvSpPr>
        <p:spPr>
          <a:xfrm xmlns:a="http://schemas.openxmlformats.org/drawingml/2006/main">
            <a:off x="552450" y="5181600"/>
            <a:ext cx="11087100" cy="781050"/>
          </a:xfrm>
          <a:prstGeom xmlns:a="http://schemas.openxmlformats.org/drawingml/2006/main" prst="roundRect">
            <a:avLst>
              <a:gd name="adj" fmla="val 7317"/>
            </a:avLst>
          </a:prstGeom>
          <a:solidFill xmlns:a="http://schemas.openxmlformats.org/drawingml/2006/main">
            <a:srgbClr val="162A42"/>
          </a:solidFill>
          <a:ln xmlns:a="http://schemas.openxmlformats.org/drawingml/2006/main" w="9525">
            <a:solidFill>
              <a:srgbClr val="31445C"/>
            </a:solidFill>
            <a:prstDash val="solid"/>
          </a:ln>
        </p:spPr>
      </p:sp>
      <p:sp>
        <p:nvSpPr>
          <p:cNvPr id="37" name="S4_DeploymentLabel">
            <a:extLst xmlns:a="http://schemas.openxmlformats.org/drawingml/2006/main">
              <a:ext uri="{FF2B5EF4-FFF2-40B4-BE49-F238E27FC236}">
                <a16:creationId xmlns:a16="http://schemas.microsoft.com/office/drawing/2014/main" id="{0723D093-B56A-42A0-BAA2-8349FB1199ED}"/>
              </a:ext>
            </a:extLst>
          </p:cNvPr>
          <p:cNvSpPr>
            <a:spLocks xmlns:a="http://schemas.openxmlformats.org/drawingml/2006/main" noGrp="1"/>
          </p:cNvSpPr>
          <p:nvPr/>
        </p:nvSpPr>
        <p:spPr>
          <a:xfrm xmlns:a="http://schemas.openxmlformats.org/drawingml/2006/main">
            <a:off x="742950" y="53340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1">
                <a:solidFill>
                  <a:srgbClr val="A6B3C4"/>
                </a:solidFill>
                <a:latin typeface="Segoe UI"/>
                <a:ea typeface="Segoe UI"/>
                <a:cs typeface="Segoe UI"/>
              </a:defRPr>
            </a:defPPr>
          </a:lstStyle>
          <a:p xmlns:a="http://schemas.openxmlformats.org/drawingml/2006/main">
            <a:pPr algn="l">
              <a:defRPr sz="975" b="1">
                <a:solidFill>
                  <a:srgbClr val="A6B3C4"/>
                </a:solidFill>
                <a:latin typeface="Segoe UI"/>
                <a:ea typeface="Segoe UI"/>
                <a:cs typeface="Segoe UI"/>
              </a:defRPr>
            </a:pPr>
            <a:r>
              <a:rPr sz="975" b="1">
                <a:solidFill>
                  <a:srgbClr val="A6B3C4"/>
                </a:solidFill>
                <a:latin typeface="Segoe UI"/>
                <a:ea typeface="Segoe UI"/>
                <a:cs typeface="Segoe UI"/>
              </a:rPr>
              <a:t>MÔ HÌNH TRIỂN KHAI HIỆN TẠI</a:t>
            </a:r>
          </a:p>
        </p:txBody>
      </p:sp>
      <p:sp>
        <p:nvSpPr>
          <p:cNvPr id="38" name="S4_DeploymentText">
            <a:extLst xmlns:a="http://schemas.openxmlformats.org/drawingml/2006/main">
              <a:ext uri="{FF2B5EF4-FFF2-40B4-BE49-F238E27FC236}">
                <a16:creationId xmlns:a16="http://schemas.microsoft.com/office/drawing/2014/main" id="{5E9AD0F8-1869-48C9-9332-705AF9DE7BA6}"/>
              </a:ext>
            </a:extLst>
          </p:cNvPr>
          <p:cNvSpPr>
            <a:spLocks xmlns:a="http://schemas.openxmlformats.org/drawingml/2006/main" noGrp="1"/>
          </p:cNvSpPr>
          <p:nvPr/>
        </p:nvSpPr>
        <p:spPr>
          <a:xfrm xmlns:a="http://schemas.openxmlformats.org/drawingml/2006/main">
            <a:off x="742950" y="5619750"/>
            <a:ext cx="10706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1">
                <a:solidFill>
                  <a:srgbClr val="F4F7FB"/>
                </a:solidFill>
                <a:latin typeface="Segoe UI"/>
                <a:ea typeface="Segoe UI"/>
                <a:cs typeface="Segoe UI"/>
              </a:defRPr>
            </a:defPPr>
          </a:lstStyle>
          <a:p xmlns:a="http://schemas.openxmlformats.org/drawingml/2006/main">
            <a:pPr algn="l">
              <a:defRPr sz="1275" b="1">
                <a:solidFill>
                  <a:srgbClr val="F4F7FB"/>
                </a:solidFill>
                <a:latin typeface="Segoe UI"/>
                <a:ea typeface="Segoe UI"/>
                <a:cs typeface="Segoe UI"/>
              </a:defRPr>
            </a:pPr>
            <a:r>
              <a:rPr sz="1275" b="1">
                <a:solidFill>
                  <a:srgbClr val="F4F7FB"/>
                </a:solidFill>
                <a:latin typeface="Segoe UI"/>
                <a:ea typeface="Segoe UI"/>
                <a:cs typeface="Segoe UI"/>
              </a:rPr>
              <a:t>localhost • một process • AI qua OpenRouter / Alibaba • fallback Ollama mặc định tắt</a:t>
            </a:r>
          </a:p>
        </p:txBody>
      </p:sp>
    </p:spTree>
    <p:extLst>
      <p:ext uri="{BB962C8B-B14F-4D97-AF65-F5344CB8AC3E}">
        <p14:creationId xmlns:p14="http://schemas.microsoft.com/office/powerpoint/2010/main" val="1512384"/>
      </p:ext>
    </p:extLst>
  </p:cSld>
</p:sld>
</file>

<file path=ppt/slides/slide5.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9" name="Slide_Title">
            <a:extLst xmlns:a="http://schemas.openxmlformats.org/drawingml/2006/main">
              <a:ext uri="{FF2B5EF4-FFF2-40B4-BE49-F238E27FC236}">
                <a16:creationId xmlns:a16="http://schemas.microsoft.com/office/drawing/2014/main" id="{624189A8-5B68-431F-8BAC-014B16E33833}"/>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Lỗi đã quan sát, hạn chế còn lại và hướng xử lý</a:t>
            </a:r>
          </a:p>
        </p:txBody>
      </p:sp>
      <p:sp>
        <p:nvSpPr>
          <p:cNvPr id="2" name="Slide_Subtitle">
            <a:extLst xmlns:a="http://schemas.openxmlformats.org/drawingml/2006/main">
              <a:ext uri="{FF2B5EF4-FFF2-40B4-BE49-F238E27FC236}">
                <a16:creationId xmlns:a16="http://schemas.microsoft.com/office/drawing/2014/main" id="{FDB201C2-495B-4E1E-B431-71AA7636D02F}"/>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Mỗi vấn đề có nguyên nhân, phản ứng an toàn và điều kiện xác nhận trước khi mở rộng.</a:t>
            </a:r>
          </a:p>
        </p:txBody>
      </p:sp>
      <p:sp>
        <p:nvSpPr>
          <p:cNvPr id="3" name="S5_ObservedHeading">
            <a:extLst xmlns:a="http://schemas.openxmlformats.org/drawingml/2006/main">
              <a:ext uri="{FF2B5EF4-FFF2-40B4-BE49-F238E27FC236}">
                <a16:creationId xmlns:a16="http://schemas.microsoft.com/office/drawing/2014/main" id="{9ED4F785-F584-4CFC-BC85-0C3637E97FF6}"/>
              </a:ext>
            </a:extLst>
          </p:cNvPr>
          <p:cNvSpPr>
            <a:spLocks xmlns:a="http://schemas.openxmlformats.org/drawingml/2006/main" noGrp="1"/>
          </p:cNvSpPr>
          <p:nvPr/>
        </p:nvSpPr>
        <p:spPr>
          <a:xfrm xmlns:a="http://schemas.openxmlformats.org/drawingml/2006/main">
            <a:off x="552450" y="1314450"/>
            <a:ext cx="533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1">
                <a:solidFill>
                  <a:srgbClr val="C59A4A"/>
                </a:solidFill>
                <a:latin typeface="Segoe UI"/>
                <a:ea typeface="Segoe UI"/>
                <a:cs typeface="Segoe UI"/>
              </a:defRPr>
            </a:def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1. LỖI ĐÃ QUAN SÁT</a:t>
            </a:r>
          </a:p>
        </p:txBody>
      </p:sp>
      <p:sp>
        <p:nvSpPr>
          <p:cNvPr id="4" name="S5_RoadmapHeading">
            <a:extLst xmlns:a="http://schemas.openxmlformats.org/drawingml/2006/main">
              <a:ext uri="{FF2B5EF4-FFF2-40B4-BE49-F238E27FC236}">
                <a16:creationId xmlns:a16="http://schemas.microsoft.com/office/drawing/2014/main" id="{80279128-8207-4B9B-93F9-6193BF8A3FDB}"/>
              </a:ext>
            </a:extLst>
          </p:cNvPr>
          <p:cNvSpPr>
            <a:spLocks xmlns:a="http://schemas.openxmlformats.org/drawingml/2006/main" noGrp="1"/>
          </p:cNvSpPr>
          <p:nvPr/>
        </p:nvSpPr>
        <p:spPr>
          <a:xfrm xmlns:a="http://schemas.openxmlformats.org/drawingml/2006/main">
            <a:off x="6115050" y="1314450"/>
            <a:ext cx="5524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1">
                <a:solidFill>
                  <a:srgbClr val="4FAF91"/>
                </a:solidFill>
                <a:latin typeface="Segoe UI"/>
                <a:ea typeface="Segoe UI"/>
                <a:cs typeface="Segoe UI"/>
              </a:defRPr>
            </a:defPPr>
          </a:lstStyle>
          <a:p xmlns:a="http://schemas.openxmlformats.org/drawingml/2006/main">
            <a:pPr algn="l">
              <a:defRPr sz="1050" b="1">
                <a:solidFill>
                  <a:srgbClr val="4FAF91"/>
                </a:solidFill>
                <a:latin typeface="Segoe UI"/>
                <a:ea typeface="Segoe UI"/>
                <a:cs typeface="Segoe UI"/>
              </a:defRPr>
            </a:pPr>
            <a:r>
              <a:rPr sz="1050" b="1">
                <a:solidFill>
                  <a:srgbClr val="4FAF91"/>
                </a:solidFill>
                <a:latin typeface="Segoe UI"/>
                <a:ea typeface="Segoe UI"/>
                <a:cs typeface="Segoe UI"/>
              </a:rPr>
              <a:t>2. HẠN CHẾ CÒN LẠI                         3. HƯỚNG XỬ LÝ TIẾP THEO</a:t>
            </a:r>
          </a:p>
        </p:txBody>
      </p:sp>
      <p:graphicFrame>
        <p:nvGraphicFramePr>
          <p:cNvPr id="5" name="S5_ObservedErrorsTable">
            <a:extLst xmlns:a="http://schemas.openxmlformats.org/drawingml/2006/main">
              <a:ext uri="{FF2B5EF4-FFF2-40B4-BE49-F238E27FC236}">
                <a16:creationId xmlns:a16="http://schemas.microsoft.com/office/drawing/2014/main" id="{4BD1FA37-B574-4272-976B-199F5D3CCE0F}"/>
              </a:ext>
            </a:extLst>
          </p:cNvPr>
          <p:cNvGraphicFramePr/>
          <p:nvPr/>
        </p:nvGraphicFramePr>
        <p:xfrm>
          <a:off xmlns:a="http://schemas.openxmlformats.org/drawingml/2006/main" x="552450" y="1619250"/>
          <a:ext xmlns:a="http://schemas.openxmlformats.org/drawingml/2006/main" cx="5334000" cy="4000500"/>
        </p:xfrm>
        <a:graphic xmlns:a="http://schemas.openxmlformats.org/drawingml/2006/main">
          <a:graphicData uri="http://schemas.openxmlformats.org/drawingml/2006/table">
            <a:tbl>
              <a:tblPr/>
              <a:tblGrid>
                <a:gridCol w="1428750"/>
                <a:gridCol w="3905250"/>
              </a:tblGrid>
              <a:tr h="400050">
                <a:tc>
                  <a:txBody>
                    <a:bodyPr/>
                    <a:lstStyle/>
                    <a:p>
                      <a:r>
                        <a:rPr sz="900" b="1">
                          <a:solidFill>
                            <a:srgbClr val="A6B3C4"/>
                          </a:solidFill>
                          <a:latin typeface="Segoe UI"/>
                          <a:ea typeface="Segoe UI"/>
                          <a:cs typeface="Segoe UI"/>
                        </a:rPr>
                        <a:t>EVIDENCE</a:t>
                      </a:r>
                    </a:p>
                  </a:txBody>
                  <a:tcPr marL="85725" marR="85725" marT="66675" marB="66675">
                    <a:lnL w="9525">
                      <a:solidFill>
                        <a:srgbClr val="31445C"/>
                      </a:solidFill>
                      <a:prstDash val="solid"/>
                    </a:lnL>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NGUYÊN NHÂN VÀ PHẢN ỨNG CỦA HỆ THỐNG</a:t>
                      </a:r>
                    </a:p>
                  </a:txBody>
                  <a:tcPr marL="85725" marR="85725"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r>
              <a:tr h="1200150">
                <a:tc>
                  <a:txBody>
                    <a:bodyPr/>
                    <a:lstStyle/>
                    <a:p>
                      <a:r>
                        <a:rPr sz="1050" b="1">
                          <a:solidFill>
                            <a:srgbClr val="C59A4A"/>
                          </a:solidFill>
                          <a:latin typeface="Segoe UI"/>
                          <a:ea typeface="Segoe UI"/>
                          <a:cs typeface="Segoe UI"/>
                        </a:rPr>
                        <a:t>2/10</a:t>
                      </a:r>
                    </a:p>
                    <a:p>
                      <a:r>
                        <a:rPr sz="1050" b="1">
                          <a:solidFill>
                            <a:srgbClr val="C59A4A"/>
                          </a:solidFill>
                          <a:latin typeface="Segoe UI"/>
                          <a:ea typeface="Segoe UI"/>
                          <a:cs typeface="Segoe UI"/>
                        </a:rPr>
                        <a:t>over-escalation</a:t>
                      </a:r>
                    </a:p>
                  </a:txBody>
                  <a:tcPr marL="85725" marR="85725"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FAHASA: nhãn ‘Thanh toán’ bị validator từ chối. GS25_2: model bỏ tên cửa hàng gần vùng che. AURA chuyển FACT để người duyệt kiểm tra; 0 missed, 0 lỗi provider.</a:t>
                      </a:r>
                    </a:p>
                  </a:txBody>
                  <a:tcPr marL="85725" marR="85725" marT="66675" marB="66675">
                    <a:lnR w="9525">
                      <a:solidFill>
                        <a:srgbClr val="31445C"/>
                      </a:solidFill>
                      <a:prstDash val="solid"/>
                    </a:lnR>
                    <a:lnB w="9525">
                      <a:solidFill>
                        <a:srgbClr val="31445C"/>
                      </a:solidFill>
                      <a:prstDash val="solid"/>
                    </a:lnB>
                    <a:solidFill>
                      <a:srgbClr val="112338"/>
                    </a:solidFill>
                  </a:tcPr>
                </a:tc>
              </a:tr>
              <a:tr h="1200150">
                <a:tc>
                  <a:txBody>
                    <a:bodyPr/>
                    <a:lstStyle/>
                    <a:p>
                      <a:r>
                        <a:rPr sz="1050" b="1">
                          <a:solidFill>
                            <a:srgbClr val="C59A4A"/>
                          </a:solidFill>
                          <a:latin typeface="Segoe UI"/>
                          <a:ea typeface="Segoe UI"/>
                          <a:cs typeface="Segoe UI"/>
                        </a:rPr>
                        <a:t>2/30</a:t>
                      </a:r>
                    </a:p>
                    <a:p>
                      <a:r>
                        <a:rPr sz="1050" b="1">
                          <a:solidFill>
                            <a:srgbClr val="C59A4A"/>
                          </a:solidFill>
                          <a:latin typeface="Segoe UI"/>
                          <a:ea typeface="Segoe UI"/>
                          <a:cs typeface="Segoe UI"/>
                        </a:rPr>
                        <a:t>field trọng yếu sai</a:t>
                      </a:r>
                    </a:p>
                  </a:txBody>
                  <a:tcPr marL="85725" marR="85725"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Phương Nam: vùng che làm mất ngày và model suy diễn nhầm identifier. Quyết định vẫn FACT; evidence công bố rõ confounder, không ghi đè raw.</a:t>
                      </a:r>
                    </a:p>
                  </a:txBody>
                  <a:tcPr marL="85725" marR="85725" marT="66675" marB="66675">
                    <a:lnR w="9525">
                      <a:solidFill>
                        <a:srgbClr val="31445C"/>
                      </a:solidFill>
                      <a:prstDash val="solid"/>
                    </a:lnR>
                    <a:lnB w="9525">
                      <a:solidFill>
                        <a:srgbClr val="31445C"/>
                      </a:solidFill>
                      <a:prstDash val="solid"/>
                    </a:lnB>
                    <a:solidFill>
                      <a:srgbClr val="112338"/>
                    </a:solidFill>
                  </a:tcPr>
                </a:tc>
              </a:tr>
              <a:tr h="1200150">
                <a:tc>
                  <a:txBody>
                    <a:bodyPr/>
                    <a:lstStyle/>
                    <a:p>
                      <a:r>
                        <a:rPr sz="1050" b="1">
                          <a:solidFill>
                            <a:srgbClr val="C59A4A"/>
                          </a:solidFill>
                          <a:latin typeface="Segoe UI"/>
                          <a:ea typeface="Segoe UI"/>
                          <a:cs typeface="Segoe UI"/>
                        </a:rPr>
                        <a:t>10/12</a:t>
                      </a:r>
                    </a:p>
                    <a:p>
                      <a:r>
                        <a:rPr sz="1050" b="1">
                          <a:solidFill>
                            <a:srgbClr val="C59A4A"/>
                          </a:solidFill>
                          <a:latin typeface="Segoe UI"/>
                          <a:ea typeface="Segoe UI"/>
                          <a:cs typeface="Segoe UI"/>
                        </a:rPr>
                        <a:t>regression known data</a:t>
                      </a:r>
                    </a:p>
                  </a:txBody>
                  <a:tcPr marL="85725" marR="85725"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Vẫn gặp hai failure mode trên. Lượt tuần tự 11/12 cho thấy extraction variance; không tune bằng chính 12 ảnh đã biết.</a:t>
                      </a:r>
                    </a:p>
                  </a:txBody>
                  <a:tcPr marL="85725" marR="85725" marT="66675" marB="66675">
                    <a:lnR w="9525">
                      <a:solidFill>
                        <a:srgbClr val="31445C"/>
                      </a:solidFill>
                      <a:prstDash val="solid"/>
                    </a:lnR>
                    <a:lnB w="9525">
                      <a:solidFill>
                        <a:srgbClr val="31445C"/>
                      </a:solidFill>
                      <a:prstDash val="solid"/>
                    </a:lnB>
                    <a:solidFill>
                      <a:srgbClr val="112338"/>
                    </a:solidFill>
                  </a:tcPr>
                </a:tc>
              </a:tr>
            </a:tbl>
          </a:graphicData>
        </a:graphic>
      </p:graphicFrame>
      <p:graphicFrame>
        <p:nvGraphicFramePr>
          <p:cNvPr id="6" name="S5_RoadmapTable">
            <a:extLst xmlns:a="http://schemas.openxmlformats.org/drawingml/2006/main">
              <a:ext uri="{FF2B5EF4-FFF2-40B4-BE49-F238E27FC236}">
                <a16:creationId xmlns:a16="http://schemas.microsoft.com/office/drawing/2014/main" id="{003D3FC3-6346-49D2-98D6-6323D2D2E146}"/>
              </a:ext>
            </a:extLst>
          </p:cNvPr>
          <p:cNvGraphicFramePr/>
          <p:nvPr/>
        </p:nvGraphicFramePr>
        <p:xfrm>
          <a:off xmlns:a="http://schemas.openxmlformats.org/drawingml/2006/main" x="6115050" y="1619250"/>
          <a:ext xmlns:a="http://schemas.openxmlformats.org/drawingml/2006/main" cx="5524500" cy="4000500"/>
        </p:xfrm>
        <a:graphic xmlns:a="http://schemas.openxmlformats.org/drawingml/2006/main">
          <a:graphicData uri="http://schemas.openxmlformats.org/drawingml/2006/table">
            <a:tbl>
              <a:tblPr/>
              <a:tblGrid>
                <a:gridCol w="1962150"/>
                <a:gridCol w="3562350"/>
              </a:tblGrid>
              <a:tr h="400050">
                <a:tc>
                  <a:txBody>
                    <a:bodyPr/>
                    <a:lstStyle/>
                    <a:p>
                      <a:r>
                        <a:rPr sz="900" b="1">
                          <a:solidFill>
                            <a:srgbClr val="A6B3C4"/>
                          </a:solidFill>
                          <a:latin typeface="Segoe UI"/>
                          <a:ea typeface="Segoe UI"/>
                          <a:cs typeface="Segoe UI"/>
                        </a:rPr>
                        <a:t>HẠN CHẾ</a:t>
                      </a:r>
                    </a:p>
                  </a:txBody>
                  <a:tcPr marL="76200" marR="76200" marT="57150" marB="57150">
                    <a:lnL w="9525">
                      <a:solidFill>
                        <a:srgbClr val="31445C"/>
                      </a:solidFill>
                      <a:prstDash val="solid"/>
                    </a:lnL>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HƯỚNG XỬ LÝ VÀ GATE XÁC NHẬN</a:t>
                      </a:r>
                    </a:p>
                  </a:txBody>
                  <a:tcPr marL="76200" marR="76200" marT="57150" marB="57150">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r>
              <a:tr h="714375">
                <a:tc>
                  <a:txBody>
                    <a:bodyPr/>
                    <a:lstStyle/>
                    <a:p>
                      <a:r>
                        <a:rPr sz="900" b="1">
                          <a:solidFill>
                            <a:srgbClr val="C59A4A"/>
                          </a:solidFill>
                          <a:latin typeface="Segoe UI"/>
                          <a:ea typeface="Segoe UI"/>
                          <a:cs typeface="Segoe UI"/>
                        </a:rPr>
                        <a:t>Feedback 3 user còn PENDING</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Chạy paired protocol; khóa ngưỡng trước kết quả. Gate: 3 record có consent và giữ feedback tiêu cực.</a:t>
                      </a: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a:ea typeface="Segoe UI"/>
                          <a:cs typeface="Segoe UI"/>
                        </a:rPr>
                        <a:t>Limiter / lock theo process</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Đưa limiter, cooldown, circuit và Verify lock ra storage phân tán. Gate: test capacity multi-instance.</a:t>
                      </a: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a:ea typeface="Segoe UI"/>
                          <a:cs typeface="Segoe UI"/>
                        </a:rPr>
                        <a:t>PDF + object storage</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Thêm PDF ingestion và private object store. Gate: MIME, AV và retrieval regression đều pass.</a:t>
                      </a: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a:ea typeface="Segoe UI"/>
                          <a:cs typeface="Segoe UI"/>
                        </a:rPr>
                        <a:t>RBAC</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Lập role matrix và authorization tests. Gate: thao tác sai quyền bị chặn và có audit.</a:t>
                      </a: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a:ea typeface="Segoe UI"/>
                          <a:cs typeface="Segoe UI"/>
                        </a:rPr>
                        <a:t>Overlay mới là prototype</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Chuẩn hóa bounding box + fallback low-confidence. Gate: localization QA trên receipt unseen.</a:t>
                      </a:r>
                    </a:p>
                  </a:txBody>
                  <a:tcPr marL="76200" marR="76200" marT="57150" marB="57150">
                    <a:lnR w="9525">
                      <a:solidFill>
                        <a:srgbClr val="31445C"/>
                      </a:solidFill>
                      <a:prstDash val="solid"/>
                    </a:lnR>
                    <a:lnB w="9525">
                      <a:solidFill>
                        <a:srgbClr val="31445C"/>
                      </a:solidFill>
                      <a:prstDash val="solid"/>
                    </a:lnB>
                    <a:solidFill>
                      <a:srgbClr val="112338"/>
                    </a:solidFill>
                  </a:tcPr>
                </a:tc>
              </a:tr>
            </a:tbl>
          </a:graphicData>
        </a:graphic>
      </p:graphicFrame>
      <p:sp>
        <p:nvSpPr>
          <p:cNvPr id="7" name="S5_PrincipleBand">
            <a:extLst xmlns:a="http://schemas.openxmlformats.org/drawingml/2006/main">
              <a:ext uri="{FF2B5EF4-FFF2-40B4-BE49-F238E27FC236}">
                <a16:creationId xmlns:a16="http://schemas.microsoft.com/office/drawing/2014/main" id="{3CD7F064-CC91-4D2F-A8D0-E16102CB1562}"/>
              </a:ext>
            </a:extLst>
          </p:cNvPr>
          <p:cNvSpPr>
            <a:spLocks xmlns:a="http://schemas.openxmlformats.org/drawingml/2006/main" noGrp="1"/>
          </p:cNvSpPr>
          <p:nvPr/>
        </p:nvSpPr>
        <p:spPr>
          <a:xfrm xmlns:a="http://schemas.openxmlformats.org/drawingml/2006/main">
            <a:off x="552450" y="5810250"/>
            <a:ext cx="11087100" cy="419100"/>
          </a:xfrm>
          <a:prstGeom xmlns:a="http://schemas.openxmlformats.org/drawingml/2006/main" prst="roundRect">
            <a:avLst>
              <a:gd name="adj" fmla="val 13636"/>
            </a:avLst>
          </a:prstGeom>
          <a:solidFill xmlns:a="http://schemas.openxmlformats.org/drawingml/2006/main">
            <a:srgbClr val="162A42"/>
          </a:solidFill>
          <a:ln xmlns:a="http://schemas.openxmlformats.org/drawingml/2006/main" w="9525">
            <a:solidFill>
              <a:srgbClr val="31445C"/>
            </a:solidFill>
            <a:prstDash val="solid"/>
          </a:ln>
        </p:spPr>
      </p:sp>
      <p:sp>
        <p:nvSpPr>
          <p:cNvPr id="8" name="S5_PrincipleText">
            <a:extLst xmlns:a="http://schemas.openxmlformats.org/drawingml/2006/main">
              <a:ext uri="{FF2B5EF4-FFF2-40B4-BE49-F238E27FC236}">
                <a16:creationId xmlns:a16="http://schemas.microsoft.com/office/drawing/2014/main" id="{2A2FFF7D-4A85-4133-B8AB-4405AE92485E}"/>
              </a:ext>
            </a:extLst>
          </p:cNvPr>
          <p:cNvSpPr>
            <a:spLocks xmlns:a="http://schemas.openxmlformats.org/drawingml/2006/main" noGrp="1"/>
          </p:cNvSpPr>
          <p:nvPr/>
        </p:nvSpPr>
        <p:spPr>
          <a:xfrm xmlns:a="http://schemas.openxmlformats.org/drawingml/2006/main">
            <a:off x="704850" y="5924550"/>
            <a:ext cx="10782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125" b="1">
                <a:solidFill>
                  <a:srgbClr val="F4F7FB"/>
                </a:solidFill>
                <a:latin typeface="Segoe UI"/>
                <a:ea typeface="Segoe UI"/>
                <a:cs typeface="Segoe UI"/>
              </a:defRPr>
            </a:defPPr>
          </a:lstStyle>
          <a:p xmlns:a="http://schemas.openxmlformats.org/drawingml/2006/main">
            <a:pPr algn="ctr">
              <a:defRPr sz="1125" b="1">
                <a:solidFill>
                  <a:srgbClr val="F4F7FB"/>
                </a:solidFill>
                <a:latin typeface="Segoe UI"/>
                <a:ea typeface="Segoe UI"/>
                <a:cs typeface="Segoe UI"/>
              </a:defRPr>
            </a:pPr>
            <a:r>
              <a:rPr sz="1125" b="1">
                <a:solidFill>
                  <a:srgbClr val="F4F7FB"/>
                </a:solidFill>
                <a:latin typeface="Segoe UI"/>
                <a:ea typeface="Segoe UI"/>
                <a:cs typeface="Segoe UI"/>
              </a:rPr>
              <a:t>Giữ fail-safe, không tune bằng holdout; mọi cải tiến phải có fixture độc lập và gate xác nhận.</a:t>
            </a:r>
          </a:p>
        </p:txBody>
      </p:sp>
    </p:spTree>
    <p:extLst>
      <p:ext uri="{BB962C8B-B14F-4D97-AF65-F5344CB8AC3E}">
        <p14:creationId xmlns:p14="http://schemas.microsoft.com/office/powerpoint/2010/main" val="1092959788"/>
      </p:ext>
    </p:extLst>
  </p:cSld>
</p:sld>
</file>

<file path=ppt/theme/theme1.xml><?xml version="1.0" encoding="utf-8"?>
<a:theme xmlns:a="http://schemas.openxmlformats.org/drawingml/2006/main" name="ChatGPT">
  <a:themeElements>
    <a:clrScheme name="AURA restrained navy">
      <a:dk1>
        <a:srgbClr val="091522"/>
      </a:dk1>
      <a:lt1>
        <a:srgbClr val="F4F7FB"/>
      </a:lt1>
      <a:dk2>
        <a:srgbClr val="162A42"/>
      </a:dk2>
      <a:lt2>
        <a:srgbClr val="A6B3C4"/>
      </a:lt2>
      <a:accent1>
        <a:srgbClr val="5F8FD8"/>
      </a:accent1>
      <a:accent2>
        <a:srgbClr val="45A9BE"/>
      </a:accent2>
      <a:accent3>
        <a:srgbClr val="C59A4A"/>
      </a:accent3>
      <a:accent4>
        <a:srgbClr val="4FAF91"/>
      </a:accent4>
      <a:accent5>
        <a:srgbClr val="162A42"/>
      </a:accent5>
      <a:accent6>
        <a:srgbClr val="31445C"/>
      </a:accent6>
      <a:hlink>
        <a:srgbClr val="5F8FD8"/>
      </a:hlink>
      <a:folHlink>
        <a:srgbClr val="45A9BE"/>
      </a:folHlink>
    </a:clrScheme>
    <a:fontScheme name="">
      <a:majorFont>
        <a:latin typeface="Segoe UI"/>
        <a:ea typeface=""/>
        <a:cs typeface=""/>
      </a:majorFont>
      <a:minorFont>
        <a:latin typeface="Segoe UI"/>
        <a:ea typeface=""/>
        <a:cs typeface=""/>
      </a:minorFont>
    </a:fontScheme>
    <a:fmtScheme name="AURA restrained nav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2026-10-15T18:00:25.9460000Z</dcterms:created>
  <dcterms:modified xsi:type="dcterms:W3CDTF">2026-10-15T18:00:25.9460000Z</dcterms:modified>
</coreProperties>
</file>
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248b3de1224ce8" /><Relationship Type="http://schemas.openxmlformats.org/officeDocument/2006/relationships/extended-properties" Target="/docProps/app.xml" Id="R9b194bc377284bf1" /><Relationship Type="http://schemas.openxmlformats.org/officeDocument/2006/relationships/officeDocument" Target="/ppt/presentation.xml" Id="Rcde3aa155f5049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87258b15484fad"/>
  </p:sldMasterIdLst>
  <p:notesMasterIdLst>
    <p:notesMasterId xmlns:r="http://schemas.openxmlformats.org/officeDocument/2006/relationships" r:id="Rb1b0cf6340584a85"/>
  </p:notesMasterIdLst>
  <p:sldIdLst>
    <p:sldId xmlns:r="http://schemas.openxmlformats.org/officeDocument/2006/relationships" id="256" r:id="Rb6523978cecf486a"/>
    <p:sldId xmlns:r="http://schemas.openxmlformats.org/officeDocument/2006/relationships" id="257" r:id="R7a8b0fd498fd409a"/>
    <p:sldId xmlns:r="http://schemas.openxmlformats.org/officeDocument/2006/relationships" id="258" r:id="R6d9c3a125b74463a"/>
    <p:sldId xmlns:r="http://schemas.openxmlformats.org/officeDocument/2006/relationships" id="259" r:id="Rf66c80d287f04017"/>
    <p:sldId xmlns:r="http://schemas.openxmlformats.org/officeDocument/2006/relationships" id="260" r:id="R4a0614f7bd9a4c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b5f6accb3449af" /><Relationship Type="http://schemas.openxmlformats.org/officeDocument/2006/relationships/slideMaster" Target="/ppt/slideMasters/slideMaster1.xml" Id="R3b87258b15484fad" /><Relationship Type="http://schemas.openxmlformats.org/officeDocument/2006/relationships/notesMaster" Target="/ppt/notesMasters/notesMaster1.xml" Id="Rb1b0cf6340584a85" /><Relationship Type="http://schemas.openxmlformats.org/officeDocument/2006/relationships/presProps" Target="/ppt/presProps.xml" Id="R07e2c4c956034c30" /><Relationship Type="http://schemas.openxmlformats.org/officeDocument/2006/relationships/tableStyles" Target="/ppt/tableStyles.xml" Id="Rd3c335f322ac4d4b" /><Relationship Type="http://schemas.openxmlformats.org/officeDocument/2006/relationships/slide" Target="/ppt/slides/slide1.xml" Id="Rb6523978cecf486a" /><Relationship Type="http://schemas.openxmlformats.org/officeDocument/2006/relationships/slide" Target="/ppt/slides/slide2.xml" Id="R7a8b0fd498fd409a" /><Relationship Type="http://schemas.openxmlformats.org/officeDocument/2006/relationships/slide" Target="/ppt/slides/slide3.xml" Id="R6d9c3a125b74463a" /><Relationship Type="http://schemas.openxmlformats.org/officeDocument/2006/relationships/slide" Target="/ppt/slides/slide4.xml" Id="Rf66c80d287f04017" /><Relationship Type="http://schemas.openxmlformats.org/officeDocument/2006/relationships/slide" Target="/ppt/slides/slide5.xml" Id="R4a0614f7bd9a4c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d134344ac24d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966334e15e406e" /><Relationship Type="http://schemas.openxmlformats.org/officeDocument/2006/relationships/notesMaster" Target="/ppt/notesMasters/notesMaster1.xml" Id="R698a825e652240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4d572bfc614629" /><Relationship Type="http://schemas.openxmlformats.org/officeDocument/2006/relationships/notesMaster" Target="/ppt/notesMasters/notesMaster1.xml" Id="Rb1fa9e38ed564d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14f2781c054293" /><Relationship Type="http://schemas.openxmlformats.org/officeDocument/2006/relationships/notesMaster" Target="/ppt/notesMasters/notesMaster1.xml" Id="R7f6581e31b6843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1d7d88a7374ab6" /><Relationship Type="http://schemas.openxmlformats.org/officeDocument/2006/relationships/notesMaster" Target="/ppt/notesMasters/notesMaster1.xml" Id="R729e270e94d34b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fe5d23cbfa493e" /><Relationship Type="http://schemas.openxmlformats.org/officeDocument/2006/relationships/notesMaster" Target="/ppt/notesMasters/notesMaster1.xml" Id="R763ac38b720e48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Hiện trạng và nguyên tắc thiết kế của AURA; không dùng số liệu hiệu quả chưa đo.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chi tiết: submission/AURA_WORKFLOW_SPEC.md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cập nhật 11/10/2026: 142/142 test offline và EF model sạch. Live health/public endpoint, Verify 5/5, workflow/Audit/Undo, desktop/mobile 390x844 và điện thoại thật 4G/5G đều pass. Official holdout giữ raw 10/15 và adjusted 11/15; post-holdout regression trên cùng 15 receipt đạt 11/15, 0 missed escalation, 4 over-escalation, 0 system error. Đây là mẫu nhỏ và không phải accuracy production; ba user session và rehearsal vẫn là gate.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và hướng dẫn chạy localhost: https://github.com/BondPhuPhamzZ/AURA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kỹ thuật trong repo: ReceiptProcessingWorker.cs, ReceiptExtractionContract.cs, PolicyDecisionEngine.cs, VietnamTime.cs, tools/Invoke-ExtendedDatasetEvaluation.ps1, docs/CURRENT_PROJECT_STATUS_2026-10-07.md và docs/REAL_RECEIPT_REGRESSION_RESULT_2026-10-07.md. Fallback vẫn opt-in và mặc định tắt; OpenRouter 8B là baseline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e3c41d7ffc4f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1996db742d49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66cf768ad44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4a642661443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b93b2b68a46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76ea9e4f5040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7D8926-5FAC-47A8-9D01-BB9F8B3DFD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121C3F3-CC5E-4244-82A2-28DDAE10E8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5B5808C-FC17-4683-B8B8-16273C95E6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10C778-38E2-4D51-916E-AE9ECFCCA4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CD2DD1E-9898-4E78-BF69-7281761E23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C34F14-3BF7-4971-A5DC-77D2698DEE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55EECE-B311-4B26-B76B-23A4153814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096AAE8-A3E7-46D1-9D98-132E07D9EA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912FCD-7E00-4427-86EA-8A5193EC6D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59989B-FD2C-475E-8862-06B0171F04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65fce4647944db" /><Relationship Type="http://schemas.openxmlformats.org/officeDocument/2006/relationships/slideLayout" Target="/ppt/slideLayouts/slideLayout1.xml" Id="R9c7e93061e144341" /><Relationship Type="http://schemas.openxmlformats.org/officeDocument/2006/relationships/slideLayout" Target="/ppt/slideLayouts/slideLayout2.xml" Id="Rb20ab0f698f94324" /><Relationship Type="http://schemas.openxmlformats.org/officeDocument/2006/relationships/slideLayout" Target="/ppt/slideLayouts/slideLayout3.xml" Id="Rfbf945bcedc74601" /><Relationship Type="http://schemas.openxmlformats.org/officeDocument/2006/relationships/slideLayout" Target="/ppt/slideLayouts/slideLayout4.xml" Id="Rad576e50864746f2" /><Relationship Type="http://schemas.openxmlformats.org/officeDocument/2006/relationships/slideLayout" Target="/ppt/slideLayouts/slideLayout5.xml" Id="R8b0fc88fd3194571" /><Relationship Type="http://schemas.openxmlformats.org/officeDocument/2006/relationships/slideLayout" Target="/ppt/slideLayouts/slideLayout6.xml" Id="R7452dfef78a943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7e93061e144341"/>
    <p:sldLayoutId xmlns:r="http://schemas.openxmlformats.org/officeDocument/2006/relationships" id="2147483650" r:id="Rb20ab0f698f94324"/>
    <p:sldLayoutId xmlns:r="http://schemas.openxmlformats.org/officeDocument/2006/relationships" id="2147483651" r:id="Rfbf945bcedc74601"/>
    <p:sldLayoutId xmlns:r="http://schemas.openxmlformats.org/officeDocument/2006/relationships" id="2147483652" r:id="Rad576e50864746f2"/>
    <p:sldLayoutId xmlns:r="http://schemas.openxmlformats.org/officeDocument/2006/relationships" id="2147483653" r:id="R8b0fc88fd3194571"/>
    <p:sldLayoutId xmlns:r="http://schemas.openxmlformats.org/officeDocument/2006/relationships" id="2147483654" r:id="R7452dfef78a943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0b4118a6b34890" /><Relationship Type="http://schemas.openxmlformats.org/officeDocument/2006/relationships/notesSlide" Target="/ppt/notesSlides/notesSlide1.xml" Id="R730c2438d45d4c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bd3e6510894719" /><Relationship Type="http://schemas.openxmlformats.org/officeDocument/2006/relationships/notesSlide" Target="/ppt/notesSlides/notesSlide2.xml" Id="R9dbcc10be64744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b796130e3e4d5e" /><Relationship Type="http://schemas.openxmlformats.org/officeDocument/2006/relationships/notesSlide" Target="/ppt/notesSlides/notesSlide3.xml" Id="R66a8f5baa9754c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d6c499e5834266" /><Relationship Type="http://schemas.openxmlformats.org/officeDocument/2006/relationships/notesSlide" Target="/ppt/notesSlides/notesSlide4.xml" Id="R5ac91110010d4b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66535739564a26" /><Relationship Type="http://schemas.openxmlformats.org/officeDocument/2006/relationships/notesSlide" Target="/ppt/notesSlides/notesSlide5.xml" Id="Rd3d8289c24ab48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710B1B-E200-4F20-96E2-C19303CD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574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A4262"/>
          </a:solidFill>
          <a:ln xmlns:a="http://schemas.openxmlformats.org/drawingml/2006/main" w="0">
            <a:solidFill>
              <a:srgbClr val="2A426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A048B-69FA-4D02-B6A0-67750C32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574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A4262"/>
          </a:solidFill>
          <a:ln xmlns:a="http://schemas.openxmlformats.org/drawingml/2006/main" w="0">
            <a:solidFill>
              <a:srgbClr val="2A426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140FE-E420-4544-BC0C-926AA98D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0574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A4262"/>
          </a:solidFill>
          <a:ln xmlns:a="http://schemas.openxmlformats.org/drawingml/2006/main" w="0">
            <a:solidFill>
              <a:srgbClr val="2A426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3C5C6-6BA4-448B-8489-8D8D7ABA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0574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A4262"/>
          </a:solidFill>
          <a:ln xmlns:a="http://schemas.openxmlformats.org/drawingml/2006/main" w="0">
            <a:solidFill>
              <a:srgbClr val="2A4262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7C5426-6257-44A2-B404-A8582AE8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256F3-904A-47DE-B73F-6F7CBE2A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Hoàn ứng hôm nay: nhiều điểm chờ, ít bằng chứng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90D95-C506-4F83-9FBC-E70FBC91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AURA biến ngoại lệ thành câu hỏi có thể quyết định — không giao quyền duyệt cho AI.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371D8-D211-4C1A-83C4-9EE525F4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8AF6C-22C2-423F-8E4F-978C1B91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15049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836F6-842F-4D90-A6BB-1BDC1CF2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82880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09E19-F6B9-474E-995B-AFF4A755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Gửi hóa đơn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4F0AD-22A8-43D6-BC84-61720CA9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Ảnh + số tiền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D94BB-2BFF-406A-9552-A723C328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695450"/>
            <a:ext cx="15049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5E264-4098-4BCE-9D6A-2E37190F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82880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D23DE-36CB-42E6-A22E-A92EE5C0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907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Đọc thủ công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98664E-CAB6-4F76-BA91-BE1501DD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4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Dễ sai định dạng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3F409-59B9-41D0-8DCA-A15AE18B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95450"/>
            <a:ext cx="15049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3AA95-7676-4CBF-A381-435718D9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82880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8C14C"/>
          </a:solidFill>
          <a:ln xmlns:a="http://schemas.openxmlformats.org/drawingml/2006/main" w="9525">
            <a:solidFill>
              <a:srgbClr val="F8C14C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108177-3103-4F51-B877-56D6918F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907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809"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Đối chiếu 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B865E9-211C-4C1C-AA00-BE33A4BE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4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Phụ thuộc người xử lý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F6539-7C95-4A0A-9BB6-70C3ABED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695450"/>
            <a:ext cx="15049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690952-BECE-4B74-8DE9-15221CF8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82880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6B7A"/>
          </a:solidFill>
          <a:ln xmlns:a="http://schemas.openxmlformats.org/drawingml/2006/main" w="9525">
            <a:solidFill>
              <a:srgbClr val="FF6B7A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C49E87-B418-4AC0-8D0B-D53F6226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907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Hỏi quản lý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C156A4-F741-4929-AF3B-F4CB9B23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4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Thiếu câu hỏi cụ thể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ABB77A-7C8D-4BFC-8279-B3290BCF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695450"/>
            <a:ext cx="15049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B3145C-EF36-4DFB-911C-1165083E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28800"/>
            <a:ext cx="400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9FB1CA"/>
          </a:solidFill>
          <a:ln xmlns:a="http://schemas.openxmlformats.org/drawingml/2006/main" w="9525">
            <a:solidFill>
              <a:srgbClr val="9FB1CA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7721AF-F40A-41D5-ADDA-3C48BD5A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907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Lưu lịch sử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DF02EC-E623-41B5-B0D1-65B480DA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4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Khó truy vết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E631CD-0BC7-458B-93C7-F8E337FE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00200"/>
            <a:ext cx="2038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A3E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D0414B-E8C8-4A04-A8C2-57DAEA5D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90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Điểm nghẽn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6BE1BF-A4E3-42BE-BCD0-E3BCBBB5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86"/>
          </a:bodyPr>
          <a:lstStyle xmlns:a="http://schemas.openxmlformats.org/drawingml/2006/main">
            <a:defPPr algn="l">
              <a:defRPr sz="13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Không phải OCR — mà là biết khi nào phải dừng và hỏi người.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A63461-1D4C-4C87-BE6D-B835055F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57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Thiết kế lại quy trình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035DBC-A4DA-4606-80FB-AAA4FBB0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62375"/>
            <a:ext cx="34766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9374A8-ACCC-4F7D-AE75-E59840F7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62400"/>
            <a:ext cx="1238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AI đọc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4037BF-C38B-4A01-87F7-3E2A8476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57700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Qwen trích dữ kiện có cấu trúc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9C7FC9-27DD-472E-9BB2-F572F9DA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Không suy đoán field không đọc chắc.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02F459-5BC3-4FEB-A5E8-0A141A3E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62375"/>
            <a:ext cx="34766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2F581A-0595-44A9-84B5-A55586B7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62400"/>
            <a:ext cx="1238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96282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Policy quyết định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ECFF5B-A7E6-4121-B75A-B52AB33F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57700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C# tất định: FACT → POLICY → AUTHORITY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5E885F-C8FC-4D5B-A518-A55C21C4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95875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Đầu vào nghi vấn không bao giờ auto-approve.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297978-DBDC-423C-8673-381ECA12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62375"/>
            <a:ext cx="34766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7088EF-66B0-41D4-8688-C0567A89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62400"/>
            <a:ext cx="1238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8C14C"/>
          </a:solidFill>
          <a:ln xmlns:a="http://schemas.openxmlformats.org/drawingml/2006/main" w="9525">
            <a:solidFill>
              <a:srgbClr val="F8C14C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62413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Con người chịu trách nhiệm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84BC1D-E5F5-4F2D-935B-321AF465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57700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Quản lý xử lý ngoại lệ và có thể hoàn tác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2D87C6-F41B-4DAD-86A8-41E975AB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95875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Audit giữ đủ timeline, UI chỉ hiện một hồ sơ.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231AB0-1D82-435F-AC57-8866C64F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AURA • Track A • </a:t>
            </a: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12/10/2026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38F593-23EF-4297-BC41-1031920D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75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FB1C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92513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20B3C9-7348-48CA-B9DD-B51123C7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2CBDF-C870-4473-9E22-FB67D0DA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Một luồng — hai điểm con người quyết định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F3A24-4CED-4485-9BF1-78C14B7E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Input và AI là dữ kiện; quyết định nghiệp vụ nằm ở policy và quản lý.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4312A-6EA6-44B3-AC6F-D4C9747D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D944C-22C8-41C6-82D3-7079AA30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952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EF674-3D4C-49DA-8412-8A6AE039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52600"/>
            <a:ext cx="323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C0B77-4C84-41F7-9FE8-2E0C2B88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5B447-69F5-4BE3-83AF-632D4CE5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647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Ảnh + số tiền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+ người gửi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63C2A-90FA-4511-9261-BDCA2228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95500"/>
            <a:ext cx="2095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A4262"/>
          </a:solidFill>
          <a:ln xmlns:a="http://schemas.openxmlformats.org/drawingml/2006/main" w="0">
            <a:solidFill>
              <a:srgbClr val="2A426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A7CAD-85E8-44AC-AA06-2F43CC12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600200"/>
            <a:ext cx="1952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28A13-7951-49D6-9171-E2428E55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52600"/>
            <a:ext cx="323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EFDA9-E6DE-4804-BACE-39BF916D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7526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Nhận hồ sơ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7836E-5F98-436D-98E3-D05BEB58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190750"/>
            <a:ext cx="1647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Lưu PENDING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trả HTTP 202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54986-9CB8-461C-B65F-EDA77501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095500"/>
            <a:ext cx="2095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A4262"/>
          </a:solidFill>
          <a:ln xmlns:a="http://schemas.openxmlformats.org/drawingml/2006/main" w="0">
            <a:solidFill>
              <a:srgbClr val="2A426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68779E-8873-4963-95D6-26CC3BBC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00200"/>
            <a:ext cx="1952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27A0C-EBD9-48CF-AD1C-85959AB8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752600"/>
            <a:ext cx="323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5715D8-44DD-4CA0-A8B2-E6D4CF53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7526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Worker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A700A-1B99-4F48-B028-960976B0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90750"/>
            <a:ext cx="1647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Claim bằng lease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khôi phục sau restart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8CFDD4-2E99-4373-A919-3675EF0F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95500"/>
            <a:ext cx="2095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A4262"/>
          </a:solidFill>
          <a:ln xmlns:a="http://schemas.openxmlformats.org/drawingml/2006/main" w="0">
            <a:solidFill>
              <a:srgbClr val="2A426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A0010D-F5C6-4E17-A5AD-7E57B069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00200"/>
            <a:ext cx="1952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80D098-4F13-4C24-BAD8-43B99278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52600"/>
            <a:ext cx="323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43498-C6B0-49B3-B33C-09F79DC3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7526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F82815-01BF-49F2-9FC6-F3DE7D0B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190750"/>
            <a:ext cx="1647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Primary hoặc fallback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+ semantic repair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2D4115-D265-43CC-BEDC-923431C0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095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A4262"/>
          </a:solidFill>
          <a:ln xmlns:a="http://schemas.openxmlformats.org/drawingml/2006/main" w="0">
            <a:solidFill>
              <a:srgbClr val="2A426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2A502E-7555-4F53-B9E4-AAA63B99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00200"/>
            <a:ext cx="1952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F8C14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3499FA-533C-43FA-9AC7-2AF2CD30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752600"/>
            <a:ext cx="323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8C14C"/>
          </a:solidFill>
          <a:ln xmlns:a="http://schemas.openxmlformats.org/drawingml/2006/main" w="9525">
            <a:solidFill>
              <a:srgbClr val="F8C14C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865879-7C2C-4AE0-8F31-B2D43D71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526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A503B2-D3FF-4AB2-A0B8-B5042D85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90750"/>
            <a:ext cx="1647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AUTO_APPROVE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hoặc ESCALATE_*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036249-7C27-412B-8861-C62C5BCB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042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Điểm người #1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2FE36C-CD71-4DED-951C-DBC3DCD6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5095875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C03DE5-97D9-4BCA-A478-19FBA735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Nhân viên xác nhận chuyển tiếp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AFD57F-2484-44E6-8AF2-8DA84BD7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0075"/>
            <a:ext cx="428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• chỉ hồ sơ ESCALATE_*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• chuyển từng hồ sơ hoặc tất cả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• tab quản lý cập nhật ngay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684244-C990-491D-B4D0-C8F86662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Không chuyển âm thầm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976958-097E-44DF-B3AA-A184D930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8C1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F8C14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C14C"/>
                </a:solidFill>
                <a:latin typeface="Arial"/>
                <a:ea typeface="Arial"/>
                <a:cs typeface="Arial"/>
              </a:rPr>
              <a:t>Điểm người #2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5737C1-1757-4818-A59B-72D410B3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14750"/>
            <a:ext cx="5514975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F8C14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F915CE-F690-4037-B426-544DF9D7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490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Quản lý trả lời câu hỏi cụ thể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9C092D-C924-4E0F-B5D5-68062852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2238375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12352F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8BAAC5-A0C2-422A-8B64-6EFA7C76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52950"/>
            <a:ext cx="1895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2DD4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DD4A7"/>
                </a:solidFill>
                <a:latin typeface="Arial"/>
                <a:ea typeface="Arial"/>
                <a:cs typeface="Arial"/>
              </a:rPr>
              <a:t>ĐỒNG 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555FD1-1EA9-4405-8F0D-3E1FDC7F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10125"/>
            <a:ext cx="1895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9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duyệt ngoại lệ / tiếp nhận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123355-2A14-4147-8410-3A979C8B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438650"/>
            <a:ext cx="2238375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3A202C"/>
          </a:solidFill>
          <a:ln xmlns:a="http://schemas.openxmlformats.org/drawingml/2006/main" w="9525">
            <a:solidFill>
              <a:srgbClr val="FF6B7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33B318-6E5E-4437-BC83-3E64E948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552950"/>
            <a:ext cx="1895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FF6B7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B7A"/>
                </a:solidFill>
                <a:latin typeface="Arial"/>
                <a:ea typeface="Arial"/>
                <a:cs typeface="Arial"/>
              </a:rPr>
              <a:t>TỪ CHỐI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0AD5F8-BBBB-4E1C-B8DF-E6B43844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810125"/>
            <a:ext cx="1895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9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trả lại / yêu cầu bổ sung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BF5BC1-D0EF-4A4C-BDAA-3A462918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1495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Audit append-only • hoàn tác quyết định gần nhất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2C5499-3EF0-45AE-A4DB-6333160B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AURA • Track A • </a:t>
            </a: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12/10/2026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60A756-F571-4B3B-9F60-6D13381C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75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FB1C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02987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9BEFC3-8C49-4A48-B0F5-C1F90100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F21BF-3349-4982-B91D-6684A2A0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Bằng chứng kỹ thuật và tác động cần đo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F529A-2E4E-4738-9A13-F4DA3861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Kết quả regression đã có; hiệu quả vận hành chỉ kết luận sau pilot độc lập.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75984-D957-483A-B34F-636BC19D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AF19D-EEC9-4229-9B81-A80F2A85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533400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FF6B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577BD-904B-4025-8C47-719E3805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819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6B7A"/>
          </a:solidFill>
          <a:ln xmlns:a="http://schemas.openxmlformats.org/drawingml/2006/main" w="9525">
            <a:solidFill>
              <a:srgbClr val="FF6B7A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TRƯỚC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49BEB-89C3-44F5-AD98-46CB943D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002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Đọc và phân loại thủ công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2B184-B862-4F06-B722-0F433954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47950"/>
            <a:ext cx="481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• nhiều lần chạm trên hồ sơ routine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• câu hỏi escalation không nhất quán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• lịch sử rời rạc, khó giải thích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F16B8-DAAF-4E82-BFA3-BD3C2A50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43050"/>
            <a:ext cx="53149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864D3-7965-4676-90A1-74C2D385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13811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SAU — MỤC TIÊU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8FFC5-841E-4259-97BB-DF38EC17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02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Tự xử lý ca rõ ràng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E3C12-ABD9-4D92-B08F-4AA66CAA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• con người chỉ nhận ngoại lệ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• câu hỏi có dữ kiện và lựa chọn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• một hồ sơ, một timeline truy vết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EE17A-6C4D-4686-B161-10962704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76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Bằng chứng đã có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1CD5FD-3F10-46EB-93CF-AE2D1D3E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05325"/>
            <a:ext cx="15621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93B0A7-172C-4D52-A193-F7815590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767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4D8D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325" b="1">
                <a:solidFill>
                  <a:srgbClr val="4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D8DFF"/>
                </a:solidFill>
                <a:latin typeface="Arial"/>
                <a:ea typeface="Arial"/>
                <a:cs typeface="Arial"/>
              </a:rPr>
              <a:t>149/149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939AC-DD9D-4EEC-AB6B-37570B09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720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FB1CA"/>
                </a:solidFill>
                <a:latin typeface="Arial"/>
                <a:ea typeface="Arial"/>
                <a:cs typeface="Arial"/>
              </a:rPr>
              <a:t>test offline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921B7A-A770-409E-BB48-811C6D24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505325"/>
            <a:ext cx="15621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62D395-BDE7-438D-A0C1-5A1FBE80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6767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2DD4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325" b="1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DD4A7"/>
                </a:solidFill>
                <a:latin typeface="Arial"/>
                <a:ea typeface="Arial"/>
                <a:cs typeface="Arial"/>
              </a:rPr>
              <a:t>5/5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2A18B6-78F5-4D42-B2EB-C67323FD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51720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FB1CA"/>
                </a:solidFill>
                <a:latin typeface="Arial"/>
                <a:ea typeface="Arial"/>
                <a:cs typeface="Arial"/>
              </a:rPr>
              <a:t>Verify live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30A4B-D8C0-43E8-A917-A5801EB2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505325"/>
            <a:ext cx="15621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95881E-0A1E-4ABC-9558-B0A9E10E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767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A78B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325" b="1">
                <a:solidFill>
                  <a:srgbClr val="A78B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78BFA"/>
                </a:solidFill>
                <a:latin typeface="Arial"/>
                <a:ea typeface="Arial"/>
                <a:cs typeface="Arial"/>
              </a:rPr>
              <a:t>0 /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09A0DF-B9EB-4973-9105-2F71820D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1720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FB1CA"/>
                </a:solidFill>
                <a:latin typeface="Arial"/>
                <a:ea typeface="Arial"/>
                <a:cs typeface="Arial"/>
              </a:rPr>
              <a:t>missed / over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7B3B0A-96E9-4118-BCE1-CEF7EF9E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76700"/>
            <a:ext cx="5610225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1B1C72-736D-4FE0-B34E-507ED9F1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767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Đo trong pilot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F80EB6-33B5-44F0-8914-86B3A565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86300"/>
            <a:ext cx="2247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Touchless 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D8FF42-15FA-4EDC-A94F-D3B1F618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86300"/>
            <a:ext cx="2247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Review 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969507-50BB-45A8-BE55-B1A054EB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95875"/>
            <a:ext cx="2247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8C14C"/>
          </a:solidFill>
          <a:ln xmlns:a="http://schemas.openxmlformats.org/drawingml/2006/main" w="9525">
            <a:solidFill>
              <a:srgbClr val="F8C14C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Over-escalation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4CCB3B-E701-4D93-BFC6-D424F779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95875"/>
            <a:ext cx="2247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8C14C"/>
          </a:solidFill>
          <a:ln xmlns:a="http://schemas.openxmlformats.org/drawingml/2006/main" w="9525">
            <a:solidFill>
              <a:srgbClr val="F8C14C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Missed escalation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BA7487-6C12-4F3D-9070-7B3F5963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810250"/>
            <a:ext cx="5610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8C1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8C14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C14C"/>
                </a:solidFill>
                <a:latin typeface="Arial"/>
                <a:ea typeface="Arial"/>
                <a:cs typeface="Arial"/>
              </a:rPr>
              <a:t>Baseline và target chỉ điền sau khi có dữ liệu người dùng thật.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149DDD-D6ED-488E-9A69-95D7070A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AURA • Track A • </a:t>
            </a: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12/10/2026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9F0A74-95F7-4E70-B236-EC558A09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75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FB1C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07787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E675BD-C3FF-42BC-A7C4-0AA13C3F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AC2FD-D7C0-4537-8E34-1EE413B6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Kiến trúc: model thay được, policy đứng yên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AD67F-1445-401A-989A-79E65D11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Vertical slice chạy thật trên ASP.NET Core; Test Kit chỉ là dữ liệu mô phỏng.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2F870-341B-42E1-A979-497711DE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24415-A5EF-41E5-9BA6-8EAC8F35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7239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6AD05-6127-4B7E-8EC7-079D5103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GIAO DIỆN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D898F-9814-4462-B427-58177E5C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335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Razor MVC • fetch HTTP 202 • status polling sau upload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B1A40-9B72-4EF9-9BC3-1D98BDFB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7170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42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3FF61-0942-4D76-B327-A511DA20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7239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F9F46-4BB4-4295-8138-E4A00C45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ỨNG DỤNG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6E56E-9C68-45AF-B13B-3BEC394B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5270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DB-backed worker • lease • circuit breaker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5347A-6969-4E76-A29A-585EFA95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908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426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CE9EE-CFDE-489B-A62E-133850DF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7239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8D164-63AE-4A3B-84EF-254F3EF1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QUYẾT ĐỊNH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FA4FF-97F3-49E0-AAAD-EAD943C4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718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Schema + identifier validation → Policy C# → human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0B65F-E57B-421B-945F-9F8870F6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1000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426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495B7C-92E3-4F4B-AF8A-8142772A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7239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0E43B-17BE-495F-AA06-77C3BA55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8990F0-6ECA-41C3-81C9-C1708BEE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9100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EF Core • SQL Server • private receipt storage • AuditLogs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7BD5F5-D226-4289-B9BA-B62A330F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723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E2A3D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953A4F-CF6F-44DC-9035-05017839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768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VISION PROVIDER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056C5D-D515-42EE-8236-CC20951E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626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OpenRouter chính • Ollama fallback opt-in • model không quyết định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DCBFC7-4D80-4E78-B818-B99A64EB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43050"/>
            <a:ext cx="35052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884D79-B390-46EB-8E8B-128E0E27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CHẠY THẬT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D6F1FC-FBB7-406E-869E-685160F0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2905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Upload + validation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Vision provider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Policy C#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SQL + Audit + Undo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C07EA1-5E41-4D76-8950-EA7793B7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81425"/>
            <a:ext cx="35052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F8C14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E5D785-5E72-4AA7-BE09-6ECFD7B0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90975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8C14C"/>
          </a:solidFill>
          <a:ln xmlns:a="http://schemas.openxmlformats.org/drawingml/2006/main" w="9525">
            <a:solidFill>
              <a:srgbClr val="F8C14C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MÔ PHỎNG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743BA6-92F8-4CF9-B5ED-FB727188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76750"/>
            <a:ext cx="2905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30 ảnh tổng hợp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5 ca Verify trên UI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15/30 ca qua runner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2A24D8-4513-4C34-A1CE-DB59A29F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673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Không có tax/e-invoice lookup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Không có user role thật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10A0AF-3AF3-490F-83A4-779CA7AC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AURA • Track A • </a:t>
            </a: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12/10/2026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9958C8-ACDD-43A7-B164-17107946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75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FB1C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778376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344523-515E-4A34-8989-9B575095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0B02B-CD3C-43F3-8504-64BD4F34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Giới hạn hiện tại và cách fail-safe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359DA-C7C2-479D-97EE-CC577206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Fallback có allowlist và circuit breaker; lỗi dữ liệu không được che bằng đổi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4A14B-494F-4F02-AB61-149F5A7C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688D3-45BB-403D-8147-BB5DECC8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95425"/>
            <a:ext cx="7105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A9392-B9FB-466A-AFEF-049C96AD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714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6B7A"/>
          </a:solidFill>
          <a:ln xmlns:a="http://schemas.openxmlformats.org/drawingml/2006/main" w="9525">
            <a:solidFill>
              <a:srgbClr val="FF6B7A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429 / timeout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AD687-3B06-4CF5-9BBA-57225575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676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Fallback 1 lần nếu bật • audit provider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EEE3D-993D-4DBB-B56E-023E43DE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95525"/>
            <a:ext cx="7105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3410E-F398-42D6-AA3D-A2DB1F3C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1714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8C14C"/>
          </a:solidFill>
          <a:ln xmlns:a="http://schemas.openxmlformats.org/drawingml/2006/main" w="9525">
            <a:solidFill>
              <a:srgbClr val="F8C14C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Provider lỗi liên tiếp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8071C-264A-44AF-BE36-301DBF3A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7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Circuit mở • cooldown • primary probe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1C83F-4990-4EC7-A45C-E304B414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7105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30B0A-29D8-485D-85B4-095CAE9A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1714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JSON / semantic sai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CF7EE-363A-4D7A-833F-7C526C0A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76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Repair đúng 1 lần • rồi FACT fail-safe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1752B-4DD7-44E1-9D3A-383DDB58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95725"/>
            <a:ext cx="7105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1ACE7-3674-46FD-9CA3-A641C6A3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714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App restart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9C23D-1567-4AD6-B156-AD5568FF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7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DB job + lease • worker reclaim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6E76E-F89F-41BB-8C5B-D03D9814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7105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23B"/>
          </a:solidFill>
          <a:ln xmlns:a="http://schemas.openxmlformats.org/drawingml/2006/main" w="9525">
            <a:solidFill>
              <a:srgbClr val="2A426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67BBC0-D525-4587-801F-06F4A116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714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Ảnh mơ hồ / giả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0C4519-C373-4275-A0F7-DA7E4810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76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FACT ưu tiên • không auto-approve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EBB48D-4C46-44DB-A6C7-4A678061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95425"/>
            <a:ext cx="363855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142A4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EF76BF-68F5-41C8-A2C2-82474235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71450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DD4A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DD4A7"/>
                </a:solidFill>
                <a:latin typeface="Arial"/>
                <a:ea typeface="Arial"/>
                <a:cs typeface="Arial"/>
              </a:rPr>
              <a:t>ĐÃ BÀN GIAO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20AAAA-70D5-4170-AAE4-28535C78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143125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8DA9B8-D7F5-4FCE-B182-7F04F257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71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DB-backed upload queue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427F6B-8126-4367-AC59-309ACE9D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524125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2BBCEF-662B-426D-ACB4-3A5EAB87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52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149 test</a:t>
            </a:r>
            <a:r>
              <a:rPr sz="12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 • EF model sạch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FFC38A-3A99-40F8-BC05-E694FAF3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905125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D668BD-7E18-4388-9854-7D53BB30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33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Holdout thật 15 ca đã khóa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2D6E59-4ECC-451D-96D1-C57C5D7E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286125"/>
            <a:ext cx="28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 lIns="57150" tIns="9525" rIns="57150" bIns="952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0814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42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6961F2-C4F8-4EE1-A603-CA9D2E87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14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Mobile 4G/5G đã pass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51A5C8-24D4-4CC5-9CAD-29DD1D5F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38600"/>
            <a:ext cx="3638550" cy="145732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342334"/>
          </a:solidFill>
          <a:ln xmlns:a="http://schemas.openxmlformats.org/drawingml/2006/main" w="9525">
            <a:solidFill>
              <a:srgbClr val="FF6B7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CD6DD3-61E0-48AC-A79F-E152F9E1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2576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FF6B7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6B7A"/>
                </a:solidFill>
                <a:latin typeface="Arial"/>
                <a:ea typeface="Arial"/>
                <a:cs typeface="Arial"/>
              </a:rPr>
              <a:t>CHƯA CÓ TRONG BASELINE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ECEF07-B0D8-4B7A-BBCD-0D0383B3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63867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3 người dùng thực tế • rehearsal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PDF/nhiều trang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F5F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F"/>
                </a:solidFill>
                <a:latin typeface="Arial"/>
                <a:ea typeface="Arial"/>
                <a:cs typeface="Arial"/>
              </a:rPr>
              <a:t>authentication • object storage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FFA769-698A-47AB-856C-6439529D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724525"/>
            <a:ext cx="363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8C1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F8C1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8C14C"/>
                </a:solidFill>
                <a:latin typeface="Arial"/>
                <a:ea typeface="Arial"/>
                <a:cs typeface="Arial"/>
              </a:rPr>
              <a:t>Verify vẫn đúng 5 ca BTC; runner mở rộng không làm rối dashboard.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1E280A-B5F1-4CA5-AF8D-F805D098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1CA"/>
                </a:solidFill>
                <a:latin typeface="Arial"/>
                <a:ea typeface="Arial"/>
                <a:cs typeface="Arial"/>
              </a:rPr>
              <a:t>AURA • Giới hạn hiện tại, không phải lời hứa marketing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4B0E5C-1601-4B48-B484-5AC29C32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975" b="1">
                <a:solidFill>
                  <a:srgbClr val="9FB1C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FB1C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84913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2026-10-11T18:30:15.8790000Z</dcterms:created>
  <dcterms:modified xsi:type="dcterms:W3CDTF">2026-10-11T18:30:15.8790000Z</dcterms:modified>
</coreProperties>
</file>
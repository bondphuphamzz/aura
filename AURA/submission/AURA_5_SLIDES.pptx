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bf05522dddc42d0" /><Relationship Type="http://schemas.openxmlformats.org/officeDocument/2006/relationships/extended-properties" Target="/docProps/app.xml" Id="Rd43554c2d9214b08" /><Relationship Type="http://schemas.openxmlformats.org/officeDocument/2006/relationships/officeDocument" Target="/ppt/presentation.xml" Id="R605b46d442e3477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faf2e5cb38a4f3b"/>
  </p:sldMasterIdLst>
  <p:notesMasterIdLst>
    <p:notesMasterId xmlns:r="http://schemas.openxmlformats.org/officeDocument/2006/relationships" r:id="Rd1c3ea1e60cd4e46"/>
  </p:notesMasterIdLst>
  <p:sldIdLst>
    <p:sldId xmlns:r="http://schemas.openxmlformats.org/officeDocument/2006/relationships" id="256" r:id="Rb8ce3629262541d8"/>
    <p:sldId xmlns:r="http://schemas.openxmlformats.org/officeDocument/2006/relationships" id="257" r:id="Ra2b5673a09c84615"/>
    <p:sldId xmlns:r="http://schemas.openxmlformats.org/officeDocument/2006/relationships" id="258" r:id="R219500a06ee14d02"/>
    <p:sldId xmlns:r="http://schemas.openxmlformats.org/officeDocument/2006/relationships" id="259" r:id="R8d84d0ceec86480c"/>
    <p:sldId xmlns:r="http://schemas.openxmlformats.org/officeDocument/2006/relationships" id="260" r:id="R9f2d53cb025d467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11eaf1df418437e" /><Relationship Type="http://schemas.openxmlformats.org/officeDocument/2006/relationships/slideMaster" Target="/ppt/slideMasters/slideMaster1.xml" Id="R8faf2e5cb38a4f3b" /><Relationship Type="http://schemas.openxmlformats.org/officeDocument/2006/relationships/notesMaster" Target="/ppt/notesMasters/notesMaster1.xml" Id="Rd1c3ea1e60cd4e46" /><Relationship Type="http://schemas.openxmlformats.org/officeDocument/2006/relationships/presProps" Target="/ppt/presProps.xml" Id="Reec638862af546ee" /><Relationship Type="http://schemas.openxmlformats.org/officeDocument/2006/relationships/tableStyles" Target="/ppt/tableStyles.xml" Id="R58530ea22eaf4c93" /><Relationship Type="http://schemas.openxmlformats.org/officeDocument/2006/relationships/slide" Target="/ppt/slides/slide1.xml" Id="Rb8ce3629262541d8" /><Relationship Type="http://schemas.openxmlformats.org/officeDocument/2006/relationships/slide" Target="/ppt/slides/slide2.xml" Id="Ra2b5673a09c84615" /><Relationship Type="http://schemas.openxmlformats.org/officeDocument/2006/relationships/slide" Target="/ppt/slides/slide3.xml" Id="R219500a06ee14d02" /><Relationship Type="http://schemas.openxmlformats.org/officeDocument/2006/relationships/slide" Target="/ppt/slides/slide4.xml" Id="R8d84d0ceec86480c" /><Relationship Type="http://schemas.openxmlformats.org/officeDocument/2006/relationships/slide" Target="/ppt/slides/slide5.xml" Id="R9f2d53cb025d467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b2fd69b445a4c8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a7894bd020740b2" /><Relationship Type="http://schemas.openxmlformats.org/officeDocument/2006/relationships/notesMaster" Target="/ppt/notesMasters/notesMaster1.xml" Id="Rfe99a5eb4f6644a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7289e0107b648f3" /><Relationship Type="http://schemas.openxmlformats.org/officeDocument/2006/relationships/notesMaster" Target="/ppt/notesMasters/notesMaster1.xml" Id="Rb4a83aaef76d450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7a5e7832951436a" /><Relationship Type="http://schemas.openxmlformats.org/officeDocument/2006/relationships/notesMaster" Target="/ppt/notesMasters/notesMaster1.xml" Id="R9576eecd4e8a456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6872116af4c4d56" /><Relationship Type="http://schemas.openxmlformats.org/officeDocument/2006/relationships/notesMaster" Target="/ppt/notesMasters/notesMaster1.xml" Id="R8a380ba801c94f8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ea17ae40459483b" /><Relationship Type="http://schemas.openxmlformats.org/officeDocument/2006/relationships/notesMaster" Target="/ppt/notesMasters/notesMaster1.xml" Id="Rdf51538939db4e5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Hiện trạng và nguyên tắc thiết kế của AURA; không dùng số liệu hiệu quả chưa đo.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Workflow chi tiết: submission/AURA_WORKFLOW_SPEC.md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 cập nhật 11/10/2026: 142/142 test offline và EF model sạch. Live health/public endpoint, Verify 5/5, workflow/Audit/Undo, desktop/mobile 390x844 và điện thoại thật 4G/5G đều pass. Official holdout giữ raw 10/15 và adjusted 11/15; post-holdout regression trên cùng 15 receipt đạt 11/15, 0 missed escalation, 4 over-escalation, 0 system error. Đây là mẫu nhỏ và không phải accuracy production; ba user session và rehearsal vẫn là gate.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Repository và hướng dẫn chạy localhost: https://github.com/BondPhuPhamzZ/AURA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 kỹ thuật trong repo: ReceiptProcessingWorker.cs, ReceiptExtractionContract.cs, PolicyDecisionEngine.cs, VietnamTime.cs, tools/Invoke-ExtendedDatasetEvaluation.ps1, docs/CURRENT_PROJECT_STATUS_2026-10-07.md và docs/REAL_RECEIPT_REGRESSION_RESULT_2026-10-07.md. Fallback vẫn opt-in và mặc định tắt; OpenRouter 8B là baseline demo.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56ac79616f9461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dd51fdbfc6544f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8c37767eff1482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7b03366035c42f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0689adac8da44d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d82efe429724ad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C7D8926-5FAC-47A8-9D01-BB9F8B3DFDE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B121C3F3-CC5E-4244-82A2-28DDAE10E84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85B5808C-FC17-4683-B8B8-16273C95E63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F10C778-38E2-4D51-916E-AE9ECFCCA4C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CCD2DD1E-9898-4E78-BF69-7281761E231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14C34F14-3BF7-4971-A5DC-77D2698DEEF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355EECE-B311-4B26-B76B-23A4153814E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6096AAE8-A3E7-46D1-9D98-132E07D9EA7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7912FCD-7E00-4427-86EA-8A5193EC6D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859989B-FD2C-475E-8862-06B0171F04A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aef33a69da14c6e" /><Relationship Type="http://schemas.openxmlformats.org/officeDocument/2006/relationships/slideLayout" Target="/ppt/slideLayouts/slideLayout1.xml" Id="R628cd3dd48454d6a" /><Relationship Type="http://schemas.openxmlformats.org/officeDocument/2006/relationships/slideLayout" Target="/ppt/slideLayouts/slideLayout2.xml" Id="R5b39942f95e74090" /><Relationship Type="http://schemas.openxmlformats.org/officeDocument/2006/relationships/slideLayout" Target="/ppt/slideLayouts/slideLayout3.xml" Id="R62588dfdcd514b62" /><Relationship Type="http://schemas.openxmlformats.org/officeDocument/2006/relationships/slideLayout" Target="/ppt/slideLayouts/slideLayout4.xml" Id="R560f8c3c884543cc" /><Relationship Type="http://schemas.openxmlformats.org/officeDocument/2006/relationships/slideLayout" Target="/ppt/slideLayouts/slideLayout5.xml" Id="R2237240c8a9449e4" /><Relationship Type="http://schemas.openxmlformats.org/officeDocument/2006/relationships/slideLayout" Target="/ppt/slideLayouts/slideLayout6.xml" Id="R0d7de9d5124146d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28cd3dd48454d6a"/>
    <p:sldLayoutId xmlns:r="http://schemas.openxmlformats.org/officeDocument/2006/relationships" id="2147483650" r:id="R5b39942f95e74090"/>
    <p:sldLayoutId xmlns:r="http://schemas.openxmlformats.org/officeDocument/2006/relationships" id="2147483651" r:id="R62588dfdcd514b62"/>
    <p:sldLayoutId xmlns:r="http://schemas.openxmlformats.org/officeDocument/2006/relationships" id="2147483652" r:id="R560f8c3c884543cc"/>
    <p:sldLayoutId xmlns:r="http://schemas.openxmlformats.org/officeDocument/2006/relationships" id="2147483653" r:id="R2237240c8a9449e4"/>
    <p:sldLayoutId xmlns:r="http://schemas.openxmlformats.org/officeDocument/2006/relationships" id="2147483654" r:id="R0d7de9d5124146d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905ba19274d4dd0" /><Relationship Type="http://schemas.openxmlformats.org/officeDocument/2006/relationships/notesSlide" Target="/ppt/notesSlides/notesSlide1.xml" Id="Rd071c1c2322c434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03095e7389c4315" /><Relationship Type="http://schemas.openxmlformats.org/officeDocument/2006/relationships/notesSlide" Target="/ppt/notesSlides/notesSlide2.xml" Id="R31911dc5694e4eb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278dee071694e03" /><Relationship Type="http://schemas.openxmlformats.org/officeDocument/2006/relationships/notesSlide" Target="/ppt/notesSlides/notesSlide3.xml" Id="R1b194ccd039f44b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fdee4856bd94568" /><Relationship Type="http://schemas.openxmlformats.org/officeDocument/2006/relationships/notesSlide" Target="/ppt/notesSlides/notesSlide4.xml" Id="R7186c4ca8469448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f74d59d0c964467" /><Relationship Type="http://schemas.openxmlformats.org/officeDocument/2006/relationships/notesSlide" Target="/ppt/notesSlides/notesSlide5.xml" Id="R024278d578f5425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E710B1B-E200-4F20-96E2-C19303CD9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1A048B-69FA-4D02-B6A0-67750C32A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6140FE-E420-4544-BC0C-926AA98D4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13C5C6-6BA4-448B-8489-8D8D7ABA2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77C5426-6257-44A2-B404-A8582AE89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0256F3-904A-47DE-B73F-6F7CBE2A3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Hoàn ứng hôm nay: nhiều điểm chờ, ít bằng chứng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590D95-C506-4F83-9FBC-E70FBC917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biến ngoại lệ thành câu hỏi có thể quyết định — không giao quyền duyệt cho AI.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A371D8-D211-4C1A-83C4-9EE525F4C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58AF6C-22C2-423F-8E4F-978C1B91D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B836F6-842F-4D90-A6BB-1BDC1CF26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209E19-F6B9-474E-995B-AFF4A755A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Gửi hóa đơn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A4F0AD-22A8-43D6-BC84-61720CA9B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Ảnh + số tiền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8D94BB-2BFF-406A-9552-A723C328D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05E264-4098-4BCE-9D6A-2E37190FA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4D23DE-36CB-42E6-A22E-A92EE5C09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Đọc thủ công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98664E-CAB6-4F76-BA91-BE1501DD3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Dễ sai định dạng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23F409-59B9-41D0-8DCA-A15AE18BA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53AA95-7676-4CBF-A381-435718D91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108177-3103-4F51-B877-56D6918FD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97809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Đối chiếu policy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B865E9-211C-4C1C-AA00-BE33A4BEC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Phụ thuộc người xử lý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FF6539-7C95-4A0A-9BB6-70C3ABED5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3690952-BECE-4B74-8DE9-15221CF8D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1C49E87-B418-4AC0-8D0B-D53F6226A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Hỏi quản lý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AC156A4-F741-4929-AF3B-F4CB9B232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Thiếu câu hỏi cụ thể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9ABB77A-7C8D-4BFC-8279-B3290BCF8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6B3145C-EF36-4DFB-911C-1165083E0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9FB1CA"/>
          </a:solidFill>
          <a:ln xmlns:a="http://schemas.openxmlformats.org/drawingml/2006/main" w="9525">
            <a:solidFill>
              <a:srgbClr val="9FB1C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B7721AF-F40A-41D5-ADDA-3C48BD5A9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Lưu lịch sử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BDF02EC-E623-41B5-B0D1-65B480DA2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Khó truy vết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FE631CD-0BC7-458B-93C7-F8E337FEB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600200"/>
            <a:ext cx="203835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102A3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BD0414B-E8C8-4A04-A8C2-57DAEA5DF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17907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Điểm nghẽn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46BE1BF-A4E3-42BE-BCD0-E3BCBBB57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095500"/>
            <a:ext cx="1600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87186"/>
          </a:bodyPr>
          <a:lstStyle xmlns:a="http://schemas.openxmlformats.org/drawingml/2006/main">
            <a:defPPr algn="l">
              <a:defRPr sz="13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Không phải OCR — mà là biết khi nào phải dừng và hỏi người.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AA63461-1D4C-4C87-BE6D-B835055FB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2575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Thiết kế lại quy trình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0035DBC-A4DA-4606-80FB-AAA4FBB02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762375"/>
            <a:ext cx="3476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C9374A8-ACCC-4F7D-AE75-E59840F7D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96240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AI đọc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44037BF-C38B-4A01-87F7-3E2A84760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45770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Qwen trích dữ kiện có cấu trúc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49C7FC9-27DD-472E-9BB2-F572F9DAF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0958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suy đoán field không đọc chắc.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B02F459-5BC3-4FEB-A5E8-0A141A3EF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3762375"/>
            <a:ext cx="3476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42F581A-0595-44A9-84B5-A55586B77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96240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96282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Policy quyết định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8ECFF5B-A7E6-4121-B75A-B52AB33FA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45770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C# tất định: FACT → POLICY → AUTHORITY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75E885F-C8FC-4D5B-A518-A55C21C49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50958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Đầu vào nghi vấn không bao giờ auto-approve.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2297978-DBDC-423C-8673-381ECA12E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762375"/>
            <a:ext cx="3476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B7088EF-66B0-41D4-8688-C0567A89F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96240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62413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Con người chịu trách nhiệm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084BC1D-E5F5-4F2D-935B-321AF465B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445770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Quản lý xử lý ngoại lệ và có thể hoàn tác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C2D87C6-F41B-4DAD-86A8-41E975AB9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50958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Audit giữ đủ timeline, UI chỉ hiện một hồ sơ.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4231AB0-1D82-435F-AC57-8866C64F6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11/10/2026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E38F593-23EF-4297-BC41-1031920D5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09251357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F20B3C9-7348-48CA-B9DD-B51123C7E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82CBDF-C870-4473-9E22-FB67D0DAD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Một luồng — hai điểm con người quyết định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EF3A24-4CED-4485-9BF1-78C14B7E2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Input và AI là dữ kiện; quyết định nghiệp vụ nằm ở policy và quản lý.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C4312A-6EA6-44B3-AC6F-D4C9747D4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BD944C-22C8-41C6-82D3-7079AA30D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DEF674-3D4C-49DA-8412-8A6AE0395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9C0B77-4C84-41F7-9FE8-2E0C2B888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Input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25B447-69F5-4BE3-83AF-632D4CE59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Ảnh + số tiền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+ người gửi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163C2A-90FA-4511-9261-BDCA2228B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9A7CAD-85E8-44AC-AA06-2F43CC12A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E28A13-7951-49D6-9171-E2428E553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9EFDA9-E6DE-4804-BACE-39BF916D8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Nhận hồ sơ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47836E-5F98-436D-98E3-D05BEB582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Lưu PENDING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trả HTTP 202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354986-9CB8-461C-B65F-EDA77501B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68779E-8873-4963-95D6-26CC3BBCF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D27A0C-EBD9-48CF-AD1C-85959AB88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A5715D8-44DD-4CA0-A8B2-E6D4CF532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Worker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8A700A-1B99-4F48-B028-960976B00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Claim bằng lease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khôi phục sau restart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B8CFDD4-2E99-4373-A919-3675EF0F6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AA0010D-F5C6-4E17-A5AD-7E57B0692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580D098-4F13-4C24-BAD8-43B992789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FA43498-C6B0-49B3-B33C-09F79DC3B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Vision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F82815-01BF-49F2-9FC6-F3DE7D0B5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Primary hoặc fallback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+ semantic repair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D2D4115-D265-43CC-BEDC-923431C0E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82A502E-7555-4F53-B9E4-AAA63B999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73499FA-533C-43FA-9AC7-2AF2CD30A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A865879-7C2C-4AE0-8F31-B2D43D718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Policy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8A503B2-D3FF-4AB2-A0B8-B5042D853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AUTO_APPROVE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hoặc ESCALATE_*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D036249-7C27-412B-8861-C62C5BCBA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00425"/>
            <a:ext cx="1543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Điểm người #1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92FE36C-CD71-4DED-951C-DBC3DCD65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14750"/>
            <a:ext cx="5095875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1C03DE5-97D9-4BCA-A478-19FBA735C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4335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Nhân viên xác nhận chuyển tiếp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9AFD57F-2484-44E6-8AF2-8DA84BD73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0075"/>
            <a:ext cx="4286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chỉ hồ sơ ESCALATE_*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chuyển từng hồ sơ hoặc tất cả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tab quản lý cập nhật ngay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B684244-C990-491D-B4D0-C8F86662A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72100"/>
            <a:ext cx="1809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Không chuyển âm thầm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2976958-097E-44DF-B3AA-A184D9303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00425"/>
            <a:ext cx="1543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Điểm người #2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E5737C1-1757-4818-A59B-72D410B3B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3714750"/>
            <a:ext cx="5514975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FF915CE-F690-4037-B426-544DF9D75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943350"/>
            <a:ext cx="4905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Quản lý trả lời câu hỏi cụ thể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19C092D-C924-4E0F-B5D5-68062852E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438650"/>
            <a:ext cx="2238375" cy="638175"/>
          </a:xfrm>
          <a:prstGeom xmlns:a="http://schemas.openxmlformats.org/drawingml/2006/main" prst="roundRect">
            <a:avLst>
              <a:gd name="adj" fmla="val 17910"/>
            </a:avLst>
          </a:prstGeom>
          <a:solidFill xmlns:a="http://schemas.openxmlformats.org/drawingml/2006/main">
            <a:srgbClr val="12352F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A8BAAC5-A0C2-422A-8B64-6EFA7C764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552950"/>
            <a:ext cx="1895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200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DD4A7"/>
                </a:solidFill>
                <a:latin typeface="Arial"/>
                <a:ea typeface="Arial"/>
                <a:cs typeface="Arial"/>
              </a:rPr>
              <a:t>ĐỒNG Ý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3555FD1-1EA9-4405-8F0D-3E1FDC7F5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810125"/>
            <a:ext cx="18954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9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9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duyệt ngoại lệ / tiếp nhận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A123355-2A14-4147-8410-3A979C8B4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438650"/>
            <a:ext cx="2238375" cy="638175"/>
          </a:xfrm>
          <a:prstGeom xmlns:a="http://schemas.openxmlformats.org/drawingml/2006/main" prst="roundRect">
            <a:avLst>
              <a:gd name="adj" fmla="val 17910"/>
            </a:avLst>
          </a:prstGeom>
          <a:solidFill xmlns:a="http://schemas.openxmlformats.org/drawingml/2006/main">
            <a:srgbClr val="3A202C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F33B318-6E5E-4437-BC83-3E64E948C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4552950"/>
            <a:ext cx="1895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200" b="1">
                <a:solidFill>
                  <a:srgbClr val="FF6B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FF6B7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6B7A"/>
                </a:solidFill>
                <a:latin typeface="Arial"/>
                <a:ea typeface="Arial"/>
                <a:cs typeface="Arial"/>
              </a:rPr>
              <a:t>TỪ CHỐI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10AD5F8-BBBB-4E1C-B8DF-E6B43844E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4810125"/>
            <a:ext cx="18954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9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9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trả lại / yêu cầu bổ sung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EBF5BC1-D0EF-4A4C-BDAA-3A462918E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314950"/>
            <a:ext cx="470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Audit append-only • hoàn tác quyết định gần nhất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32C5499-3EF0-45AE-A4DB-6333160B4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11/10/2026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C60A756-F571-4B3B-9F60-6D13381CB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3029876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C9BEFC3-8C49-4A48-B0F5-C1F901005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9F21BF-3349-4982-B91D-6684A2A0D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Bằng chứng kỹ thuật và tác động cần đo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4F529A-2E4E-4738-9A13-F4DA3861B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Kết quả regression đã có; hiệu quả vận hành chỉ kết luận sau pilot độc lập.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275984-D957-483A-B34F-636BC19D0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9AF19D-EEC9-4229-9B81-A80F2A85D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43050"/>
            <a:ext cx="533400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E577BD-904B-4025-8C47-719E38051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33550"/>
            <a:ext cx="8191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TRƯỚC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149BEB-89C3-44F5-AD98-46CB943D8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20027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Đọc và phân loại thủ công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02B184-B862-4F06-B722-0F433954E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647950"/>
            <a:ext cx="4810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nhiều lần chạm trên hồ sơ routine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câu hỏi escalation không nhất quán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lịch sử rời rạc, khó giải thích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6F16B8-DAAF-4E82-BFA3-BD3C2A50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543050"/>
            <a:ext cx="531495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6864D3-7965-4676-90A1-74C2D385C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33550"/>
            <a:ext cx="138112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SAU — MỤC TIÊU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58FFC5-841E-4259-97BB-DF38EC174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0027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Tự xử lý ca rõ ràng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CE3C12-ABD9-4D92-B08F-4AA66CAA5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47950"/>
            <a:ext cx="476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con người chỉ nhận ngoại lệ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câu hỏi có dữ kiện và lựa chọn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một hồ sơ, một timeline truy vết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EEE17A-6C4D-4686-B161-109627043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767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Bằng chứng đã có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1CD5FD-3F10-46EB-93CF-AE2D1D3E9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05325"/>
            <a:ext cx="1562100" cy="1133475"/>
          </a:xfrm>
          <a:prstGeom xmlns:a="http://schemas.openxmlformats.org/drawingml/2006/main" prst="roundRect">
            <a:avLst>
              <a:gd name="adj" fmla="val 1008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93B0A7-172C-4D52-A193-F7815590C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767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2325" b="1">
                <a:solidFill>
                  <a:srgbClr val="4D8D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325" b="1">
                <a:solidFill>
                  <a:srgbClr val="4D8D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4D8DFF"/>
                </a:solidFill>
                <a:latin typeface="Arial"/>
                <a:ea typeface="Arial"/>
                <a:cs typeface="Arial"/>
              </a:rPr>
              <a:t>142/142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E939AC-DD9D-4EEC-AB6B-37570B09A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72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test offline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D921B7A-A770-409E-BB48-811C6D240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4505325"/>
            <a:ext cx="1562100" cy="1133475"/>
          </a:xfrm>
          <a:prstGeom xmlns:a="http://schemas.openxmlformats.org/drawingml/2006/main" prst="roundRect">
            <a:avLst>
              <a:gd name="adj" fmla="val 1008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562D395-BDE7-438D-A0C1-5A1FBE803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46767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2325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325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DD4A7"/>
                </a:solidFill>
                <a:latin typeface="Arial"/>
                <a:ea typeface="Arial"/>
                <a:cs typeface="Arial"/>
              </a:rPr>
              <a:t>5/5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2A18B6-78F5-4D42-B2EB-C67323FD4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5172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Verify live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C930A4B-D8C0-43E8-A917-A5801EB24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505325"/>
            <a:ext cx="1562100" cy="1133475"/>
          </a:xfrm>
          <a:prstGeom xmlns:a="http://schemas.openxmlformats.org/drawingml/2006/main" prst="roundRect">
            <a:avLst>
              <a:gd name="adj" fmla="val 1008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995881E-0A1E-4ABC-9558-B0A9E10E8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6767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2325" b="1">
                <a:solidFill>
                  <a:srgbClr val="A78BF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325" b="1">
                <a:solidFill>
                  <a:srgbClr val="A78BF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A78BFA"/>
                </a:solidFill>
                <a:latin typeface="Arial"/>
                <a:ea typeface="Arial"/>
                <a:cs typeface="Arial"/>
              </a:rPr>
              <a:t>0 / 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309A0DF-B9EB-4973-9105-2F71820DA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5172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missed / over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27B3B0A-96E9-4118-BCE1-CEF7EF9E1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4076700"/>
            <a:ext cx="5610225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61B1C72-736D-4FE0-B34E-507ED9F1A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276725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Đo trong pilot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DF80EB6-33B5-44F0-8914-86B3A5654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686300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Touchless rate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6D8FF42-15FA-4EDC-A94F-D3B1F6182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686300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Review time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4969507-50BB-45A8-BE55-B1A054EBB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095875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Over-escalation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C4CCB3B-E701-4D93-BFC6-D424F779F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095875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Missed escalation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8BA7487-6C12-4F3D-9070-7B3F59637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5810250"/>
            <a:ext cx="56102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Baseline và target chỉ điền sau khi có dữ liệu người dùng thật.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2149DDD-D6ED-488E-9A69-95D7070A6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11/10/2026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19F0A74-95F7-4E70-B236-EC558A09F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20778764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BE675BD-C3FF-42BC-A7C4-0AA13C3F5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BAC2FD-D7C0-4537-8E34-1EE413B6B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Kiến trúc: model thay được, policy đứng yên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5AD67F-1445-401A-989A-79E65D114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Vertical slice chạy thật trên ASP.NET Core; Test Kit chỉ là dữ liệu mô phỏng.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42F870-341B-42E1-A979-497711DE0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E24415-A5EF-41E5-9BA6-8EAC8F357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4305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76AD05-6127-4B7E-8EC7-079D51038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GIAO DIỆN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2D898F-9814-4462-B427-58177E5CF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73355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Razor MVC • fetch HTTP 202 • status polling sau upload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BB1A40-9B72-4EF9-9BC3-1D98BDFBD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17170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26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23FF61-0942-4D76-B327-A511DA203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7F9F46-4BB4-4295-8138-E4A00C45E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3365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ỨNG DỤNG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F6E56E-9C68-45AF-B13B-3BEC394B7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55270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DB-backed worker • lease • circuit breaker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E5347A-6969-4E76-A29A-585EFA959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99085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26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C2CE9EE-CFDE-489B-A62E-133850DF9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8135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28D164-63AE-4A3B-84EF-254F3EF1E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5280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QUYẾT ĐỊNH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4FA4FF-97F3-49E0-AAAD-EAD943C42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37185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Schema + identifier validation → Policy C# → human review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E70B65F-E57B-421B-945F-9F8870F60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81000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26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495B7C-92E3-4F4B-AF8A-8142772AA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A0E43B-17BE-495F-AA06-77C3BA555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7195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DỮ LIỆU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D8990F0-6ECA-41C3-81C9-C1708BEE5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19100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EF Core • SQL Server • private receipt storage • AuditLogs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7BD5F5-D226-4289-B9BA-B62A330F8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95875"/>
            <a:ext cx="72390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0E2A3D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8953A4F-CF6F-44DC-9035-050178391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276850"/>
            <a:ext cx="1952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VISION PROVIDER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6056C5D-D515-42EE-8236-CC20951E7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562600"/>
            <a:ext cx="657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OpenRouter chính • Ollama fallback opt-in • model không quyết định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DCBFC7-4D80-4E78-B818-B99A64EBB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543050"/>
            <a:ext cx="35052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2884D79-B390-46EB-8E8B-128E0E279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752600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CHẠY THẬT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1D6F1FC-FBB7-406E-869E-685160F0F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238375"/>
            <a:ext cx="2905125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Upload + validation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Vision provider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Policy C#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SQL + Audit + Undo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1C07EA1-5E41-4D76-8950-EA7793B7E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781425"/>
            <a:ext cx="3505200" cy="2266950"/>
          </a:xfrm>
          <a:prstGeom xmlns:a="http://schemas.openxmlformats.org/drawingml/2006/main" prst="roundRect">
            <a:avLst>
              <a:gd name="adj" fmla="val 5042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0E5D785-5E72-4AA7-BE09-6ECFD7B09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90975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MÔ PHỎNG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E743BA6-92F8-4CF9-B5ED-FB7271883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476750"/>
            <a:ext cx="2905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30 ảnh tổng hợp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5 ca Verify trên UI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15/30 ca qua runner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D2A24D8-4513-4C34-A1CE-DB59A29FE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467350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có tax/e-invoice lookup</a:t>
            </a:r>
          </a:p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có user role thật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310A0AF-3AF3-490F-83A4-779CA7AC9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11/10/2026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F9958C8-ACDD-43A7-B164-171079468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07783768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5344523-515E-4A34-8989-9B575095E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40B02B-CD3C-43F3-8504-64BD4F341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Giới hạn hiện tại và cách fail-safe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5359DA-C7C2-479D-97EE-CC577206D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Fallback có allowlist và circuit breaker; lỗi dữ liệu không được che bằng đổi model.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04A14B-494F-4F02-AB61-149F5A7CB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E688D3-45BB-403D-8147-BB5DECC81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954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0A9392-B9FB-466A-AFEF-049C96AD4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668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429 / timeout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1AD687-3B06-4CF5-9BBA-572255755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6764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Fallback 1 lần nếu bật • audit provider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1EEE3D-993D-4DBB-B56E-023E43DE4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955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F3410E-F398-42D6-AA3D-A2DB1F3C3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669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Provider lỗi liên tiếp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58071C-264A-44AF-BE36-301DBF3AE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4765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Circuit mở • cooldown • primary probe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11C83F-4990-4EC7-A45C-E304B414D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956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430B0A-29D8-485D-85B4-095CAE9A3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670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JSON / semantic sai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3CF7EE-363A-4D7A-833F-7C526C0A1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2766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Repair đúng 1 lần • rồi FACT fail-safe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01752B-4DD7-44E1-9D3A-383DDB58D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957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E1ACE7-3674-46FD-9CA3-A641C6A3C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671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App restart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9F9C23D-1567-4AD6-B156-AD5568FFB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0767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DB job + lease • worker reclaim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F6E76E-F89F-41BB-8C5B-D03D98145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958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567BBC0-D525-4587-801F-06F4A1169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672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Ảnh mơ hồ / giả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D0C4519-C373-4275-A0F7-DA7E48102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8768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FACT ưu tiên • không auto-approve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7EBB48D-4C46-44DB-A6C7-4A6780616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495425"/>
            <a:ext cx="3638550" cy="2305050"/>
          </a:xfrm>
          <a:prstGeom xmlns:a="http://schemas.openxmlformats.org/drawingml/2006/main" prst="roundRect">
            <a:avLst>
              <a:gd name="adj" fmla="val 4959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4EF76BF-68F5-41C8-A2C2-82474235F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1714500"/>
            <a:ext cx="3105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DD4A7"/>
                </a:solidFill>
                <a:latin typeface="Arial"/>
                <a:ea typeface="Arial"/>
                <a:cs typeface="Arial"/>
              </a:rPr>
              <a:t>ĐÃ BÀN GIAO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D20AAAA-70D5-4170-AAE4-28535C786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143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F8DA9B8-D7F5-4FCE-B182-7F04F2573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171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DB-backed upload queue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0427F6B-8126-4367-AC59-309ACE9D9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524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F2BBCEF-662B-426D-ACB4-3A5EAB871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552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142 test • EF model sạch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6FFC38A-3A99-40F8-BC05-E694FAF35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905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6D668BD-7E18-4388-9854-7D53BB309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933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Holdout thật 15 ca đã khóa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A2D6E59-4ECC-451D-96D1-C57C5D7EA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3286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F6961F2-C4F8-4EE1-A603-CA9D2E870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314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Mobile 4G/5G đã pass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751A5C8-24D4-4CC5-9CAD-29DD1D5FD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038600"/>
            <a:ext cx="3638550" cy="1457325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342334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ACD6DD3-61E0-48AC-A79F-E152F9E16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4257675"/>
            <a:ext cx="3105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FF6B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FF6B7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6B7A"/>
                </a:solidFill>
                <a:latin typeface="Arial"/>
                <a:ea typeface="Arial"/>
                <a:cs typeface="Arial"/>
              </a:rPr>
              <a:t>CHƯA CÓ TRONG BASELINE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5ECEF07-B0D8-4B7A-BBCD-0D0383B3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4638675"/>
            <a:ext cx="3105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3 người dùng thực tế • rehearsal</a:t>
            </a:r>
          </a:p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PDF/nhiều trang</a:t>
            </a:r>
          </a:p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authentication • object storage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8FFA769-698A-47AB-856C-6439529D3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724525"/>
            <a:ext cx="3638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Verify vẫn đúng 5 ca BTC; runner mở rộng không làm rối dashboard.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81E280A-B5F1-4CA5-AF8D-F805D0982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Giới hạn hiện tại, không phải lời hứa marketing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14B0E5C-1601-4B48-B484-5AC29C320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48491398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2026-10-11T14:23:38.9030000Z</dcterms:created>
  <dcterms:modified xsi:type="dcterms:W3CDTF">2026-10-11T14:23:38.9030000Z</dcterms:modified>
</coreProperties>
</file>
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8710b9ef464fca" /><Relationship Type="http://schemas.openxmlformats.org/officeDocument/2006/relationships/extended-properties" Target="/docProps/app.xml" Id="R2f9c4bd4ccff47fa" /><Relationship Type="http://schemas.openxmlformats.org/officeDocument/2006/relationships/officeDocument" Target="/ppt/presentation.xml" Id="R37134c6084c74e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d4c4b0b3714900"/>
  </p:sldMasterIdLst>
  <p:notesMasterIdLst>
    <p:notesMasterId xmlns:r="http://schemas.openxmlformats.org/officeDocument/2006/relationships" r:id="R71d3a1f8e3cd4470"/>
  </p:notesMasterIdLst>
  <p:sldIdLst>
    <p:sldId xmlns:r="http://schemas.openxmlformats.org/officeDocument/2006/relationships" id="256" r:id="Rc63751a8637b4e52"/>
    <p:sldId xmlns:r="http://schemas.openxmlformats.org/officeDocument/2006/relationships" id="257" r:id="R5b8422a539734411"/>
    <p:sldId xmlns:r="http://schemas.openxmlformats.org/officeDocument/2006/relationships" id="258" r:id="R8216570f89e044c6"/>
    <p:sldId xmlns:r="http://schemas.openxmlformats.org/officeDocument/2006/relationships" id="259" r:id="Rd558da52f8a5485c"/>
    <p:sldId xmlns:r="http://schemas.openxmlformats.org/officeDocument/2006/relationships" id="260" r:id="Raee8451b8bdc44c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ab9e0b9e3804519" /><Relationship Type="http://schemas.openxmlformats.org/officeDocument/2006/relationships/slideMaster" Target="/ppt/slideMasters/slideMaster1.xml" Id="R26d4c4b0b3714900" /><Relationship Type="http://schemas.openxmlformats.org/officeDocument/2006/relationships/notesMaster" Target="/ppt/notesMasters/notesMaster1.xml" Id="R71d3a1f8e3cd4470" /><Relationship Type="http://schemas.openxmlformats.org/officeDocument/2006/relationships/presProps" Target="/ppt/presProps.xml" Id="R38393f9a0d86437b" /><Relationship Type="http://schemas.openxmlformats.org/officeDocument/2006/relationships/tableStyles" Target="/ppt/tableStyles.xml" Id="R25e70b909e4341df" /><Relationship Type="http://schemas.openxmlformats.org/officeDocument/2006/relationships/slide" Target="/ppt/slides/slide1.xml" Id="Rc63751a8637b4e52" /><Relationship Type="http://schemas.openxmlformats.org/officeDocument/2006/relationships/slide" Target="/ppt/slides/slide2.xml" Id="R5b8422a539734411" /><Relationship Type="http://schemas.openxmlformats.org/officeDocument/2006/relationships/slide" Target="/ppt/slides/slide3.xml" Id="R8216570f89e044c6" /><Relationship Type="http://schemas.openxmlformats.org/officeDocument/2006/relationships/slide" Target="/ppt/slides/slide4.xml" Id="Rd558da52f8a5485c" /><Relationship Type="http://schemas.openxmlformats.org/officeDocument/2006/relationships/slide" Target="/ppt/slides/slide5.xml" Id="Raee8451b8bdc44c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7856a7407704f3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25d4f9fcd9a4025" /><Relationship Type="http://schemas.openxmlformats.org/officeDocument/2006/relationships/notesMaster" Target="/ppt/notesMasters/notesMaster1.xml" Id="R3b0ac713653a426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dcfd80fc8864ca0" /><Relationship Type="http://schemas.openxmlformats.org/officeDocument/2006/relationships/notesMaster" Target="/ppt/notesMasters/notesMaster1.xml" Id="R83ed4d489e3c479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6d603ef3fb34997" /><Relationship Type="http://schemas.openxmlformats.org/officeDocument/2006/relationships/notesMaster" Target="/ppt/notesMasters/notesMaster1.xml" Id="R08b5792c249141d2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7d716ceffdc4662" /><Relationship Type="http://schemas.openxmlformats.org/officeDocument/2006/relationships/notesMaster" Target="/ppt/notesMasters/notesMaster1.xml" Id="R1d45163273bb46f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e4625ba4fdd4a25" /><Relationship Type="http://schemas.openxmlformats.org/officeDocument/2006/relationships/notesMaster" Target="/ppt/notesMasters/notesMaster1.xml" Id="R28d3c5fd858f45d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Hiện trạng và nguyên tắc thiết kế của AURA; không dùng số liệu hiệu quả chưa đo.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Workflow chi tiết: submission/AURA_WORKFLOW_SPEC.md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nội bộ: 70 test offline; Ollama 4B đạt 15/15 qua ba batch liên tiếp trên 5 fixture tổng hợp ngày 27/09/2026. Không suy rộng thành accuracy thực tế.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và hướng dẫn chạy localhost: https://github.com/BondPhuPhamzZ/AURA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Nguồn deploy: https://render.com/docs/free ; https://www.smarterasp.net/support/kb/a2437/how-to-set-environment-variable-for-your-account.aspx . Cơ chế retry đối chiếu OpenRouterVisionExtractorService.cs.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9b8b3ec4a7c44d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4090bfafaed4fe7" /><Relationship Type="http://schemas.openxmlformats.org/officeDocument/2006/relationships/slideLayout" Target="/ppt/slideLayouts/slideLayout1.xml" Id="R9da7d6cd32914c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da7d6cd32914c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8ce51bf11542fa" /><Relationship Type="http://schemas.openxmlformats.org/officeDocument/2006/relationships/notesSlide" Target="/ppt/notesSlides/notesSlide1.xml" Id="R5c0e8941c11642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4da175b8c6d4066" /><Relationship Type="http://schemas.openxmlformats.org/officeDocument/2006/relationships/notesSlide" Target="/ppt/notesSlides/notesSlide2.xml" Id="Reebfcf0aa34a402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007873b5114095" /><Relationship Type="http://schemas.openxmlformats.org/officeDocument/2006/relationships/notesSlide" Target="/ppt/notesSlides/notesSlide3.xml" Id="Rc5b95356a9334c63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677c9a0b8524862" /><Relationship Type="http://schemas.openxmlformats.org/officeDocument/2006/relationships/notesSlide" Target="/ppt/notesSlides/notesSlide4.xml" Id="R72057ddd3812486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7fd5918f5b04410" /><Relationship Type="http://schemas.openxmlformats.org/officeDocument/2006/relationships/notesSlide" Target="/ppt/notesSlides/notesSlide5.xml" Id="R4fd9f8a480b4441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DD194C1-9B27-4AE3-9EEF-4E8C7A7A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E380DF7-21BF-4170-BC7E-515200AE2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Hoàn ứng hôm nay: nhiều điểm chờ, ít bằng chứng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1DCE96D-67FC-4CC2-B194-B0C45191F0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biến ngoại lệ thành câu hỏi có thể quyết định — không giao quyền duyệt cho AI.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0B5D48-7F73-47A1-9B5D-0711A8097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CC8CB1-D02A-4F70-A3BF-F1F4D5DBF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0E5271-0852-4A0E-B3F8-060B758B8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AFA416-EEE9-4CBF-B250-DC634F317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Gửi hóa đơn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8AC9C-15D5-44E4-AE81-3383537E5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Ảnh 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837B5C-8456-4CFE-A77B-57EB34103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669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9AC3C6-101B-44E3-9520-4D26F4C5B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6EF6476-DA67-41C4-A44C-EDF735FF0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98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9762DF-5728-4393-9EBF-CC49F0B76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thủ công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35E8A7-2841-47AF-80D0-708299C7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Dễ sai định dạng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FDFD93-BD6A-4C83-96E9-9537F0B36C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5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1A0E68-798C-4267-A9FD-6B6D34BBF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90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8F6051-4C89-4F35-9801-99E760E0E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7736A36-EB48-4312-9B4E-175893F29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97809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Đối chiếu policy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B8F1BF-2095-4259-AD31-DB6815AC6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Phụ thuộc người xử lý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918DD97-F6CF-4719-9C5C-EA1114FB9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721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3131D07-15BF-4A88-9A1B-7E0EC44B67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8B90B5-1AD1-45EF-849B-6D89047F4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150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1A2C1AA-7D70-4FBC-934E-F53F372BA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Hỏi quản lý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73729AD-D156-442C-A90E-163BCA00C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245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Thiếu câu hỏi cụ thể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B6D8C78-29D8-47B9-BCA1-E246E8DA99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24725" y="2057400"/>
            <a:ext cx="171450" cy="2667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FA735CB-F520-42CE-B79F-F1B3BBB50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34275" y="1695450"/>
            <a:ext cx="1504950" cy="1009650"/>
          </a:xfrm>
          <a:prstGeom xmlns:a="http://schemas.openxmlformats.org/drawingml/2006/main" prst="roundRect">
            <a:avLst>
              <a:gd name="adj" fmla="val 1132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18BA187-0A23-4E51-81FB-97153F9DC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1828800"/>
            <a:ext cx="4000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9FB1CA"/>
          </a:solidFill>
          <a:ln xmlns:a="http://schemas.openxmlformats.org/drawingml/2006/main" w="9525">
            <a:solidFill>
              <a:srgbClr val="9FB1C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745A3AB-02CE-4FAC-9C9F-17AD64D78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190750"/>
            <a:ext cx="1219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Lưu lịch sử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761B49E-DD2A-437B-8838-8164A6202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77150" y="2447925"/>
            <a:ext cx="1219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Khó truy vết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C6C5F41-A075-47DE-9B63-E9B6E1BE8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600200"/>
            <a:ext cx="2038350" cy="1200150"/>
          </a:xfrm>
          <a:prstGeom xmlns:a="http://schemas.openxmlformats.org/drawingml/2006/main" prst="roundRect">
            <a:avLst>
              <a:gd name="adj" fmla="val 9524"/>
            </a:avLst>
          </a:prstGeom>
          <a:solidFill xmlns:a="http://schemas.openxmlformats.org/drawingml/2006/main">
            <a:srgbClr val="102A3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E9138B9-AEB4-4FED-A4BF-4C65D0D23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1790700"/>
            <a:ext cx="1619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nghẽn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34642F6-A8C8-4BC8-9C62-332B62A28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095500"/>
            <a:ext cx="16002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87186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phải OCR — mà là biết khi nào phải dừng và hỏi người.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557602C-2B0B-49CD-8422-FFCA03E0B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257550"/>
            <a:ext cx="3810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Thiết kế lại quy trình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9468B12-9B9D-4AB6-BF3A-82D675FED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62DB80D3-A08A-4B93-B43C-7E30BFC77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AI đọc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B3397B-E01D-4B81-B119-D283D3FDE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Qwen trích dữ kiện có cấu trúc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704EE13-DEE8-4146-A719-5DC3D537C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suy đoán field không đọc chắc.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92D80AF-AB21-4AF1-A5EA-7D4435870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0E1746E-9616-4C79-8470-244370039D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96282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Policy quyết định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2C5B7CD-C554-428E-A040-C971CAC9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C# tất định: FACT → POLICY → AUTHORITY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06634C2-A70E-457F-B0F3-06EF8028C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912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Đầu vào nghi vấn không bao giờ auto-approve.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AD674A9-EEFC-4C2F-B7AE-FE86CE0FE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53375" y="3762375"/>
            <a:ext cx="3476625" cy="1809750"/>
          </a:xfrm>
          <a:prstGeom xmlns:a="http://schemas.openxmlformats.org/drawingml/2006/main" prst="roundRect">
            <a:avLst>
              <a:gd name="adj" fmla="val 6316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C16438E5-DF7E-48EF-8CE7-68676873E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3962400"/>
            <a:ext cx="12382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62413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Con người chịu trách nhiệm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CB726B5-BF87-4DEC-96ED-7EC36C8FE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457700"/>
            <a:ext cx="309562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xử lý ngoại lệ và có thể hoàn tác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95AE993-64A1-4E3E-A1D4-8F93BB721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5095875"/>
            <a:ext cx="3095625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Audit giữ đủ timeline, UI chỉ hiện một hồ sơ.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2F87EE2-A47F-4EC5-9732-2FA935E72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7759AF2E-479B-425B-9405-44772A3E6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1/5</a:t>
            </a:r>
          </a:p>
        </p:txBody>
      </p:sp>
    </p:spTree>
    <p:extLst>
      <p:ext uri="{BB962C8B-B14F-4D97-AF65-F5344CB8AC3E}">
        <p14:creationId xmlns:p14="http://schemas.microsoft.com/office/powerpoint/2010/main" val="13747184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D87ADFE3-AC32-44BE-A8B0-4395C345ED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48660DE-E392-4717-A43F-57FD93B80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Một luồng — hai điểm con người quyết định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79FBB6-6E46-4A67-A748-26863E207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Input và AI là dữ kiện; quyết định nghiệp vụ nằm ở policy và quản lý.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DAE4FC0-0BD0-4B36-A82F-90170A81D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CFA816-8097-427D-BEA8-35B182B714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A7C262-B064-4602-AEA4-2E7D1A54D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92D8564-D80C-4171-B2A6-86899FCA9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Input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4A911A-BBF8-4072-927C-313F431C6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JPG/PNG ≤5MB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số tiền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F6BFE7B-4272-46F3-A858-358BB4655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C5AC3FB-5A3A-4594-A728-0454BEAF2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84C902-0961-46A5-8CBE-996BCC9BF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A0D87B7-03D5-4E1D-8157-FBEE80A86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Kiểm file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93C2EE5-BB47-439E-B12E-C86437355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MIME • magic bytes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SHA-256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C6292B-D666-4770-BAF3-B11B3ACC7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7202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5DD643E-FF50-428E-AA6B-964812D37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4C991E1-08DB-48D4-8E65-518D4D0AFB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579179F-287C-414B-A9A0-6EFAB942D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8165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3B6C4ED-6C94-4AEE-B527-BCF97A3FE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JSON Schema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+ semantic repair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EB83095-0A3F-4CE0-BCD4-82AA860A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0555A2-6479-4FF2-93B1-2C899C4BB4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86625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4A14DAE-EBB0-45A4-815D-C0803303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0028F68-4ED8-4C30-8DE8-25446C460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39075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C2DDEE-E46E-4268-B747-A08605B34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9025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C# tất định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FACT → POLICY → AUTHORITY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391FA4C-0482-495D-B826-68406A865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86875" y="2095500"/>
            <a:ext cx="209550" cy="30480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2A4262"/>
          </a:solidFill>
          <a:ln xmlns:a="http://schemas.openxmlformats.org/drawingml/2006/main" w="0">
            <a:solidFill>
              <a:srgbClr val="2A4262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9E71EEA-84BD-4FD3-B5CE-D033EF2C3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1600200"/>
            <a:ext cx="1952625" cy="1352550"/>
          </a:xfrm>
          <a:prstGeom xmlns:a="http://schemas.openxmlformats.org/drawingml/2006/main" prst="roundRect">
            <a:avLst>
              <a:gd name="adj" fmla="val 8451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7D13FE1-7A91-4B52-AF13-D08100657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6925" y="1752600"/>
            <a:ext cx="3238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058F16-A595-4C2B-91C0-0CD03F7EC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1752600"/>
            <a:ext cx="1257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Kết quả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E2EB175-F439-4269-B09A-98B6D9D971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6450" y="2190750"/>
            <a:ext cx="164782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AUTO_APPROVE</a:t>
            </a:r>
          </a:p>
          <a:p xmlns:a="http://schemas.openxmlformats.org/drawingml/2006/main">
            <a:pPr algn="ctr">
              <a:defRPr sz="12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hoặc ESCALATE_*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1E8C0D5-07AF-4A0C-9107-AE5A96562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Điểm người #1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AD310B8-AFAF-4D80-B504-18C375137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714750"/>
            <a:ext cx="50958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DAEABD5-5B57-4B9B-AF51-F2645DD975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943350"/>
            <a:ext cx="4476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Nhân viên xác nhận chuyển tiếp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CA9AB7-7919-4B8F-A2E1-54934AC65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10075"/>
            <a:ext cx="428625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chỉ hồ sơ ESCALATE_*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chuyển từng hồ sơ hoặc tất cả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tab quản lý cập nhật ngay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17B21E4-C230-4329-BFB2-25D1A1931C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72100"/>
            <a:ext cx="1809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Không chuyển âm thầm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55F3685-CE10-4EE4-943F-6022659EC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00425"/>
            <a:ext cx="15430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Điểm người #2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7147C61-E28D-4858-9996-E8F8563B2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3714750"/>
            <a:ext cx="5514975" cy="2076450"/>
          </a:xfrm>
          <a:prstGeom xmlns:a="http://schemas.openxmlformats.org/drawingml/2006/main" prst="roundRect">
            <a:avLst>
              <a:gd name="adj" fmla="val 5505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ED62043-197B-4449-AE0C-F4583DFE7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943350"/>
            <a:ext cx="4905375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Quản lý trả lời câu hỏi cụ thể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F580BE1-10F1-4C2F-B409-44CEF435B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12352F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6E7EB7C-21D3-4873-A7BC-1C702A37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ĐỒNG Ý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C7360C2-9524-4FC6-9693-A783284E1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duyệt ngoại lệ / tiếp nhận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E76257E-2119-4FBE-A073-0BC3AAEC2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48725" y="4438650"/>
            <a:ext cx="2238375" cy="638175"/>
          </a:xfrm>
          <a:prstGeom xmlns:a="http://schemas.openxmlformats.org/drawingml/2006/main" prst="roundRect">
            <a:avLst>
              <a:gd name="adj" fmla="val 17910"/>
            </a:avLst>
          </a:prstGeom>
          <a:solidFill xmlns:a="http://schemas.openxmlformats.org/drawingml/2006/main">
            <a:srgbClr val="3A202C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844219B-DC8E-42C0-8696-8940C5D33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552950"/>
            <a:ext cx="18954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TỪ CHỐI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EA7C99F-8421-4001-9C1D-43252693C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4810125"/>
            <a:ext cx="18954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9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trả lại / yêu cầu bổ sung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41E4FDF-A1BF-4F59-AE49-D3B52DCF0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47053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Audit append-only • hoàn tác quyết định gần nhất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BAB3B6F7-3E77-4B1A-B806-030D4B45EA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84ABC0B-B7BA-4150-B743-6570662ED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2/5</a:t>
            </a:r>
          </a:p>
        </p:txBody>
      </p:sp>
    </p:spTree>
    <p:extLst>
      <p:ext uri="{BB962C8B-B14F-4D97-AF65-F5344CB8AC3E}">
        <p14:creationId xmlns:p14="http://schemas.microsoft.com/office/powerpoint/2010/main" val="153578214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AD7A4FE-309A-40CF-A069-DB48B977F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19CDC8-D97E-4AF7-AABC-6D98B66DA7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Tác động phải đo được — không tự tuyên bố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3730901-D11C-423D-9F5B-80392071E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phân biệt kết quả kỹ thuật đã xác minh với tác động vận hành cần pilot.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7F6BAA-8CE3-40CE-9166-32EDEB368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77C0B64-2853-4D05-9F35-4E21D2B1F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533400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795651-7027-4F93-BFA3-65FE576B3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733550"/>
            <a:ext cx="8191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TRƯỚC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0FACF-BFE2-424D-A3AA-A71EE8A56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Đọc và phân loại thủ công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BDB8A9A-C999-4BF8-8903-3B44F3FB0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2647950"/>
            <a:ext cx="4810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nhiều lần chạm trên hồ sơ routine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escalation không nhất quán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lịch sử rời rạc, khó giải thích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78B11EE-78FA-4ED1-824F-86D3B5912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43650" y="1543050"/>
            <a:ext cx="5314950" cy="2209800"/>
          </a:xfrm>
          <a:prstGeom xmlns:a="http://schemas.openxmlformats.org/drawingml/2006/main" prst="roundRect">
            <a:avLst>
              <a:gd name="adj" fmla="val 517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54EEEA-8F5A-4121-BF5F-DEB2A0CF0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33550"/>
            <a:ext cx="1381125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SAU — MỤC TIÊU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01C4DF-18E6-417B-8014-1703567C0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200275"/>
            <a:ext cx="476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Tự xử lý ca rõ ràng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B5C0D9B-751B-4AD3-9842-C94211DE3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647950"/>
            <a:ext cx="4762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con người chỉ nhận ngoại lệ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câu hỏi có dữ kiện và lựa chọn</a:t>
            </a:r>
          </a:p>
          <a:p xmlns:a="http://schemas.openxmlformats.org/drawingml/2006/main">
            <a:pPr algn="l">
              <a:defRPr sz="13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• một hồ sơ, một timeline truy vết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7445294-B96F-40CF-B81B-ECA324381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767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Bằng chứng đã có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E8F69A-A8AD-4FD5-8B36-4A4E34F2E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CCE7F1-DF8F-4F4E-8BF3-D1121F530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4D8DFF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4D8DFF"/>
                </a:solidFill>
                <a:latin typeface="Arial"/>
                <a:ea typeface="Arial"/>
                <a:cs typeface="Arial"/>
              </a:rPr>
              <a:t>70/70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2E52BCA-E69A-47BA-912E-793E5597E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test offline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DED24C-6C2F-4CE0-82B1-F82FD4393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76475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FE9959-741B-4E89-BB47-B481A9B38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15/15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1D534A9-5784-4DA1-86A7-64452DDD47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90775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 batch Ollama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5F8995-BE60-4836-BDA1-B12B4D7622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38600" y="4505325"/>
            <a:ext cx="1562100" cy="1133475"/>
          </a:xfrm>
          <a:prstGeom xmlns:a="http://schemas.openxmlformats.org/drawingml/2006/main" prst="roundRect">
            <a:avLst>
              <a:gd name="adj" fmla="val 1008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D39DC26-7987-4370-8F25-60C05A6251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4676775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A78BF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A78BF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2A37F4-B83D-4D4F-B0F0-D75526B5C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172075"/>
            <a:ext cx="1333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ca BGK khóa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63B6292-50C3-4B5F-A552-3D0C01A1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076700"/>
            <a:ext cx="5610225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320F17-3C87-4D09-884E-408D992D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76725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Đo trong pilot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A4320E5-BF4E-4BBD-8A09-EECD69525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Touchless rate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7088B7B-EB3C-49AB-A1CB-E2CB29BE9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86300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Review time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74EDD8B-528E-4FFF-BCE7-8E2871155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Over-escalation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E45CA5B-9555-44A5-85F5-0C1EFE5B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095875"/>
            <a:ext cx="22479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Missed escalation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0FEB4FE-682D-4150-A1C5-77349FCE2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5810250"/>
            <a:ext cx="5610225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Baseline và target chỉ điền sau khi có dữ liệu người dùng thật.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B58A309-E418-4365-9BD4-F0FB33D44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C9EC89A-2648-4850-8834-E005994AD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3/5</a:t>
            </a:r>
          </a:p>
        </p:txBody>
      </p:sp>
    </p:spTree>
    <p:extLst>
      <p:ext uri="{BB962C8B-B14F-4D97-AF65-F5344CB8AC3E}">
        <p14:creationId xmlns:p14="http://schemas.microsoft.com/office/powerpoint/2010/main" val="980071519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8D79211-2651-4EC6-B4E8-C1081D6879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89F82E-BBB9-45ED-A268-D3D6FBD0C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Kiến trúc: model thay được, policy đứng yên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167745-E7B5-4CE8-8A18-F44542046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Vertical slice chạy thật trên ASP.NET Core; Test Kit chỉ là dữ liệu mô phỏng.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3E5CED-1BFF-420F-A11A-C60DB0008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CFFA01-4877-4386-A0D3-8182FF508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5430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265C9-ACCE-4DEE-B2DF-7807AEE3F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145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GIAO DIỆN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875ED-FAC1-4985-A712-8DC9B634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17335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Razor MVC • fetch cho AI • reload sau workflow write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8223BC-CD2E-4A52-A485-F90799192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1717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74F5118-ACDF-4B81-AABF-FADB88F52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3622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53392C-C249-48EF-8F14-B0C2D9A6D0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336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ỨNG DỤNG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7BA0F69-E727-4653-AF51-B84EC60F94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25527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Applicant / Verify / Reviewer • state validation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0C7B5E-65AB-4D13-BE2C-182340566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299085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4D08274-6A1A-445F-8810-76BA933AC8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18135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B92940C-29DF-4E6E-BED8-3DE46C0191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QUYẾT ĐỊNH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77F630-7A27-47AC-A29B-03E6E43E7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337185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Semantic validator → PolicyDecisionEngine → EscalationWorkflow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808892F-0B09-411C-A17B-112A3ABBC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3850" y="3810000"/>
            <a:ext cx="0" cy="1905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A4262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E482A05-BD4D-488C-B336-2E94A8AB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000500"/>
            <a:ext cx="723900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F135116-EB7B-4058-B7DB-65DBDA7CB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71950"/>
            <a:ext cx="12573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DỮ LIỆU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B09530A-DD4D-4BD1-86BA-AD11DFC5D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14550" y="4191000"/>
            <a:ext cx="542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EF Core • SQL Server • private receipt storage • AuditLogs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4E6715A-4EE4-4334-8F4B-59FE1BB3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5095875"/>
            <a:ext cx="72390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0E2A3D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331702-7F8C-44A5-B595-8A553F8D9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276850"/>
            <a:ext cx="1952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VISION PROVIDER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A32488F-A370-4A47-B864-CE5A17F9F6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5562600"/>
            <a:ext cx="742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OpenRouter mặc định • Ollama local tùy chọn • không có quyền quyết định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610D4FE-8245-424F-A601-F17CC8CA0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1543050"/>
            <a:ext cx="3505200" cy="200025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84EE886-4BB0-4071-97B5-24984D5FB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752600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CHẠY THẬT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EC74595-F82B-4705-8537-FAC3E5EE1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238375"/>
            <a:ext cx="2905125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Upload + validation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Vision provider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Policy C#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+ Audit + Undo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BCD2D8-841E-4BEB-8B44-BD17A1BD8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781425"/>
            <a:ext cx="3505200" cy="2266950"/>
          </a:xfrm>
          <a:prstGeom xmlns:a="http://schemas.openxmlformats.org/drawingml/2006/main" prst="roundRect">
            <a:avLst>
              <a:gd name="adj" fmla="val 5042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97A7B24-97F2-44DD-93CD-2DB4E1F887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990975"/>
            <a:ext cx="11239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MÔ PHỎNG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F87716-AC95-4522-8112-BAB30DEEB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476750"/>
            <a:ext cx="2905125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30 ảnh tổng hợp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5 ca Verify</a:t>
            </a:r>
          </a:p>
          <a:p xmlns:a="http://schemas.openxmlformats.org/drawingml/2006/main">
            <a:pPr algn="l">
              <a:defRPr sz="15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 ca giao BGK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E979A21-F0D3-4D40-B269-02F05D767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467350"/>
            <a:ext cx="2905125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tax/e-invoice lookup</a:t>
            </a:r>
          </a:p>
          <a:p xmlns:a="http://schemas.openxmlformats.org/drawingml/2006/main">
            <a:pPr algn="l">
              <a:defRPr sz="105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có user role thật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B4977F0-FFD4-49D0-B6A0-33F1AFCD4C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Track A • 27/09/2026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D7065C4-F349-4F5D-B54A-C9DCC4614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4/5</a:t>
            </a:r>
          </a:p>
        </p:txBody>
      </p:sp>
    </p:spTree>
    <p:extLst>
      <p:ext uri="{BB962C8B-B14F-4D97-AF65-F5344CB8AC3E}">
        <p14:creationId xmlns:p14="http://schemas.microsoft.com/office/powerpoint/2010/main" val="90663774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8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A466144-C42D-4EF4-BBDE-F2C4042DC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619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2D3EE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2D3EE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0E9709-BD79-4A55-A90E-1DD00B1CC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5750"/>
            <a:ext cx="10572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Giới hạn được nói thẳng — và cách fail-safe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439423D-3299-46D1-9CC1-F9DEC8E7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781050"/>
            <a:ext cx="103822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Không gọi một retry là circuit breaker; không biến lỗi provider thành quyết định nghiệp vụ.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0151083-CCF9-4FFF-BE11-81BE4E4AE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162050"/>
            <a:ext cx="11144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4F738-2A5C-49C4-A327-9578A37878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14954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70A48A-65EF-4B0F-A5D1-C1DEFA543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668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F6B7A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429 / hết credit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037EFBF-C9D5-48F5-81DB-0DBDC656A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6764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Không retry • dừng phần Verify còn lại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BEBB03-A4EF-4D66-A411-A70EB8D5C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2955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6B5400A-7DEA-4659-85C1-C307256CF2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4669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F8C14C"/>
          </a:solidFill>
          <a:ln xmlns:a="http://schemas.openxmlformats.org/drawingml/2006/main" w="9525">
            <a:solidFill>
              <a:srgbClr val="F8C14C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5xx tạm thời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8B298A2-4B66-45FE-86BA-FE3395B5C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765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Retry tối đa 1 lần • rồi kiểm thủ công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B2E81A-A39B-415B-8F16-7BF7D3CC1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0956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6C2C07E-177F-422D-8589-B6B9D41519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A78BFA"/>
          </a:solidFill>
          <a:ln xmlns:a="http://schemas.openxmlformats.org/drawingml/2006/main" w="9525">
            <a:solidFill>
              <a:srgbClr val="A78BFA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JSON / semantic sai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B1AB71E-364A-49E0-8BB5-FE813B2C6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2766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Repair đúng 1 lần • rồi FACT fail-safe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C518E1-ED4A-4F29-8952-7F6603D85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38957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C6A1B62-C8E6-4D73-B3CD-8BE353D645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671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2D3EE"/>
          </a:solidFill>
          <a:ln xmlns:a="http://schemas.openxmlformats.org/drawingml/2006/main" w="9525">
            <a:solidFill>
              <a:srgbClr val="22D3EE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Ảnh mơ hồ / giả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A8C3100-7235-4213-B48C-AB9AB90A8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0767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FACT ưu tiên • không auto-approve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F681309-7E06-4EDE-AAF7-6BC9F58B7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4695825"/>
            <a:ext cx="7105650" cy="628650"/>
          </a:xfrm>
          <a:prstGeom xmlns:a="http://schemas.openxmlformats.org/drawingml/2006/main" prst="roundRect">
            <a:avLst>
              <a:gd name="adj" fmla="val 18182"/>
            </a:avLst>
          </a:prstGeom>
          <a:solidFill xmlns:a="http://schemas.openxmlformats.org/drawingml/2006/main">
            <a:srgbClr val="10223B"/>
          </a:solidFill>
          <a:ln xmlns:a="http://schemas.openxmlformats.org/drawingml/2006/main" w="9525">
            <a:solidFill>
              <a:srgbClr val="2A4262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2ABAC0-3DC0-46E9-B390-3BB6E8C6B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67275"/>
            <a:ext cx="171450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4D8DFF"/>
          </a:solidFill>
          <a:ln xmlns:a="http://schemas.openxmlformats.org/drawingml/2006/main" w="9525">
            <a:solidFill>
              <a:srgbClr val="4D8DFF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Storage / deploy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32D3629-3703-4F83-9ACF-FBE7DB470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876800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SQL Server + private folder bền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1B0AF00-F86C-459E-ACE3-02877BBFD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495425"/>
            <a:ext cx="3638550" cy="2305050"/>
          </a:xfrm>
          <a:prstGeom xmlns:a="http://schemas.openxmlformats.org/drawingml/2006/main" prst="roundRect">
            <a:avLst>
              <a:gd name="adj" fmla="val 4959"/>
            </a:avLst>
          </a:prstGeom>
          <a:solidFill xmlns:a="http://schemas.openxmlformats.org/drawingml/2006/main">
            <a:srgbClr val="142A4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D5EDCB6-3A4D-4B51-9ABE-072EEF4DF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1714500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DD4A7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DD4A7"/>
                </a:solidFill>
                <a:latin typeface="Arial"/>
                <a:ea typeface="Arial"/>
                <a:cs typeface="Arial"/>
              </a:rPr>
              <a:t>ĐÃ BÀN GIAO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6C508F-A5E9-409D-A5B2-18811BCE5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143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AC6710E-4CD8-4D6E-9E4E-51E146074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171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Repo + hướng dẫn local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4FC9BCF-5A3B-4A9A-B2F6-1DC5BC387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524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3032DA4-11C5-4BF8-8352-827F2ED56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552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70 test offline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B826F3F-331D-41E7-A25E-6540DD001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2905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2E904AD-7500-4A4E-8830-29483B8EE8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933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15/15 fixture + 15 ca BGK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758F18C-3293-47C1-B0CC-B7FAEBFDC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3286125"/>
            <a:ext cx="285750" cy="285750"/>
          </a:xfrm>
          <a:prstGeom xmlns:a="http://schemas.openxmlformats.org/drawingml/2006/main" prst="roundRect">
            <a:avLst>
              <a:gd name="adj" fmla="val 40000"/>
            </a:avLst>
          </a:prstGeom>
          <a:solidFill xmlns:a="http://schemas.openxmlformats.org/drawingml/2006/main">
            <a:srgbClr val="2DD4A7"/>
          </a:solidFill>
          <a:ln xmlns:a="http://schemas.openxmlformats.org/drawingml/2006/main" w="9525">
            <a:solidFill>
              <a:srgbClr val="2DD4A7"/>
            </a:solidFill>
            <a:prstDash val="solid"/>
          </a:ln>
        </p:spPr>
        <p:txBody>
          <a:bodyPr xmlns:a="http://schemas.openxmlformats.org/drawingml/2006/main" lIns="57150" tIns="9525" rIns="57150" bIns="9525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081426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08142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199269-86D3-4F49-A7D1-83B31E155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314700"/>
            <a:ext cx="2571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Video • slide • Build Log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1EB5949-1F57-4A7E-9882-AA3D2B688D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4038600"/>
            <a:ext cx="3638550" cy="1457325"/>
          </a:xfrm>
          <a:prstGeom xmlns:a="http://schemas.openxmlformats.org/drawingml/2006/main" prst="roundRect">
            <a:avLst>
              <a:gd name="adj" fmla="val 7843"/>
            </a:avLst>
          </a:prstGeom>
          <a:solidFill xmlns:a="http://schemas.openxmlformats.org/drawingml/2006/main">
            <a:srgbClr val="342334"/>
          </a:solidFill>
          <a:ln xmlns:a="http://schemas.openxmlformats.org/drawingml/2006/main" w="9525">
            <a:solidFill>
              <a:srgbClr val="FF6B7A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0F4D599-F829-46FC-8287-167ECE85C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257675"/>
            <a:ext cx="31051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FF6B7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6B7A"/>
                </a:solidFill>
                <a:latin typeface="Arial"/>
                <a:ea typeface="Arial"/>
                <a:cs typeface="Arial"/>
              </a:rPr>
              <a:t>CHƯA CÓ TRONG SPRINT 1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255A861-F1F0-4331-B1A0-AD414991D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7225" y="4638675"/>
            <a:ext cx="31051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PDF/nhiều trang • authentication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tax lookup • object storage</a:t>
            </a:r>
          </a:p>
          <a:p xmlns:a="http://schemas.openxmlformats.org/drawingml/2006/main">
            <a:pPr algn="l">
              <a:defRPr sz="1275" b="1">
                <a:solidFill>
                  <a:srgbClr val="F5F8FF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F5F8FF"/>
                </a:solidFill>
                <a:latin typeface="Arial"/>
                <a:ea typeface="Arial"/>
                <a:cs typeface="Arial"/>
              </a:rPr>
              <a:t>benchmark dữ liệu độc lập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D3AA8EE-4F9E-473D-B331-685B61C49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724525"/>
            <a:ext cx="3638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F8C14C"/>
                </a:solidFill>
                <a:latin typeface="Arial"/>
                <a:ea typeface="Arial"/>
                <a:cs typeface="Arial"/>
              </a:defRPr>
            </a:pPr>
            <a:r>
              <a:rPr sz="1050" b="1">
                <a:solidFill>
                  <a:srgbClr val="F8C14C"/>
                </a:solidFill>
                <a:latin typeface="Arial"/>
                <a:ea typeface="Arial"/>
                <a:cs typeface="Arial"/>
              </a:rPr>
              <a:t>Ollama 4B đã qua fixture gate; benchmark độc lập vẫn là điều kiện đổi baseline.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9822607D-BEC6-4582-B35B-D56871477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6534150"/>
            <a:ext cx="9048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9FB1CA"/>
                </a:solidFill>
                <a:latin typeface="Arial"/>
                <a:ea typeface="Arial"/>
                <a:cs typeface="Arial"/>
              </a:rPr>
              <a:t>AURA • Giới hạn hiện tại, không phải lời hứa marketing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FBE6900-6EDC-408E-AFA9-3EF3AB3322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5151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9FB1CA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9FB1CA"/>
                </a:solidFill>
                <a:latin typeface="Arial"/>
                <a:ea typeface="Arial"/>
                <a:cs typeface="Arial"/>
              </a:rPr>
              <a:t>5/5</a:t>
            </a:r>
          </a:p>
        </p:txBody>
      </p:sp>
    </p:spTree>
    <p:extLst>
      <p:ext uri="{BB962C8B-B14F-4D97-AF65-F5344CB8AC3E}">
        <p14:creationId xmlns:p14="http://schemas.microsoft.com/office/powerpoint/2010/main" val="51738806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2026-09-26T19:01:14.1850000Z</dcterms:created>
  <dcterms:modified xsi:type="dcterms:W3CDTF">2026-09-26T19:01:14.1850000Z</dcterms:modified>
</coreProperties>
</file>
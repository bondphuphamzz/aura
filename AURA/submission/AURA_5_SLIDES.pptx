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bf969b890f14631" /><Relationship Type="http://schemas.openxmlformats.org/officeDocument/2006/relationships/extended-properties" Target="/docProps/app.xml" Id="Ree178f038db64037" /><Relationship Type="http://schemas.openxmlformats.org/officeDocument/2006/relationships/officeDocument" Target="/ppt/presentation.xml" Id="R590651c233da461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6996ee539084628"/>
  </p:sldMasterIdLst>
  <p:notesMasterIdLst>
    <p:notesMasterId xmlns:r="http://schemas.openxmlformats.org/officeDocument/2006/relationships" r:id="Rcc67117d70f14d39"/>
  </p:notesMasterIdLst>
  <p:sldIdLst>
    <p:sldId xmlns:r="http://schemas.openxmlformats.org/officeDocument/2006/relationships" id="256" r:id="R3fd11b9d6dc440dd"/>
    <p:sldId xmlns:r="http://schemas.openxmlformats.org/officeDocument/2006/relationships" id="257" r:id="R9343623ee420440b"/>
    <p:sldId xmlns:r="http://schemas.openxmlformats.org/officeDocument/2006/relationships" id="258" r:id="Rb138579f350b44f0"/>
    <p:sldId xmlns:r="http://schemas.openxmlformats.org/officeDocument/2006/relationships" id="259" r:id="R592cd6f648134a12"/>
    <p:sldId xmlns:r="http://schemas.openxmlformats.org/officeDocument/2006/relationships" id="260" r:id="R600f9eac1824453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f892d3355ff4e18" /><Relationship Type="http://schemas.openxmlformats.org/officeDocument/2006/relationships/slideMaster" Target="/ppt/slideMasters/slideMaster1.xml" Id="Rd6996ee539084628" /><Relationship Type="http://schemas.openxmlformats.org/officeDocument/2006/relationships/notesMaster" Target="/ppt/notesMasters/notesMaster1.xml" Id="Rcc67117d70f14d39" /><Relationship Type="http://schemas.openxmlformats.org/officeDocument/2006/relationships/presProps" Target="/ppt/presProps.xml" Id="Rd0a82cff960d4a78" /><Relationship Type="http://schemas.openxmlformats.org/officeDocument/2006/relationships/tableStyles" Target="/ppt/tableStyles.xml" Id="R5583f629f87c45c4" /><Relationship Type="http://schemas.openxmlformats.org/officeDocument/2006/relationships/slide" Target="/ppt/slides/slide1.xml" Id="R3fd11b9d6dc440dd" /><Relationship Type="http://schemas.openxmlformats.org/officeDocument/2006/relationships/slide" Target="/ppt/slides/slide2.xml" Id="R9343623ee420440b" /><Relationship Type="http://schemas.openxmlformats.org/officeDocument/2006/relationships/slide" Target="/ppt/slides/slide3.xml" Id="Rb138579f350b44f0" /><Relationship Type="http://schemas.openxmlformats.org/officeDocument/2006/relationships/slide" Target="/ppt/slides/slide4.xml" Id="R592cd6f648134a12" /><Relationship Type="http://schemas.openxmlformats.org/officeDocument/2006/relationships/slide" Target="/ppt/slides/slide5.xml" Id="R600f9eac1824453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add72548717404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f592128b7b34815" /><Relationship Type="http://schemas.openxmlformats.org/officeDocument/2006/relationships/notesMaster" Target="/ppt/notesMasters/notesMaster1.xml" Id="R57f6c09c0865454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30237d0c79f4688" /><Relationship Type="http://schemas.openxmlformats.org/officeDocument/2006/relationships/notesMaster" Target="/ppt/notesMasters/notesMaster1.xml" Id="R1ce8b3b875ec489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636f22d81f84519" /><Relationship Type="http://schemas.openxmlformats.org/officeDocument/2006/relationships/notesMaster" Target="/ppt/notesMasters/notesMaster1.xml" Id="R26d729790c6f461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d8e8fa67a0b40cf" /><Relationship Type="http://schemas.openxmlformats.org/officeDocument/2006/relationships/notesMaster" Target="/ppt/notesMasters/notesMaster1.xml" Id="R79ea4199ce42471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28ee900815f4a26" /><Relationship Type="http://schemas.openxmlformats.org/officeDocument/2006/relationships/notesMaster" Target="/ppt/notesMasters/notesMaster1.xml" Id="Rab89d5074b214a2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Hiện trạng và nguyên tắc thiết kế của AURA; không dùng số liệu hiệu quả chưa đo.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Workflow chi tiết: submission/AURA_WORKFLOW_SPEC.md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Nguồn cập nhật 06/10/2026: source hậu holdout đạt 122/122 test offline. Live c382ce7 đạt health 5/5, security negative và Verify 5/5; bản vá hiển thị Audit UTC+7 còn cần publish lại. Official holdout thật một lượt: raw 10/15, adjusted 11/15 do một nhãn người sai, một missed escalation và không có system error. Đây là mẫu nhỏ, không phải accuracy production; ba user session vẫn là gate.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Repository và hướng dẫn chạy localhost: https://github.com/BondPhuPhamzZ/AURA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Nguồn kỹ thuật trong repo: ReceiptProcessingWorker.cs, ReceiptExtractionContract.cs, PolicyDecisionEngine.cs, VietnamTime.cs, tools/Invoke-ExtendedDatasetEvaluation.ps1 và docs/LIVE_POST_HOLDOUT_VALIDATION_2026-10-06.md. EF Core 8.0.31 và test project đã qua vulnerability scan không còn advisory tại thời điểm kiểm tra.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ccd04c459cb48f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65789472b624dbc" /><Relationship Type="http://schemas.openxmlformats.org/officeDocument/2006/relationships/slideLayout" Target="/ppt/slideLayouts/slideLayout1.xml" Id="Rd09e0a86120f4c3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09e0a86120f4c3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b8c501319c48e9" /><Relationship Type="http://schemas.openxmlformats.org/officeDocument/2006/relationships/notesSlide" Target="/ppt/notesSlides/notesSlide1.xml" Id="R2bf5b4914dc3451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66033fc2ca4b33" /><Relationship Type="http://schemas.openxmlformats.org/officeDocument/2006/relationships/notesSlide" Target="/ppt/notesSlides/notesSlide2.xml" Id="R0b5d68fd6d104a1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d8c7114b1a4b2a" /><Relationship Type="http://schemas.openxmlformats.org/officeDocument/2006/relationships/notesSlide" Target="/ppt/notesSlides/notesSlide3.xml" Id="R0d316744f80345c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a28fb6df844e58" /><Relationship Type="http://schemas.openxmlformats.org/officeDocument/2006/relationships/notesSlide" Target="/ppt/notesSlides/notesSlide4.xml" Id="R39b3be51d913487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ae042ec40141b1" /><Relationship Type="http://schemas.openxmlformats.org/officeDocument/2006/relationships/notesSlide" Target="/ppt/notesSlides/notesSlide5.xml" Id="R00c7643b9470427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8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52E3C3A-8591-4808-B9E9-3C1BC32C5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61950"/>
            <a:ext cx="647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A4FBF1-969C-45AC-A922-A5F12B3BD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Hoàn ứng hôm nay: nhiều điểm chờ, ít bằng chứng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B03B78A-F515-4D47-B6F1-4B3522A92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8105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biến ngoại lệ thành câu hỏi có thể quyết định — không giao quyền duyệt cho AI.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A48F25-BBB0-4310-9AA4-81F575B70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6205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0F303C-2B43-433C-B7A7-9E742F588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695450"/>
            <a:ext cx="15049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DBDA73-C454-4F5A-A546-AF97129E6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1828800"/>
            <a:ext cx="400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B752A4-6DA8-47C6-9EB1-3A0F22868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907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Gửi hóa đơn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802C36-F2D2-43A9-85D4-5591A0D6B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479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Ảnh + số tiền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EB97B0-CD9D-490F-8C44-01EBECD27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057400"/>
            <a:ext cx="1714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DD73A5C-596E-4C18-9F5E-BC181E465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1695450"/>
            <a:ext cx="15049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88BAF73-B940-4296-B03F-A8533C91D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1828800"/>
            <a:ext cx="400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5645FBC-AEDA-4C15-9E25-BF47DFA80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1907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Đọc thủ công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7D7C1B6-9109-45EA-A4FA-159104E49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4479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Dễ sai định dạng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385F8A-1CD3-4434-8208-D7F862679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2057400"/>
            <a:ext cx="1714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644FBDB-7242-4172-B70E-8BFC446D8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9075" y="1695450"/>
            <a:ext cx="15049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B364CCD-8C94-4B79-8917-D0521386C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1828800"/>
            <a:ext cx="400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D2C4F52-3BE9-469B-9F04-69757CF4C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1907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97809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Đối chiếu policy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1416AE9-F88F-490E-A475-19B629A96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4479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Phụ thuộc người xử lý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BBB6E9B-4615-4561-BA48-98C5FF918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2057400"/>
            <a:ext cx="1714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CAE4CA6-1CB9-4482-958C-1DE83A54E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1675" y="1695450"/>
            <a:ext cx="15049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E082F04-EC88-48DE-A9E9-5E235BD5E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1828800"/>
            <a:ext cx="400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F6B7A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C8B905B-24A7-49F3-8344-47E2DD9DA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1907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Hỏi quản lý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D8CCC0F-941A-497B-A077-6F8227122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4479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Thiếu câu hỏi cụ thể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2BAC999-F883-4408-BA2F-70B2A5C2E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2057400"/>
            <a:ext cx="1714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97ACCBD-C813-4D32-86C7-C5A09D546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275" y="1695450"/>
            <a:ext cx="15049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6131857-397C-449D-81C3-6467DD26F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1828800"/>
            <a:ext cx="400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9FB1CA"/>
          </a:solidFill>
          <a:ln xmlns:a="http://schemas.openxmlformats.org/drawingml/2006/main" w="9525">
            <a:solidFill>
              <a:srgbClr val="9FB1C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515CE89-E58A-4D16-95FC-805B74A55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1907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Lưu lịch sử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E58015A-F58D-41B4-B71F-A0786CA4C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4479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Khó truy vết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39BE24C-6237-48B1-A87B-A478DF519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600200"/>
            <a:ext cx="2038350" cy="12001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102A3E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C5BC77B-7AD1-43B9-845E-9E4E6AF49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179070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Điểm nghẽn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91011AE-5178-43B0-AA73-D95AD7147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095500"/>
            <a:ext cx="1600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87186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Không phải OCR — mà là biết khi nào phải dừng và hỏi người.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8EE81CC-08E9-4CCA-83F5-3F7E364E2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25755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Thiết kế lại quy trình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A17A8B2-B138-4A02-9992-905DAC1EB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762375"/>
            <a:ext cx="3476625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FECC157-F8A5-48EE-BEFD-578FC54E4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962400"/>
            <a:ext cx="12382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AI đọc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E381A0E-3293-46C7-B159-D41AFF7BB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457700"/>
            <a:ext cx="3095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Qwen trích dữ kiện có cấu trúc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614EFB2-5468-4432-9D5E-BBA65A911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095875"/>
            <a:ext cx="3095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Không suy đoán field không đọc chắc.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F66E2AC-F338-45F9-A14B-E4A033F48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3762375"/>
            <a:ext cx="3476625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B920CB1-EF02-46BE-B157-B2C1281E4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962400"/>
            <a:ext cx="12382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96282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Policy quyết định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695EB4B-859D-4692-9F8C-54290318C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4457700"/>
            <a:ext cx="3095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C# tất định: FACT → POLICY → AUTHORITY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76402CC-5B7A-484C-9FC8-402B09D32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5095875"/>
            <a:ext cx="3095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Đầu vào nghi vấn không bao giờ auto-approve.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CA72441-918F-4B5F-B74A-383FD4F80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3762375"/>
            <a:ext cx="3476625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F5F795F-FC81-4416-B33E-C27A4AC46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3962400"/>
            <a:ext cx="12382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62413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Con người chịu trách nhiệm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3B03CE2-5FD1-484F-919F-CEC399BD1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4457700"/>
            <a:ext cx="3095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Quản lý xử lý ngoại lệ và có thể hoàn tác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8D141F9-213C-46ED-AB54-068566A09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5095875"/>
            <a:ext cx="3095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Audit giữ đủ timeline, UI chỉ hiện một hồ sơ.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388B3CC-DD1C-4259-B0A8-67DA00B8F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• Track A • 06/10/2026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E324A95-1637-415F-B42A-03E7EEC81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15100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57139008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8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677882C-2E65-4CCC-8D28-CAE4DECE6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61950"/>
            <a:ext cx="647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CBCF4B-4BCC-47C5-9677-31409A024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Một luồng — hai điểm con người quyết định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CF3F30-2A40-4852-8AB5-9C7DA4D3F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8105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Input và AI là dữ kiện; quyết định nghiệp vụ nằm ở policy và quản lý.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F91405-AFA5-44CE-90A0-1C107E689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6205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341626-460E-4CE7-8F5F-AF9FD3513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00200"/>
            <a:ext cx="1952625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C08F06-3610-43D4-8739-F5762C2F5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1752600"/>
            <a:ext cx="3238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15E3E4-DFB3-42FD-A929-2AE5C48B3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75260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Input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90C6387-834C-4077-B3F9-CA319548E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90750"/>
            <a:ext cx="1647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Ảnh + số tiền</a:t>
            </a:r>
          </a:p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+ người gửi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F9E2BA-B662-4458-BFB8-D6DDD9E7E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095500"/>
            <a:ext cx="2095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F419D0-302D-4B98-825F-F1EF14C19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1600200"/>
            <a:ext cx="1952625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C0462A1-A71F-40B3-817F-ED3A6A19A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1752600"/>
            <a:ext cx="3238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1C2E6EA-6344-4780-9489-28A9B93E0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4225" y="175260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Nhận hồ sơ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B88E75E-2E92-42E5-B5E7-3AE1E825B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2190750"/>
            <a:ext cx="1647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Lưu PENDING</a:t>
            </a:r>
          </a:p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trả HTTP 202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ADF1750-9898-41FD-92EA-3F5BDB3E1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2025" y="2095500"/>
            <a:ext cx="2095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5FB0760-A621-4CDE-89ED-79BE1C6C0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1600200"/>
            <a:ext cx="1952625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96976EC-02D7-4E54-98F3-06B09E378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2075" y="1752600"/>
            <a:ext cx="3238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A7FC989-3FC4-4F5C-8CB6-8706E37F5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175260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Worker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186B64F-0B9C-4664-9D74-2C19D11DA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2190750"/>
            <a:ext cx="1647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Claim bằng lease</a:t>
            </a:r>
          </a:p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khôi phục sau restart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34E6522-5A24-420D-9229-F35ED61E6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095500"/>
            <a:ext cx="2095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C184D4E-B5BC-4CBB-B55D-EAEEA33BB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1600200"/>
            <a:ext cx="1952625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CDA1149-326B-4BFB-B1A7-7ACC7D259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752600"/>
            <a:ext cx="3238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97D9E06-8E13-48E4-B70B-7E0FF3306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9075" y="175260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Vision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EAB0AEE-6D41-4B36-A5D7-A117CCF81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2190750"/>
            <a:ext cx="1647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Primary hoặc fallback</a:t>
            </a:r>
          </a:p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+ semantic repair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E76C726-25B9-413A-94AF-BD6EED2ED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095500"/>
            <a:ext cx="2095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E2BEB71-498C-4057-B3F4-24D9650A3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1600200"/>
            <a:ext cx="1952625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53DE267-A0CE-4C92-B754-23E6E582A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6925" y="1752600"/>
            <a:ext cx="3238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95B3B9F-097C-4D37-A8A6-FCA0CB9E6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175260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Policy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3B72D39-7D2D-422E-94EF-B7B11B496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190750"/>
            <a:ext cx="1647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AUTO_APPROVE</a:t>
            </a:r>
          </a:p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hoặc ESCALATE_*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EC49D61-A325-4562-83C2-CB645B8B3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00425"/>
            <a:ext cx="1543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Điểm người #1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BB3F30D-937C-4D6A-9DE0-AFE6C98FF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14750"/>
            <a:ext cx="5095875" cy="2076450"/>
          </a:xfrm>
          <a:prstGeom xmlns:a="http://schemas.openxmlformats.org/drawingml/2006/main" prst="roundRect">
            <a:avLst>
              <a:gd name="adj" fmla="val 5505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4530648-5472-4783-BD7C-2A202993B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43350"/>
            <a:ext cx="447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Nhân viên xác nhận chuyển tiếp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FF31346-BA20-4C60-B536-B68CDB697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10075"/>
            <a:ext cx="4286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chỉ hồ sơ ESCALATE_*</a:t>
            </a:r>
          </a:p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chuyển từng hồ sơ hoặc tất cả</a:t>
            </a:r>
          </a:p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tab quản lý cập nhật ngay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18FAA44-284B-4146-AE1A-92ADE91EE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72100"/>
            <a:ext cx="1809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Không chuyển âm thầm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F3EF115-5FEB-4541-8A0C-8529F4A99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00425"/>
            <a:ext cx="1543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8C14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8C14C"/>
                </a:solidFill>
                <a:latin typeface="Arial"/>
                <a:ea typeface="Arial"/>
                <a:cs typeface="Arial"/>
              </a:rPr>
              <a:t>Điểm người #2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AE29C8F-7126-4AF8-970E-B28492EA2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3714750"/>
            <a:ext cx="5514975" cy="2076450"/>
          </a:xfrm>
          <a:prstGeom xmlns:a="http://schemas.openxmlformats.org/drawingml/2006/main" prst="roundRect">
            <a:avLst>
              <a:gd name="adj" fmla="val 5505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8F3AC40-BDEA-4FC5-AB60-60082D6E9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943350"/>
            <a:ext cx="4905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Quản lý trả lời câu hỏi cụ thể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5479B67-3F4E-4BBA-AB79-653F30EEC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438650"/>
            <a:ext cx="2238375" cy="638175"/>
          </a:xfrm>
          <a:prstGeom xmlns:a="http://schemas.openxmlformats.org/drawingml/2006/main" prst="roundRect">
            <a:avLst>
              <a:gd name="adj" fmla="val 17910"/>
            </a:avLst>
          </a:prstGeom>
          <a:solidFill xmlns:a="http://schemas.openxmlformats.org/drawingml/2006/main">
            <a:srgbClr val="12352F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3CA7403-B358-47A0-AC65-DFE1F309D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552950"/>
            <a:ext cx="18954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DD4A7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2DD4A7"/>
                </a:solidFill>
                <a:latin typeface="Arial"/>
                <a:ea typeface="Arial"/>
                <a:cs typeface="Arial"/>
              </a:rPr>
              <a:t>ĐỒNG Ý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130E40B-4191-4CFB-8797-634F56570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810125"/>
            <a:ext cx="18954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duyệt ngoại lệ / tiếp nhận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57B170B-848A-4000-949C-7FE36B435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4438650"/>
            <a:ext cx="2238375" cy="638175"/>
          </a:xfrm>
          <a:prstGeom xmlns:a="http://schemas.openxmlformats.org/drawingml/2006/main" prst="roundRect">
            <a:avLst>
              <a:gd name="adj" fmla="val 17910"/>
            </a:avLst>
          </a:prstGeom>
          <a:solidFill xmlns:a="http://schemas.openxmlformats.org/drawingml/2006/main">
            <a:srgbClr val="3A202C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946B3DD-BD22-4488-B793-EE0A8C774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4552950"/>
            <a:ext cx="18954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6B7A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6B7A"/>
                </a:solidFill>
                <a:latin typeface="Arial"/>
                <a:ea typeface="Arial"/>
                <a:cs typeface="Arial"/>
              </a:rPr>
              <a:t>TỪ CHỐI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7F6D658-AF34-4C3D-9579-1431D732D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4810125"/>
            <a:ext cx="18954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trả lại / yêu cầu bổ sung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42CEB46-6808-4A3B-9A53-063B822AF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314950"/>
            <a:ext cx="4705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Audit append-only • hoàn tác quyết định gần nhất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2277B90-C2CF-4620-8D31-F1FAD0D38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• Track A • 06/10/2026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46FC57C-8F33-47D9-9EA2-2CA2FFDCC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15100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8327556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8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D70A18D-18AB-44EA-B425-5D4933E88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61950"/>
            <a:ext cx="647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54F11D-0DB5-44E0-90F5-338A3A733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Bằng chứng kỹ thuật và tác động cần đo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377151-05B3-4065-B9EC-B1A739FC0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8105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Kết quả regression đã có; hiệu quả vận hành chỉ kết luận sau pilot độc lập.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BC5B77-FB80-436F-9986-0F5857D0C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6205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30E82C-4E3D-40A2-B700-60922AF42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43050"/>
            <a:ext cx="5334000" cy="2209800"/>
          </a:xfrm>
          <a:prstGeom xmlns:a="http://schemas.openxmlformats.org/drawingml/2006/main" prst="roundRect">
            <a:avLst>
              <a:gd name="adj" fmla="val 517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CC668F-0E70-4847-8091-5BC974627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33550"/>
            <a:ext cx="8191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F6B7A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TRƯỚC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375CEEC-477C-4C78-9C13-1A3BFE707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200275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Đọc và phân loại thủ công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362C64-48D6-47B7-95EA-88D86BBA0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647950"/>
            <a:ext cx="4810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nhiều lần chạm trên hồ sơ routine</a:t>
            </a:r>
          </a:p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câu hỏi escalation không nhất quán</a:t>
            </a:r>
          </a:p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lịch sử rời rạc, khó giải thích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C04268D-8AE2-4F46-B971-30FCFBD53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543050"/>
            <a:ext cx="5314950" cy="2209800"/>
          </a:xfrm>
          <a:prstGeom xmlns:a="http://schemas.openxmlformats.org/drawingml/2006/main" prst="roundRect">
            <a:avLst>
              <a:gd name="adj" fmla="val 517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95C35CA-49F0-4E15-957C-029CAB58E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733550"/>
            <a:ext cx="138112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SAU — MỤC TIÊU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FFB5D3-E4C7-4361-8446-F05DD7B93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200275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Tự xử lý ca rõ ràng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98930CD-BD54-438E-94E4-FB5AAFD15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647950"/>
            <a:ext cx="4762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con người chỉ nhận ngoại lệ</a:t>
            </a:r>
          </a:p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câu hỏi có dữ kiện và lựa chọn</a:t>
            </a:r>
          </a:p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một hồ sơ, một timeline truy vết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4CFCAEF-3D79-46FF-8C46-6C8C60D4D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767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Bằng chứng đã có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D806C07-7644-4F1F-A96D-E0BF668C6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05325"/>
            <a:ext cx="1562100" cy="1133475"/>
          </a:xfrm>
          <a:prstGeom xmlns:a="http://schemas.openxmlformats.org/drawingml/2006/main" prst="roundRect">
            <a:avLst>
              <a:gd name="adj" fmla="val 10084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53A3D32-B9E2-4E3F-A8BB-4BC30E34A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676775"/>
            <a:ext cx="133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4D8DF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4D8DFF"/>
                </a:solidFill>
                <a:latin typeface="Arial"/>
                <a:ea typeface="Arial"/>
                <a:cs typeface="Arial"/>
              </a:rPr>
              <a:t>122/122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1A4D951-054B-4625-90B4-FBD24BD93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172075"/>
            <a:ext cx="133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test offline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02D072D-91D0-49C3-9750-BF386CFA3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4505325"/>
            <a:ext cx="1562100" cy="1133475"/>
          </a:xfrm>
          <a:prstGeom xmlns:a="http://schemas.openxmlformats.org/drawingml/2006/main" prst="roundRect">
            <a:avLst>
              <a:gd name="adj" fmla="val 10084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CA52311-5A5B-4448-B727-A438C08D1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0775" y="4676775"/>
            <a:ext cx="133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2DD4A7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2DD4A7"/>
                </a:solidFill>
                <a:latin typeface="Arial"/>
                <a:ea typeface="Arial"/>
                <a:cs typeface="Arial"/>
              </a:rPr>
              <a:t>5/5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134050A-155C-4DA3-A78E-DBBF650E9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0775" y="5172075"/>
            <a:ext cx="133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Verify live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8A43488-7CAF-4750-843C-4E68B5AEE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505325"/>
            <a:ext cx="1562100" cy="1133475"/>
          </a:xfrm>
          <a:prstGeom xmlns:a="http://schemas.openxmlformats.org/drawingml/2006/main" prst="roundRect">
            <a:avLst>
              <a:gd name="adj" fmla="val 10084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84CF5FB-EEAA-46DF-A0E9-667F0F8C8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4676775"/>
            <a:ext cx="133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A78BF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A78BFA"/>
                </a:solidFill>
                <a:latin typeface="Arial"/>
                <a:ea typeface="Arial"/>
                <a:cs typeface="Arial"/>
              </a:rPr>
              <a:t>7/7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A240BFE-FC4F-40B8-A2DF-AF09C9536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5172075"/>
            <a:ext cx="133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concurrent live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2F580BD-8112-439D-8B33-7B9EBDE04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4076700"/>
            <a:ext cx="5610225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775C7EB-9507-4E1E-AD7C-691EEECF8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276725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Đo trong pilot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7D08C96-E4EF-45BC-9BEA-37B3FF585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686300"/>
            <a:ext cx="22479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Touchless rate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6786DC7-7658-4E52-AA41-712DACDA7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686300"/>
            <a:ext cx="22479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Review time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1880EEF-426A-4C23-8DC5-90530DB2F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095875"/>
            <a:ext cx="22479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Over-escalation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38B8D9C-882B-4C4C-931E-78C24C87D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095875"/>
            <a:ext cx="22479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Missed escalation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3F541A4-BE29-43B5-A196-581449788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5810250"/>
            <a:ext cx="56102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8C14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8C14C"/>
                </a:solidFill>
                <a:latin typeface="Arial"/>
                <a:ea typeface="Arial"/>
                <a:cs typeface="Arial"/>
              </a:rPr>
              <a:t>Baseline và target chỉ điền sau khi có dữ liệu người dùng thật.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39E5E17-7E3A-4598-90B2-DA8185D4F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• Track A • 06/10/2026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1BF0B49-BD8F-4628-95F1-41685319C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15100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218516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8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D3D3A80-83A5-437E-BE2F-34FE22DD5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61950"/>
            <a:ext cx="647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60FB14E-8386-4725-985A-40969B1F9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Kiến trúc: model thay được, policy đứng yên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0CD6C8-679C-43A4-BFF1-FA534FFBB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8105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Vertical slice chạy thật trên ASP.NET Core; Test Kit chỉ là dữ liệu mô phỏng.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381D5F-9A80-420C-A164-9628A14D8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6205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3697610-870C-4408-BE53-8B4563F9F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43050"/>
            <a:ext cx="72390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F8224F-3CE6-4FCF-9E1F-78094420C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14500"/>
            <a:ext cx="12573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GIAO DIỆN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79A25E8-F4C3-445D-8C17-0BD2CD917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1733550"/>
            <a:ext cx="542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Razor MVC • fetch HTTP 202 • status polling sau upload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08C9F0-696C-4DB0-83F1-0658DC898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171700"/>
            <a:ext cx="0" cy="19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A426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20A6928-9FCD-4A87-8256-F46211687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62200"/>
            <a:ext cx="72390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AFC8B84-3F0C-441C-BFC2-17734590D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33650"/>
            <a:ext cx="12573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ỨNG DỤNG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324ADD4-1738-41A8-B239-E8A2F12A9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552700"/>
            <a:ext cx="542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DB-backed worker • lease • circuit breaker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096AA0-A939-4C6C-881A-FD38AFB4F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990850"/>
            <a:ext cx="0" cy="19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A426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0DB1679-3749-44C7-820B-9E8AE60E0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181350"/>
            <a:ext cx="72390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9D2BF60-5FEA-4442-B750-F947E28AF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52800"/>
            <a:ext cx="12573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QUYẾT ĐỊNH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3883229-C278-4065-B017-210DCAB26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371850"/>
            <a:ext cx="542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Schema + identifier validation → Policy C# → human review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B291D06-C404-4A17-BA97-F7465C786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3810000"/>
            <a:ext cx="0" cy="19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A426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1CE5301-3C21-49D5-B883-2934FF4C9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0"/>
            <a:ext cx="72390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BF65FA7-2370-48E4-9E66-F784C3C10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71950"/>
            <a:ext cx="12573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DỮ LIỆU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F88B394-7C7F-47E8-B006-F5327E030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4191000"/>
            <a:ext cx="542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EF Core • SQL Server • private receipt storage • AuditLogs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2B19003-E358-4DE9-9DAF-A10F28FFE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095875"/>
            <a:ext cx="723900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0E2A3D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9B128E0-8828-49F7-B045-E73DFA697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276850"/>
            <a:ext cx="1952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VISION PROVIDER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813F79B-3EB6-42DF-BE1E-FA820CEDF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562600"/>
            <a:ext cx="657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OpenRouter chính • Ollama fallback opt-in • model không quyết định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8C1718D-C744-467F-9996-653FFF7A9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543050"/>
            <a:ext cx="35052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9CCFFFF-56FF-44B6-AB1B-793CFDE17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752600"/>
            <a:ext cx="11239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CHẠY THẬT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DAE61BD-D824-4FF3-9047-7EBC4F00B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238375"/>
            <a:ext cx="2905125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Upload + validation</a:t>
            </a:r>
          </a:p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Vision provider</a:t>
            </a:r>
          </a:p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Policy C#</a:t>
            </a:r>
          </a:p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SQL + Audit + Undo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6F01EB9-AC40-460C-97D9-DD2836C43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781425"/>
            <a:ext cx="3505200" cy="2266950"/>
          </a:xfrm>
          <a:prstGeom xmlns:a="http://schemas.openxmlformats.org/drawingml/2006/main" prst="roundRect">
            <a:avLst>
              <a:gd name="adj" fmla="val 5042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BDD9581-CDF5-4F00-B8A5-3E91F4430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990975"/>
            <a:ext cx="11239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MÔ PHỎNG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6CE9218-58B9-4B82-AD09-08CB8ADC4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476750"/>
            <a:ext cx="2905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30 ảnh tổng hợp</a:t>
            </a:r>
          </a:p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5 ca Verify trên UI</a:t>
            </a:r>
          </a:p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15/30 ca qua runner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E293CC4-740D-4555-9475-44EFD140B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5467350"/>
            <a:ext cx="2905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Không có tax/e-invoice lookup</a:t>
            </a:r>
          </a:p>
          <a:p xmlns:a="http://schemas.openxmlformats.org/drawingml/2006/main">
            <a: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Không có user role thật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AC8672B-05F0-4CE5-90D5-EE8411A1B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• Track A • 06/10/2026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E6E2ED9-4EC1-4561-96E1-79680A2D9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15100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016016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8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1153A7D-21BC-42A5-853F-C81409D2C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61950"/>
            <a:ext cx="647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5BE700-97EC-4156-9D08-86BB22B62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Giới hạn hiện tại và cách fail-safe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8C9997-225B-4F0B-8B8C-D5211C380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8105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Fallback có allowlist và circuit breaker; lỗi dữ liệu không được che bằng đổi model.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6C8240-EE10-412B-AF3F-2B4536663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6205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B61C20-9F37-4BE9-B830-8BFE7F561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95425"/>
            <a:ext cx="7105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5B6F66-D40C-4EC6-9C80-DDEFDCBD6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66875"/>
            <a:ext cx="1714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F6B7A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429 / timeout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D7CD699-D236-4F1D-90F2-4E3494DD1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16764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Fallback 1 lần nếu bật • audit provider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A39AAD5-A4F5-4F62-888A-A2CBA4116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95525"/>
            <a:ext cx="7105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4F10821-D9A9-4753-971C-EE955C4AE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66975"/>
            <a:ext cx="1714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Provider lỗi liên tiếp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687C48A-6F5A-4403-941A-9D002EF11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24765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Circuit mở • cooldown • primary probe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8CDA833-2FF6-4149-ADAB-FAA679760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95625"/>
            <a:ext cx="7105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F530D96-A07D-4BB8-AAD2-234CEE5B3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67075"/>
            <a:ext cx="1714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JSON / semantic sai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031FF5C-0EC2-4E42-8194-DAA8D859D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2766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Repair đúng 1 lần • rồi FACT fail-safe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40638AC-5564-4D40-A399-04C8538B4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95725"/>
            <a:ext cx="7105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25DF851-15F9-4445-86E9-933BCBC61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67175"/>
            <a:ext cx="1714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App restart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77FE7BA-9571-41FC-8A8E-D1BFD382E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0767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DB job + lease • worker reclaim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BA93D6B-9B5D-4353-B6BD-FF577933A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695825"/>
            <a:ext cx="7105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2055495-43B2-4189-A29E-AA160EC9C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67275"/>
            <a:ext cx="1714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Ảnh mơ hồ / giả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CEF1CA5-F63B-4BBD-90B4-93AAAD689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8768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FACT ưu tiên • không auto-approve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EA14599-6BBE-45E4-9848-2F6F56854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495425"/>
            <a:ext cx="3638550" cy="2305050"/>
          </a:xfrm>
          <a:prstGeom xmlns:a="http://schemas.openxmlformats.org/drawingml/2006/main" prst="roundRect">
            <a:avLst>
              <a:gd name="adj" fmla="val 4959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FBEF7B9-AF8A-4A12-9ECB-9B9D27591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1714500"/>
            <a:ext cx="3105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DD4A7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DD4A7"/>
                </a:solidFill>
                <a:latin typeface="Arial"/>
                <a:ea typeface="Arial"/>
                <a:cs typeface="Arial"/>
              </a:rPr>
              <a:t>ĐÃ BÀN GIAO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625E500-1BB4-4720-801E-46E4BF680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2143125"/>
            <a:ext cx="285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BB971AA-0617-4E93-AC79-CF3633575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17170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DB-backed upload queue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76EC965-401A-48F6-8E3A-7CCF2160F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2524125"/>
            <a:ext cx="285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227D9C3-A13D-4A2F-A442-93236500B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55270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122 test • dependency sạch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1CF745E-AAD1-423E-834E-FF519D1F8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2905125"/>
            <a:ext cx="285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B38D1F9-64CA-4B5D-AF7B-17523A364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93370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Holdout thật 15 ca đã khóa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947D859-BBF5-4651-86A4-2E4DA4638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3286125"/>
            <a:ext cx="285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1B3E587-57D1-43A2-9ACD-3CE4D779E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31470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Fallback opt-in + audit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0B6D510-0D08-40B3-AEF7-3C973A484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038600"/>
            <a:ext cx="3638550" cy="1457325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342334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DFDF691-E507-43B1-B2E3-5880243D2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4257675"/>
            <a:ext cx="3105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6B7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6B7A"/>
                </a:solidFill>
                <a:latin typeface="Arial"/>
                <a:ea typeface="Arial"/>
                <a:cs typeface="Arial"/>
              </a:rPr>
              <a:t>CHƯA CÓ TRONG BASELINE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333392F-5921-47F0-ADB8-5AFA77650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4638675"/>
            <a:ext cx="3105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3 người dùng thực tế</a:t>
            </a:r>
          </a:p>
          <a:p xmlns:a="http://schemas.openxmlformats.org/drawingml/2006/main">
            <a: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mobile thật/4G • PDF/nhiều trang</a:t>
            </a:r>
          </a:p>
          <a:p xmlns:a="http://schemas.openxmlformats.org/drawingml/2006/main">
            <a: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authentication • object storage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8303F4D-91F3-4730-9094-18F127B93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724525"/>
            <a:ext cx="36385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8C14C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8C14C"/>
                </a:solidFill>
                <a:latin typeface="Arial"/>
                <a:ea typeface="Arial"/>
                <a:cs typeface="Arial"/>
              </a:rPr>
              <a:t>Verify vẫn đúng 5 ca BTC; runner mở rộng không làm rối dashboard.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BEC85A1-61F7-4A59-BE8E-52314B08D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• Giới hạn hiện tại, không phải lời hứa marketing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AE07578-2CF7-4FF7-A66D-2FD42C143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15100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60346358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2026-10-06T08:10:27.3150000Z</dcterms:created>
  <dcterms:modified xsi:type="dcterms:W3CDTF">2026-10-06T08:10:27.3150000Z</dcterms:modified>
</coreProperties>
</file>
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0b22a10b5e4857" /><Relationship Type="http://schemas.openxmlformats.org/officeDocument/2006/relationships/extended-properties" Target="/docProps/app.xml" Id="R9482842629734352" /><Relationship Type="http://schemas.openxmlformats.org/officeDocument/2006/relationships/officeDocument" Target="/ppt/presentation.xml" Id="R184a55c2720e44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34523032a644a0"/>
  </p:sldMasterIdLst>
  <p:notesMasterIdLst>
    <p:notesMasterId xmlns:r="http://schemas.openxmlformats.org/officeDocument/2006/relationships" r:id="R5eaccdc1325a47a9"/>
  </p:notesMasterIdLst>
  <p:sldIdLst>
    <p:sldId xmlns:r="http://schemas.openxmlformats.org/officeDocument/2006/relationships" id="256" r:id="R5d1cccb72bfd450b"/>
    <p:sldId xmlns:r="http://schemas.openxmlformats.org/officeDocument/2006/relationships" id="257" r:id="R50940702391547ae"/>
    <p:sldId xmlns:r="http://schemas.openxmlformats.org/officeDocument/2006/relationships" id="258" r:id="R53eba93afd094ecb"/>
    <p:sldId xmlns:r="http://schemas.openxmlformats.org/officeDocument/2006/relationships" id="259" r:id="Raaafcb91ff5f4829"/>
    <p:sldId xmlns:r="http://schemas.openxmlformats.org/officeDocument/2006/relationships" id="260" r:id="Rd857f2a701a04959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f76454a02940e9" /><Relationship Type="http://schemas.openxmlformats.org/officeDocument/2006/relationships/slideMaster" Target="/ppt/slideMasters/slideMaster1.xml" Id="R7834523032a644a0" /><Relationship Type="http://schemas.openxmlformats.org/officeDocument/2006/relationships/notesMaster" Target="/ppt/notesMasters/notesMaster1.xml" Id="R5eaccdc1325a47a9" /><Relationship Type="http://schemas.openxmlformats.org/officeDocument/2006/relationships/presProps" Target="/ppt/presProps.xml" Id="R521fda066ce54d1e" /><Relationship Type="http://schemas.openxmlformats.org/officeDocument/2006/relationships/viewProps" Target="/ppt/viewProps.xml" Id="R565a31e120f24d30" /><Relationship Type="http://schemas.openxmlformats.org/officeDocument/2006/relationships/tableStyles" Target="/ppt/tableStyles.xml" Id="Ra18e838243484614" /><Relationship Type="http://schemas.openxmlformats.org/officeDocument/2006/relationships/slide" Target="/ppt/slides/slide1.xml" Id="R5d1cccb72bfd450b" /><Relationship Type="http://schemas.openxmlformats.org/officeDocument/2006/relationships/slide" Target="/ppt/slides/slide2.xml" Id="R50940702391547ae" /><Relationship Type="http://schemas.openxmlformats.org/officeDocument/2006/relationships/slide" Target="/ppt/slides/slide3.xml" Id="R53eba93afd094ecb" /><Relationship Type="http://schemas.openxmlformats.org/officeDocument/2006/relationships/slide" Target="/ppt/slides/slide4.xml" Id="Raaafcb91ff5f4829" /><Relationship Type="http://schemas.openxmlformats.org/officeDocument/2006/relationships/slide" Target="/ppt/slides/slide5.xml" Id="Rd857f2a701a049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38b79799b747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6d301fb53e4bfa" /><Relationship Type="http://schemas.openxmlformats.org/officeDocument/2006/relationships/notesMaster" Target="/ppt/notesMasters/notesMaster1.xml" Id="Rc433228bc9fa43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abe488aafd4d35" /><Relationship Type="http://schemas.openxmlformats.org/officeDocument/2006/relationships/notesMaster" Target="/ppt/notesMasters/notesMaster1.xml" Id="Rc191da8e5d9b4f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18bc4fb5a74eed" /><Relationship Type="http://schemas.openxmlformats.org/officeDocument/2006/relationships/notesMaster" Target="/ppt/notesMasters/notesMaster1.xml" Id="R8dde14c985f746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e1882fd76542f5" /><Relationship Type="http://schemas.openxmlformats.org/officeDocument/2006/relationships/notesMaster" Target="/ppt/notesMasters/notesMaster1.xml" Id="R7054004fd86e4d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e68035f80f4cd5" /><Relationship Type="http://schemas.openxmlformats.org/officeDocument/2006/relationships/notesMaster" Target="/ppt/notesMasters/notesMaster1.xml" Id="R1da5a29a0a9b43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Hiện trạng và nguyên tắc thiết kế của AURA; không dùng số liệu hiệu quả chưa đo.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chi tiết: submission/AURA_WORKFLOW_SPEC.md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hiện hành 13/10/2026: 163/163 test offline và Release build sạch. Candidate Qwen3.8 Flash qua OpenRouter/Alibaba, reasoning none. Prospective mini-holdout 10 hóa đơn mới đạt 8/10 quyết định đúng, 0 missed, 2 over fail-safe, 0 system/provider/429 error và 28/30 field trọng yếu; mẫu nhỏ và có redaction confounder, không phải production accuracy. Regression 12 ảnh byte gốc đạt 10/12; lượt chạy tuần tự lại trên dữ liệu đã biết đạt 11/12 và chỉ được dùng làm evidence ổn định. Burst 5 upload hoàn tất 5/5; AI concurrency vẫn là 1 nên queue wait tăng. Verify live đạt 5/5 trong 65.004 giây. Ollama chỉ là fallback local có giám sát. Ba user session vẫn là gate chưa hoàn tất.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và hướng dẫn chạy localhost: https://github.com/BondPhuPhamzZ/AURA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kỹ thuật trong repo: ReceiptProcessingWorker.cs, ReceiptExtractionContract.cs, PolicyDecisionEngine.cs, VietnamTime.cs, tools/Invoke-ExtendedDatasetEvaluation.ps1, docs/CURRENT_PROJECT_STATUS_2026-10-13.md và docs/OFFICIAL_HOLDOUT10_2026-10-13.md. Fallback vẫn opt-in và mặc định tắt; Ollama chỉ bật local sau smoke. Qwen3.8 Flash qua OpenRouter/Alibaba, reasoning none, là primary candidate. Prospective holdout đạt 8/10 với 0 missed và 2 over; sequential repeat trên dữ liệu đã biết đạt 11/12; Verify live đạt 5/5 trong 65.004 giây. Burst 5 upload hoàn tất 5/5 nhưng phép đo một process không phải production SLA. Ba phiên người dùng thật, video chính thức và kiểm tra quyền Team Drive vẫn là gate mở.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bb131508de41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114aa62384f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602d8e5954e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2d3eda68f4a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ba59d0e8f41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1972927204f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9CCC7C-AA98-45CB-88A9-E8861D39F0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D416AA-DE5F-4ACE-BD8B-A43744C4AC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EF738FD-B803-4EB5-8E43-3BCB5EA8D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332589-4F92-48B0-814A-7397C6828A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B020F7-37D6-465E-8D71-E67033EA12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CA25B3-94A3-411F-9B61-072D4E8AB7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E63FBD-5FE5-4C8F-A55C-6230CBD57F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AC54BD-EB46-432A-9CD4-C64D7EF964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4E3870-26CA-4106-A418-C2C337781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64F8CE-C267-435D-B92A-B1A87D75FA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e23fec0df04264" /><Relationship Type="http://schemas.openxmlformats.org/officeDocument/2006/relationships/slideLayout" Target="/ppt/slideLayouts/slideLayout1.xml" Id="Rb652c4f75b99464d" /><Relationship Type="http://schemas.openxmlformats.org/officeDocument/2006/relationships/slideLayout" Target="/ppt/slideLayouts/slideLayout2.xml" Id="Raea26e6bf1a74ded" /><Relationship Type="http://schemas.openxmlformats.org/officeDocument/2006/relationships/slideLayout" Target="/ppt/slideLayouts/slideLayout3.xml" Id="R6e69fdc6152b4a06" /><Relationship Type="http://schemas.openxmlformats.org/officeDocument/2006/relationships/slideLayout" Target="/ppt/slideLayouts/slideLayout4.xml" Id="R9c31f18b013c4425" /><Relationship Type="http://schemas.openxmlformats.org/officeDocument/2006/relationships/slideLayout" Target="/ppt/slideLayouts/slideLayout5.xml" Id="R1084fcc5e72944de" /><Relationship Type="http://schemas.openxmlformats.org/officeDocument/2006/relationships/slideLayout" Target="/ppt/slideLayouts/slideLayout6.xml" Id="R583dea13706340b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52c4f75b99464d"/>
    <p:sldLayoutId xmlns:r="http://schemas.openxmlformats.org/officeDocument/2006/relationships" id="2147483650" r:id="Raea26e6bf1a74ded"/>
    <p:sldLayoutId xmlns:r="http://schemas.openxmlformats.org/officeDocument/2006/relationships" id="2147483651" r:id="R6e69fdc6152b4a06"/>
    <p:sldLayoutId xmlns:r="http://schemas.openxmlformats.org/officeDocument/2006/relationships" id="2147483652" r:id="R9c31f18b013c4425"/>
    <p:sldLayoutId xmlns:r="http://schemas.openxmlformats.org/officeDocument/2006/relationships" id="2147483653" r:id="R1084fcc5e72944de"/>
    <p:sldLayoutId xmlns:r="http://schemas.openxmlformats.org/officeDocument/2006/relationships" id="2147483654" r:id="R583dea13706340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b522f9a2214a64" /><Relationship Type="http://schemas.openxmlformats.org/officeDocument/2006/relationships/notesSlide" Target="/ppt/notesSlides/notesSlide1.xml" Id="R57f72fc1436b48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089de3767f4fe3" /><Relationship Type="http://schemas.openxmlformats.org/officeDocument/2006/relationships/notesSlide" Target="/ppt/notesSlides/notesSlide2.xml" Id="R01a9050cf8d74f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70cbf58277411f" /><Relationship Type="http://schemas.openxmlformats.org/officeDocument/2006/relationships/notesSlide" Target="/ppt/notesSlides/notesSlide3.xml" Id="R2b3a2e50f70740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db3bfc5424483" /><Relationship Type="http://schemas.openxmlformats.org/officeDocument/2006/relationships/notesSlide" Target="/ppt/notesSlides/notesSlide4.xml" Id="R1b94f7baa68741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9b136cbde4471" /><Relationship Type="http://schemas.openxmlformats.org/officeDocument/2006/relationships/notesSlide" Target="/ppt/notesSlides/notesSlide5.xml" Id="R7d7a422973b044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ight Arrow 23">
            <a:extLst xmlns:a="http://schemas.openxmlformats.org/drawingml/2006/main">
              <a:ext uri="{FF2B5EF4-FFF2-40B4-BE49-F238E27FC236}">
                <a16:creationId xmlns:a16="http://schemas.microsoft.com/office/drawing/2014/main" id="{0568250D-2B6D-4149-8D9C-3B632816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574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4262"/>
          </a:solidFill>
          <a:ln xmlns:a="http://schemas.openxmlformats.org/drawingml/2006/main" w="0">
            <a:solidFill>
              <a:srgbClr val="2A4262"/>
            </a:solidFill>
          </a:ln>
        </p:spPr>
      </p:sp>
      <p:sp>
        <p:nvSpPr>
          <p:cNvPr id="19" name="Right Arrow 18">
            <a:extLst xmlns:a="http://schemas.openxmlformats.org/drawingml/2006/main">
              <a:ext uri="{FF2B5EF4-FFF2-40B4-BE49-F238E27FC236}">
                <a16:creationId xmlns:a16="http://schemas.microsoft.com/office/drawing/2014/main" id="{73FD0631-F136-4208-86CA-EF94EBCC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574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4262"/>
          </a:solidFill>
          <a:ln xmlns:a="http://schemas.openxmlformats.org/drawingml/2006/main" w="0">
            <a:solidFill>
              <a:srgbClr val="2A4262"/>
            </a:solidFill>
          </a:ln>
        </p:spPr>
      </p:sp>
      <p:sp>
        <p:nvSpPr>
          <p:cNvPr id="14" name="Right Arrow 13">
            <a:extLst xmlns:a="http://schemas.openxmlformats.org/drawingml/2006/main">
              <a:ext uri="{FF2B5EF4-FFF2-40B4-BE49-F238E27FC236}">
                <a16:creationId xmlns:a16="http://schemas.microsoft.com/office/drawing/2014/main" id="{0D8D201D-9D61-4310-869A-B0040B7A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574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4262"/>
          </a:solidFill>
          <a:ln xmlns:a="http://schemas.openxmlformats.org/drawingml/2006/main" w="0">
            <a:solidFill>
              <a:srgbClr val="2A4262"/>
            </a:solidFill>
          </a:ln>
        </p:spPr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413ECA39-18D8-49FF-BC40-1500C7D7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574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4262"/>
          </a:solidFill>
          <a:ln xmlns:a="http://schemas.openxmlformats.org/drawingml/2006/main" w="0">
            <a:solidFill>
              <a:srgbClr val="2A4262"/>
            </a:solidFill>
          </a:ln>
        </p:spPr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C9C47492-F888-488B-B6CC-21B8BC89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01</a:t>
            </a:r>
            <a:endParaRPr sz="1350" b="1">
              <a:solidFill>
                <a:srgbClr val="22D3E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CB03087-8E4A-41AD-9614-CCD38CA9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Hoàn ứng hôm nay: nhiều điểm chờ, ít bằng chứng</a:t>
            </a:r>
            <a:endParaRPr sz="255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E2DC4B-E948-48AB-BB0D-BF3232FF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AURA biến ngoại lệ thành câu hỏi có thể quyết định — không giao quyền duyệt cho AI.</a:t>
            </a:r>
            <a:endParaRPr sz="1275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74DDB003-0F31-43FB-AD35-8128D3F8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48E9C1A-65B1-4FBF-A976-B5D62E98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15049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0A911BB-6217-4421-8533-F28BCBCB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2880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01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56E8630-083A-42B4-B043-97A76CB9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Gửi hóa đơn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EA69D85-C346-4A92-947C-6DE793B4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Ảnh + số tiền</a:t>
            </a:r>
            <a:endParaRPr sz="9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C7089A6-35BE-4F27-83AC-0A780B1E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695450"/>
            <a:ext cx="15049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408D716-13AE-4197-B1BD-7C9EB2CE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2880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02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8AD591C-7DF3-4569-A3F4-B8EEF2F2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907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Đọc thủ công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1FB0DE0-3A6D-4FD5-A074-4EE4AB9F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4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Dễ sai định dạng</a:t>
            </a:r>
            <a:endParaRPr sz="9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4742493-D44F-4FFC-90D3-20B5F40C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95450"/>
            <a:ext cx="15049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62439FA-DF25-4BCA-B090-9B9B47EC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82880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8C14C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03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038046C-E91B-4293-8C4F-5C86FE21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907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809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Đối chiếu policy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49D3B6D-6DF2-42EB-9BE2-38C02762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4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Phụ thuộc người xử lý</a:t>
            </a:r>
            <a:endParaRPr sz="9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EAA88422-8E6A-4553-B59E-D3A10230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695450"/>
            <a:ext cx="15049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43277CF-1391-41BB-96C2-E996998D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82880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6B7A"/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04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3F562CF-C25E-41F2-90CE-75623AF4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907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Hỏi quản lý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338E509-E204-4D8F-8735-03EBFEFF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4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Thiếu câu hỏi cụ thể</a:t>
            </a:r>
            <a:endParaRPr sz="9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A3EBF74-09E3-400E-B074-EBF2C54C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695450"/>
            <a:ext cx="15049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9C31DD90-0547-4526-A019-0D0CAE20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2880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9FB1CA"/>
          </a:solidFill>
          <a:ln xmlns:a="http://schemas.openxmlformats.org/drawingml/2006/main" w="9525">
            <a:solidFill>
              <a:srgbClr val="9FB1C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05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57B27FC-A43E-4FEA-B2D3-A9252483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907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Lưu lịch sử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840F09F-7D82-4E80-8FD0-3A9F3BB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4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Khó truy vết</a:t>
            </a:r>
            <a:endParaRPr sz="9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03FEBD7E-E72C-4A8B-AA93-6D81FF2C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00200"/>
            <a:ext cx="2038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A3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A852A1A-2740-408E-BAE4-059611F0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90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Điểm nghẽn</a:t>
            </a:r>
            <a:endParaRPr sz="1125" b="1">
              <a:solidFill>
                <a:srgbClr val="22D3E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2ACD523-188C-43D2-BAC7-FB86BF66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595" y="2019300"/>
            <a:ext cx="17297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86"/>
          </a:bodyPr>
          <a:lstStyle xmlns:a="http://schemas.openxmlformats.org/drawingml/2006/main">
            <a:defPPr algn="l">
              <a:defRPr sz="13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Không phải OCR — mà là biết khi nào phải dừng và hỏi người.</a:t>
            </a:r>
            <a:endParaRPr sz="135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657689F-1BE6-41DD-877B-0ADF0F5F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57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8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Thiết kế lại quy trình</a:t>
            </a:r>
            <a:endParaRPr sz="18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3AE635E4-D26A-4013-B326-77113D9E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3476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6C4B2B3D-5D8B-48C2-B183-59AE58ED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62400"/>
            <a:ext cx="1238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AI đọc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74A0019C-EFD5-484A-BFD5-6FBDE91B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57700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5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Qwen trích dữ kiện có cấu trúc</a:t>
            </a:r>
            <a:endParaRPr sz="15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C7C4AC34-1685-4D98-9AA5-E71B5959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Không suy đoán field không đọc chắc.</a:t>
            </a:r>
            <a:endParaRPr sz="105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5D5127F8-4EF7-491F-B330-25666F05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62375"/>
            <a:ext cx="3476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02215065-12BB-4AF9-AE4D-128D7D47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62400"/>
            <a:ext cx="1238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96282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Policy quyết định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138F386E-0E23-42DD-A769-E5B1A4A5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57700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5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C# tất định: FACT → POLICY → AUTHORITY</a:t>
            </a:r>
            <a:endParaRPr sz="15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1048CF89-8E93-4BA7-8C26-10ABF656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Đầu vào nghi vấn không bao giờ auto-approve.</a:t>
            </a:r>
            <a:endParaRPr sz="105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B65C07F1-3F03-4601-9C0B-5C4B238C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62375"/>
            <a:ext cx="3476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6D38FE28-9941-4AF9-B283-7EC78A90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62400"/>
            <a:ext cx="212598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8C14C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Con người chịu trách nhiệm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2A2BA102-AD03-4353-8FAA-9F367ECE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57700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5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Quản lý xử lý ngoại lệ và có thể hoàn tác</a:t>
            </a:r>
            <a:endParaRPr sz="15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604F9901-23A1-4594-ACF1-0BF92A1C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95875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Audit giữ đủ timeline, UI chỉ hiện một hồ sơ.</a:t>
            </a:r>
            <a:endParaRPr sz="105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BE0115F5-FB86-4447-9963-315E4615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AURA • Track A • 13/10/2026</a:t>
            </a:r>
            <a:endParaRPr sz="9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92F64421-B5B2-497E-9539-730354F3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r"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FB1CA"/>
                </a:solidFill>
                <a:latin typeface="Arial"/>
                <a:ea typeface="Arial"/>
                <a:cs typeface="Arial"/>
              </a:rPr>
              <a:t>1</a:t>
            </a:r>
            <a:endParaRPr sz="975" b="1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1765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1900B724-E5F8-463B-AE24-1DE8B068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02</a:t>
            </a:r>
            <a:endParaRPr sz="1350" b="1">
              <a:solidFill>
                <a:srgbClr val="22D3E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B2E2BBB-3AAC-4614-9D0B-112355D5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Một luồng — hai điểm con người quyết định</a:t>
            </a:r>
            <a:endParaRPr sz="255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4DED736-B344-448D-8B5C-039BABB4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Input và AI là dữ kiện; quyết định nghiệp vụ nằm ở policy và quản lý.</a:t>
            </a:r>
            <a:endParaRPr sz="1275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A499C800-2BFD-4094-866E-7EF1FC1B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1E5490E-5AEC-424C-A97E-82B0C6D0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952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96C9040-24E1-4B75-AD57-C772335E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52600"/>
            <a:ext cx="323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1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97CE907-5D35-4309-BAC8-BC0FC04C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Input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F839393-833F-4F5C-82EB-99146DC2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647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 algn="ctr"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Ảnh + số tiền</a:t>
            </a:r>
            <a:endParaRPr sz="12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+ người gửi</a:t>
            </a:r>
            <a:endParaRPr sz="12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350CE6BF-349C-4724-9D9B-E4550E66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95500"/>
            <a:ext cx="2095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4262"/>
          </a:solidFill>
          <a:ln xmlns:a="http://schemas.openxmlformats.org/drawingml/2006/main" w="0">
            <a:solidFill>
              <a:srgbClr val="2A4262"/>
            </a:solidFill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229350C-3CD1-431D-805E-0B3E54E0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00200"/>
            <a:ext cx="1952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27516F9-F1D1-4234-B22C-1DBB1F37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52600"/>
            <a:ext cx="323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2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10937D1-DC97-410C-9347-5E4C4F2C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7526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Nhận hồ sơ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9244A91-9915-4D75-A574-530B8E31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90750"/>
            <a:ext cx="1647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 algn="ctr"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Lưu PENDING</a:t>
            </a:r>
            <a:endParaRPr sz="12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trả HTTP 202</a:t>
            </a:r>
            <a:endParaRPr sz="12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ight Arrow 13">
            <a:extLst xmlns:a="http://schemas.openxmlformats.org/drawingml/2006/main">
              <a:ext uri="{FF2B5EF4-FFF2-40B4-BE49-F238E27FC236}">
                <a16:creationId xmlns:a16="http://schemas.microsoft.com/office/drawing/2014/main" id="{CD5C7458-E163-4185-AD5C-1878AD39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95500"/>
            <a:ext cx="2095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4262"/>
          </a:solidFill>
          <a:ln xmlns:a="http://schemas.openxmlformats.org/drawingml/2006/main" w="0">
            <a:solidFill>
              <a:srgbClr val="2A4262"/>
            </a:solidFill>
          </a:ln>
        </p:spPr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94C1FF7-708E-48B1-A9FF-E73F625B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1952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C8844D1-E138-4644-856A-410A49B2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752600"/>
            <a:ext cx="323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3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E5A8E61-8E08-40F0-B192-C1FD7AC1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7526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Worker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C3D4A1D-A936-4B9D-9CAC-D03C899F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90750"/>
            <a:ext cx="1647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 algn="ctr"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Claim bằng lease</a:t>
            </a:r>
            <a:endParaRPr sz="12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khôi phục sau restart</a:t>
            </a:r>
            <a:endParaRPr sz="12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ight Arrow 18">
            <a:extLst xmlns:a="http://schemas.openxmlformats.org/drawingml/2006/main">
              <a:ext uri="{FF2B5EF4-FFF2-40B4-BE49-F238E27FC236}">
                <a16:creationId xmlns:a16="http://schemas.microsoft.com/office/drawing/2014/main" id="{965DEAC1-8A00-47C6-9CF2-8E83E113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95500"/>
            <a:ext cx="2095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4262"/>
          </a:solidFill>
          <a:ln xmlns:a="http://schemas.openxmlformats.org/drawingml/2006/main" w="0">
            <a:solidFill>
              <a:srgbClr val="2A4262"/>
            </a:solidFill>
          </a:ln>
        </p:spPr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CC88F2D8-2E2F-473F-9846-94C1157A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00200"/>
            <a:ext cx="1952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4B6E92BF-C27A-4186-9A7C-07D6CD76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52600"/>
            <a:ext cx="323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4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06A0B2A-C022-4409-A323-C5464506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7526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Vision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A88E226-31B7-4BAA-8479-0F1C004D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190750"/>
            <a:ext cx="1647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 algn="ctr"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Primary hoặc fallback</a:t>
            </a:r>
            <a:endParaRPr sz="12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+ semantic repair</a:t>
            </a:r>
            <a:endParaRPr sz="12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ight Arrow 23">
            <a:extLst xmlns:a="http://schemas.openxmlformats.org/drawingml/2006/main">
              <a:ext uri="{FF2B5EF4-FFF2-40B4-BE49-F238E27FC236}">
                <a16:creationId xmlns:a16="http://schemas.microsoft.com/office/drawing/2014/main" id="{2909F375-48CB-4CB6-AA7F-7D7DC31F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095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4262"/>
          </a:solidFill>
          <a:ln xmlns:a="http://schemas.openxmlformats.org/drawingml/2006/main" w="0">
            <a:solidFill>
              <a:srgbClr val="2A4262"/>
            </a:solidFill>
          </a:ln>
        </p:spPr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2FD2AF11-077B-439F-8A9A-9BD8F42A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00200"/>
            <a:ext cx="1952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34313841-14CA-41B7-9E44-D651CCAF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752600"/>
            <a:ext cx="323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8C14C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5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F416ACE-CFAC-474A-AE97-EE2546ED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526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Policy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8CFB95F-C578-4565-99BC-07C7F0DE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90750"/>
            <a:ext cx="1647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 algn="ctr"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AUTO_APPROVE</a:t>
            </a:r>
            <a:endParaRPr sz="12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hoặc ESCALATE_*</a:t>
            </a:r>
            <a:endParaRPr sz="12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2183B55-3553-410E-A89C-14220732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Điểm người #1</a:t>
            </a:r>
            <a:endParaRPr sz="1125" b="1">
              <a:solidFill>
                <a:srgbClr val="22D3E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D57AC663-3BBA-48B3-A121-469CFC71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5095875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646B8459-C604-4592-8743-77CE90DE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72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Nhân viên xác nhận chuyển tiếp</a:t>
            </a:r>
            <a:endParaRPr sz="172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71259B0-3B68-45EE-99F5-A8B4DBDC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428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chỉ hồ sơ ESCALATE_*</a:t>
            </a:r>
            <a:endParaRPr sz="135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chuyển từng hồ sơ hoặc tất cả</a:t>
            </a:r>
            <a:endParaRPr sz="135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tab quản lý cập nhật ngay</a:t>
            </a:r>
            <a:endParaRPr sz="135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001D2D71-028E-4FF1-86E9-1E75660F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Không chuyển âm thầm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DA92F839-B99E-4FC1-AACF-8D47093A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F8C1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F8C14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C14C"/>
                </a:solidFill>
                <a:latin typeface="Arial"/>
                <a:ea typeface="Arial"/>
                <a:cs typeface="Arial"/>
              </a:rPr>
              <a:t>Điểm người #2</a:t>
            </a:r>
            <a:endParaRPr sz="1125" b="1">
              <a:solidFill>
                <a:srgbClr val="F8C1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97066FC7-AEA6-4C20-AF0D-35FFC527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14750"/>
            <a:ext cx="5514975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14E0733E-FBB8-4093-B54C-21D5F6F0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490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72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Quản lý trả lời câu hỏi cụ thể</a:t>
            </a:r>
            <a:endParaRPr sz="172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78CACB79-03BB-4F96-BF9E-84E529D2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2238375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12352F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B5F8E184-000F-4543-993B-AF93F513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52950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200" b="1">
                <a:solidFill>
                  <a:srgbClr val="2DD4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DD4A7"/>
                </a:solidFill>
                <a:latin typeface="Arial"/>
                <a:ea typeface="Arial"/>
                <a:cs typeface="Arial"/>
              </a:rPr>
              <a:t>ĐỒNG Ý</a:t>
            </a:r>
            <a:endParaRPr sz="1200" b="1">
              <a:solidFill>
                <a:srgbClr val="2DD4A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9A6CC6A0-1B06-40F4-94FA-5BC19903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10125"/>
            <a:ext cx="1895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9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9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duyệt ngoại lệ / tiếp nhận</a:t>
            </a:r>
            <a:endParaRPr sz="975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CFDB0D76-5DFE-4234-880D-310A3285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438650"/>
            <a:ext cx="2238375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3A202C"/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2FCDF273-9CEB-4FEA-9293-A24D36E8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552950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200" b="1">
                <a:solidFill>
                  <a:srgbClr val="FF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6B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B7A"/>
                </a:solidFill>
                <a:latin typeface="Arial"/>
                <a:ea typeface="Arial"/>
                <a:cs typeface="Arial"/>
              </a:rPr>
              <a:t>TỪ CHỐI</a:t>
            </a:r>
            <a:endParaRPr sz="1200" b="1">
              <a:solidFill>
                <a:srgbClr val="FF6B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56CFA33-E1E7-487A-88EC-ADB0012A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810125"/>
            <a:ext cx="1895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9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9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trả lại / yêu cầu bổ sung</a:t>
            </a:r>
            <a:endParaRPr sz="975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B25D350A-50B4-4D49-8953-4202FE95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149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12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Audit append-only • hoàn tác quyết định gần nhất</a:t>
            </a:r>
            <a:endParaRPr sz="112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F8791348-E2D8-4797-B2BB-944AB617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AURA • Track A • 13/10/2026</a:t>
            </a:r>
            <a:endParaRPr sz="9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69632952-5E53-483A-8C00-2A31EEC7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r"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FB1CA"/>
                </a:solidFill>
                <a:latin typeface="Arial"/>
                <a:ea typeface="Arial"/>
                <a:cs typeface="Arial"/>
              </a:rPr>
              <a:t>2</a:t>
            </a:r>
            <a:endParaRPr sz="975" b="1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7546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82351D1-3704-4915-8669-1619DE77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03</a:t>
            </a:r>
            <a:endParaRPr sz="1350" b="1">
              <a:solidFill>
                <a:srgbClr val="22D3E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605CD9F-D8C7-4AF4-BA2D-5952C05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Bằng chứng kỹ thuật và tác động cần đo</a:t>
            </a:r>
            <a:endParaRPr sz="255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5CD1AC-0374-414E-80A2-BDE4FAB2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Một missed escalation đã đổi cách xây AURA: đo an toàn trước, rồi mới tối ưu tốc độ.</a:t>
            </a:r>
            <a:endParaRPr sz="1275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1D260EEF-683F-4055-ACE4-8A8EE4AE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9013FF6-99AC-47E6-A52C-5256D49E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533400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ED806AA-E679-4AE1-8AC6-FE05A156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819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6B7A"/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TRƯỚC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BF789AD-1004-4B8B-86B3-356FE2DD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00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8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Đọc và phân loại thủ công</a:t>
            </a:r>
            <a:endParaRPr sz="18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8203D48-0F11-45CE-AB33-1B58DAE0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4795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nhiều lần chạm trên hồ sơ routine</a:t>
            </a:r>
            <a:endParaRPr sz="135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câu hỏi escalation không nhất quán</a:t>
            </a:r>
            <a:endParaRPr sz="135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lịch sử rời rạc, khó giải thích</a:t>
            </a:r>
            <a:endParaRPr sz="135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A484665-7F85-4CD4-AF85-E07C5705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43050"/>
            <a:ext cx="53149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51A0BCF-29DD-48EA-97C0-F455EB76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13811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SAU — MỤC TIÊU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7D6DF2D-4A21-4197-8099-DC7FB320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0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8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Tự xử lý ca rõ ràng</a:t>
            </a:r>
            <a:endParaRPr sz="18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44D0883-6731-416E-A476-B0A1CF32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con người chỉ nhận ngoại lệ</a:t>
            </a:r>
            <a:endParaRPr sz="135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câu hỏi có dữ kiện và lựa chọn</a:t>
            </a:r>
            <a:endParaRPr sz="135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một hồ sơ, một timeline truy vết</a:t>
            </a:r>
            <a:endParaRPr sz="135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883158E-13B0-4A1C-92D8-BB5B835F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76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Bằng chứng đã có</a:t>
            </a:r>
            <a:endParaRPr sz="15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D883CBE-37DB-4D20-99E8-294C0681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05325"/>
            <a:ext cx="15621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5B2E2D6-5F01-4281-A0C0-3B1E8EBC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767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2325" b="1">
                <a:solidFill>
                  <a:srgbClr val="4D8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4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D8DFF"/>
                </a:solidFill>
                <a:latin typeface="Arial"/>
                <a:ea typeface="Arial"/>
                <a:cs typeface="Arial"/>
              </a:rPr>
              <a:t>163/163</a:t>
            </a:r>
            <a:endParaRPr sz="2325" b="1">
              <a:solidFill>
                <a:srgbClr val="4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1A4E144-0F28-4E3F-A186-190F8DE5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720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FB1CA"/>
                </a:solidFill>
                <a:latin typeface="Arial"/>
                <a:ea typeface="Arial"/>
                <a:cs typeface="Arial"/>
              </a:rPr>
              <a:t>test offline</a:t>
            </a:r>
            <a:endParaRPr sz="1050" b="1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6F1F4E7D-D476-4BC4-8D77-A86ABDB9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505325"/>
            <a:ext cx="15621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223F992-5287-4C14-AC5D-1E0CCCED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6767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2325" b="1">
                <a:solidFill>
                  <a:srgbClr val="2DD4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DD4A7"/>
                </a:solidFill>
                <a:latin typeface="Arial"/>
                <a:ea typeface="Arial"/>
                <a:cs typeface="Arial"/>
              </a:rPr>
              <a:t>8/10</a:t>
            </a:r>
            <a:endParaRPr sz="2325" b="1">
              <a:solidFill>
                <a:srgbClr val="2DD4A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5EB2CC7-8B34-4A15-A619-CD91B3B1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1720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FB1CA"/>
                </a:solidFill>
                <a:latin typeface="Arial"/>
                <a:ea typeface="Arial"/>
                <a:cs typeface="Arial"/>
              </a:rPr>
              <a:t>mini-holdout mới</a:t>
            </a:r>
            <a:endParaRPr sz="1050" b="1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CB3CE75-6184-4FA8-B1A8-C1EEA04C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05325"/>
            <a:ext cx="15621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DEB9CE9-E46B-4428-B390-B881814E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767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2325" b="1">
                <a:solidFill>
                  <a:srgbClr val="A78B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A78B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78BFA"/>
                </a:solidFill>
                <a:latin typeface="Arial"/>
                <a:ea typeface="Arial"/>
                <a:cs typeface="Arial"/>
              </a:rPr>
              <a:t>5/5</a:t>
            </a:r>
            <a:endParaRPr sz="2325" b="1">
              <a:solidFill>
                <a:srgbClr val="A78B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CB18758-1C8D-4935-87E1-3D16DDE8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1720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FB1CA"/>
                </a:solidFill>
                <a:latin typeface="Arial"/>
                <a:ea typeface="Arial"/>
                <a:cs typeface="Arial"/>
              </a:rPr>
              <a:t>Verify live 65s</a:t>
            </a:r>
            <a:endParaRPr sz="1050" b="1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9DB0BE0E-5241-4D18-BCF8-B5AFACAD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76700"/>
            <a:ext cx="5610225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7BD931D-8954-4344-9C6F-E59CC958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767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Đo trong pilot</a:t>
            </a:r>
            <a:endParaRPr sz="15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0D58447-DD7D-4A7A-831B-821C3041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2247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Touchless rate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1480A7A4-A3DD-48A4-B8BB-C609B129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86300"/>
            <a:ext cx="2247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Review time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482CF1B3-E8A4-44E5-8167-F043815F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95875"/>
            <a:ext cx="2247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8C14C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Over-escalation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FACF33E6-4DF5-442E-AF8D-70DA0CFA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95875"/>
            <a:ext cx="2247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8C14C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Missed escalation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9D22BA4-879F-47FB-A6EE-59278A78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810250"/>
            <a:ext cx="561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125" b="1">
                <a:solidFill>
                  <a:srgbClr val="F8C1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8C14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C14C"/>
                </a:solidFill>
                <a:latin typeface="Arial"/>
                <a:ea typeface="Arial"/>
                <a:cs typeface="Arial"/>
              </a:rPr>
              <a:t>Lượt lặp 11/12 chỉ đo stability; touchless rate và review time chờ pilot.</a:t>
            </a:r>
            <a:endParaRPr sz="1125" b="1">
              <a:solidFill>
                <a:srgbClr val="F8C1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54F4A48-74E5-4FDA-A764-8EFCBC43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AURA • Track A • 13/10/2026</a:t>
            </a:r>
            <a:endParaRPr sz="9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91A9542D-6304-4A09-AB25-9D114F8E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r"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FB1CA"/>
                </a:solidFill>
                <a:latin typeface="Arial"/>
                <a:ea typeface="Arial"/>
                <a:cs typeface="Arial"/>
              </a:rPr>
              <a:t>3</a:t>
            </a:r>
            <a:endParaRPr sz="975" b="1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7191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37063CD-B925-40CA-9775-9E193E80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04</a:t>
            </a:r>
            <a:endParaRPr sz="1350" b="1">
              <a:solidFill>
                <a:srgbClr val="22D3E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9F1E6C0-07B4-49CF-B9F4-1BA21984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Kiến trúc: model thay được, policy đứng yên</a:t>
            </a:r>
            <a:endParaRPr sz="255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4435F57-7A8D-4354-B799-F65992E9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Vertical slice chạy thật trên ASP.NET Core; Test Kit chỉ là dữ liệu mô phỏng.</a:t>
            </a:r>
            <a:endParaRPr sz="1275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2C0DF423-799B-4C7C-AE65-3CB206F1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000A332-DAF0-4D0C-88F7-D7F8B37B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7239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7B1B08D-4A4B-4818-8AF6-646271BA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GIAO DIỆN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36F988-2C52-4AA4-AEDE-E51E17C1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Razor MVC • fetch HTTP 202 • status polling sau upload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A9333E44-6E0B-4994-9F40-DE3F0A03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7170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4262"/>
            </a:solidFill>
            <a:prstDash val="solid"/>
          </a:ln>
        </p:spPr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5B645C9-E2D6-400D-9809-8D1794C0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7239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57F6493-C2AD-4F6F-9BC9-2521BAC8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ỨNG DỤNG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266A997-2BDE-4AB8-98AE-99B0B90E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527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DB-backed worker • lease • circuit breaker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B326C32D-4D5D-4527-B91A-7CA7E181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908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4262"/>
            </a:solidFill>
            <a:prstDash val="solid"/>
          </a:ln>
        </p:spPr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6FB2AE7-1720-4BC2-947C-B4E2F002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7239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7522572-29B3-4F70-9B58-9501754F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QUYẾT ĐỊNH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C968679-FA8A-4079-B912-676EBAE7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718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Schema + identifier validation → Policy C# → human review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traight Connector 15">
            <a:extLst xmlns:a="http://schemas.openxmlformats.org/drawingml/2006/main">
              <a:ext uri="{FF2B5EF4-FFF2-40B4-BE49-F238E27FC236}">
                <a16:creationId xmlns:a16="http://schemas.microsoft.com/office/drawing/2014/main" id="{A83BC7CF-EB6F-4AB0-AB8A-BA7F4BC6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1000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4262"/>
            </a:solidFill>
            <a:prstDash val="solid"/>
          </a:ln>
        </p:spPr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7B16739-6798-4BFB-8BB8-1751A7B0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7239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A02A436-25C6-4A5F-90EF-7F88CC39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DỮ LIỆU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CE8D21D-E9FB-4D20-AD83-5B8ECF4A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910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EF Core • SQL Server • private receipt storage • AuditLogs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29B47E1D-F9CF-49AC-9EB1-4D289363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723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E2A3D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FAA20B8-B978-4715-A0D2-6D1D1C3E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768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VISION PROVIDER</a:t>
            </a:r>
            <a:endParaRPr sz="1125" b="1">
              <a:solidFill>
                <a:srgbClr val="22D3E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F443B0B-6525-4EA2-8DE7-26000388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626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OpenRouter → Alibaba primary • Ollama local opt-in • model không quyết định</a:t>
            </a:r>
            <a:endParaRPr sz="135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F69D48E3-E4DE-4D60-B112-985D9E5E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43050"/>
            <a:ext cx="35052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F8C8A024-DBED-42BE-9A74-7EB8DA2D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CHẠY THẬT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D9A15C7-EFFB-4222-9A3A-0B706127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905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Upload + validation</a:t>
            </a:r>
            <a:endParaRPr sz="15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Vision provider</a:t>
            </a:r>
            <a:endParaRPr sz="15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Policy C#</a:t>
            </a:r>
            <a:endParaRPr sz="15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SQL + Audit + Undo</a:t>
            </a:r>
            <a:endParaRPr sz="15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D75B3CCB-4338-4BFC-9E78-403F530A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81425"/>
            <a:ext cx="35052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01EE3F69-B6FF-4E9C-943D-8F2D8887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90975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8C14C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MÔ PHỎNG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659355B-FEE2-4001-A806-0FEBD064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2905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30 ảnh tổng hợp</a:t>
            </a:r>
            <a:endParaRPr sz="15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5 ca Verify trên UI</a:t>
            </a:r>
            <a:endParaRPr sz="15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15/30 ca qua runner</a:t>
            </a:r>
            <a:endParaRPr sz="15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D93291A-E830-4AC2-91CB-CF1180F7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673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Không có tax/e-invoice lookup</a:t>
            </a:r>
            <a:endParaRPr sz="105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Không có user role thật</a:t>
            </a:r>
            <a:endParaRPr sz="105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43D71A4-4EE4-4F3D-BDEF-81DD2BDC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AURA • Track A • 13/10/2026</a:t>
            </a:r>
            <a:endParaRPr sz="9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C452B0A9-CFA7-4F0A-B498-358FFD63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r"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FB1CA"/>
                </a:solidFill>
                <a:latin typeface="Arial"/>
                <a:ea typeface="Arial"/>
                <a:cs typeface="Arial"/>
              </a:rPr>
              <a:t>4</a:t>
            </a:r>
            <a:endParaRPr sz="975" b="1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26721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2ECACE3-3A3D-4943-994A-CCF55AE5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05</a:t>
            </a:r>
            <a:endParaRPr sz="1350" b="1">
              <a:solidFill>
                <a:srgbClr val="22D3E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D9BB3D0-070F-4610-8C3F-4913CA6A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Giới hạn hiện tại và cách fail-safe</a:t>
            </a:r>
            <a:endParaRPr sz="255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45932F6-2284-42FD-8181-9BA6B31D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Fallback có allowlist và circuit breaker; lỗi dữ liệu không được che bằng đổi model.</a:t>
            </a:r>
            <a:endParaRPr sz="1275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7D82B072-E4D8-46C6-B77C-4B7A458C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EE8E597-3BB1-4909-BF17-41C2EC34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95425"/>
            <a:ext cx="7105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273641E-B291-4CEA-85AE-EDDCA9C0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714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6B7A"/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429 / timeout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B5C18D8-40D8-40CA-A733-F9B151B5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76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Fallback 1 lần nếu bật • audit provider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11D83A7-8614-4A99-8C5B-A11290C0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95525"/>
            <a:ext cx="7105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ADF251B-B20E-4772-90CB-A37FE210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714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8C14C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Provider lỗi liên tiếp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FD816FD-303B-4111-8728-0DA7B83E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7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Circuit mở • cooldown • primary probe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6454472-2318-4A24-BC33-BEE91AD0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7105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7303874-0C39-4CF4-81DF-BC6F9595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1714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JSON / semantic sai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2E2ECE-3505-4E0D-8F29-1BAD0F92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76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Repair đúng 1 lần • rồi FACT fail-safe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11846EB-887F-4ACD-B5D6-B84BE744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95725"/>
            <a:ext cx="7105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12E58D4-5EE6-4958-AA67-CF4315F2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714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App restart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2DC93C2-3AA2-4833-8653-D66AA59B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7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DB job + lease • worker reclaim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8CA12F4-3993-4038-B288-00CE4B43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7105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F1FD9B5-A75E-43B1-BDA7-84E83D39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714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Ảnh mơ hồ / giả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3463103-12AC-4DDB-BC58-67BAD832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76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FACT ưu tiên • không auto-approve</a:t>
            </a:r>
            <a:endParaRPr sz="1275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03CC01C-CDBB-4F8B-83DB-33FBBAD9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95425"/>
            <a:ext cx="363855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C05EF96-2AC8-40D2-A506-8C9E0824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71450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2DD4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DD4A7"/>
                </a:solidFill>
                <a:latin typeface="Arial"/>
                <a:ea typeface="Arial"/>
                <a:cs typeface="Arial"/>
              </a:rPr>
              <a:t>ĐÃ BÀN GIAO</a:t>
            </a:r>
            <a:endParaRPr sz="1125" b="1">
              <a:solidFill>
                <a:srgbClr val="2DD4A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5EE42D7C-269E-4E91-B20E-D24E0E23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43125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1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B262B59-C41F-4971-BF42-35E37D20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71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DB-backed upload queue</a:t>
            </a:r>
            <a:endParaRPr sz="12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6DCC4AE3-ED67-4499-AABE-119EF09E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524125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2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BF72799-88D8-400A-9795-01B66EB0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52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163 test, build sạch</a:t>
            </a:r>
            <a:endParaRPr sz="12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A91EAEE5-F1B8-40BD-95CB-68B0C482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05125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3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D6379D5-1995-468C-8132-241414B6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33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8/10 prospective, Verify 5/5 &lt;90s</a:t>
            </a:r>
            <a:endParaRPr sz="12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B7671BF9-FA1B-4215-AABC-D8B51E4D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286125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4</a:t>
            </a:r>
            <a:endParaRPr sz="1050" b="1">
              <a:solidFill>
                <a:srgbClr val="0814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C6DBCE0-6D35-4050-92D2-3300FD47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14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953"/>
          </a:bodyPr>
          <a:lstStyle xmlns:a="http://schemas.openxmlformats.org/drawingml/2006/main">
            <a:defPPr algn="l"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Concurrency 5/5 • mobile 4G/5G pass</a:t>
            </a:r>
            <a:endParaRPr sz="12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7D2FEE35-DAA7-480D-8196-352C4F71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38600"/>
            <a:ext cx="3638550" cy="145732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342334"/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0F71602-A563-49C6-B79A-BA1AE994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2576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FF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FF6B7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6B7A"/>
                </a:solidFill>
                <a:latin typeface="Arial"/>
                <a:ea typeface="Arial"/>
                <a:cs typeface="Arial"/>
              </a:rPr>
              <a:t>CHƯA CÓ TRONG BASELINE</a:t>
            </a:r>
            <a:endParaRPr sz="1125" b="1">
              <a:solidFill>
                <a:srgbClr val="FF6B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318E1EE-7E20-4325-B212-83FF32B0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63867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3 người dùng thực tế • rehearsal</a:t>
            </a:r>
            <a:endParaRPr sz="12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PDF/nhiều trang</a:t>
            </a:r>
            <a:endParaRPr sz="12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authentication • object storage</a:t>
            </a:r>
            <a:endParaRPr sz="1200" b="1">
              <a:solidFill>
                <a:srgbClr val="F5F8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F6F5AAAF-D61F-4205-B0B8-5F96DF5A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24525"/>
            <a:ext cx="363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F8C1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8C1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C14C"/>
                </a:solidFill>
                <a:latin typeface="Arial"/>
                <a:ea typeface="Arial"/>
                <a:cs typeface="Arial"/>
              </a:rPr>
              <a:t>Verify vẫn đúng 5 ca BTC; runner mở rộng không làm rối dashboard.</a:t>
            </a:r>
            <a:endParaRPr sz="1050" b="1">
              <a:solidFill>
                <a:srgbClr val="F8C1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69C5177-C479-4055-9925-79CA3E0B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AURA • Giới hạn hiện tại, không phải lời hứa marketing</a:t>
            </a:r>
            <a:endParaRPr sz="900" b="0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1108698-08F6-4916-9E9C-09968315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r"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FB1CA"/>
                </a:solidFill>
                <a:latin typeface="Arial"/>
                <a:ea typeface="Arial"/>
                <a:cs typeface="Arial"/>
              </a:rPr>
              <a:t>5</a:t>
            </a:r>
            <a:endParaRPr sz="975" b="1">
              <a:solidFill>
                <a:srgbClr val="9FB1C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173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2026-10-13T16:57:21.4370000Z</dcterms:created>
  <dcterms:modified xsi:type="dcterms:W3CDTF">2026-10-13T16:57:21.4370000Z</dcterms:modified>
</coreProperties>
</file>